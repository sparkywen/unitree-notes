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01CD-9ABA-F000-204F-E70D4369E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6B2F4-80D1-39AE-B313-9DE97F9E30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3415C-D18A-6812-3BEC-E5B2DBD4F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DC4DF-8E35-342A-E32C-51AD5BECC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2418D-233A-C24D-2919-6EDD95484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2A1C9-5F47-931C-19DE-AB52D40BB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F3E0E-5C40-8366-68E3-91D0C0408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5DDA5-7B7D-4E2E-8341-EF08534E0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24E5A-011C-3D19-ACEE-94CE87E4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3F84-FF64-975A-EA60-0625F894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8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177A-9C07-1155-0F76-B6BD0641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0B305-6BCC-EFF0-5A20-75E92AA49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89B36-CBE9-4D5D-5E5F-EE7356E25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1837E-003C-A995-CB27-28309C953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92DA8-5145-E6FD-C59A-8F081A28E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17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ED44-89D7-2A7A-6D14-582E18AD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E7171-8CC9-3B53-30ED-15EDC602F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45073-3B68-7CE4-E69B-94FDD5BF5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990F5-2ADA-CDEB-B75C-EC2065C52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83C32B-470B-BAD8-4C80-A065ED7D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77D04-ECAF-40CD-4E1C-45801A52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30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ECA3-05A6-4E8F-BC86-7AB4652C3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BEF4E-2235-1F70-660D-A695467B7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5DE99-A040-BFAE-A427-891942950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F4CADE-1D7D-8821-C540-D318901EA3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F0D95F-B4F6-8AAF-4FF3-3DBF639AE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0A82D7-A516-2C21-DF3F-BE01965C9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97B80-5D6D-AED3-A23B-D0D1D23D6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5EF4D7-35B9-F720-A9C6-7650B5AE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3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2E04-5081-5DE9-C453-D7052997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8CEB2-C3CE-B0C2-D0A3-BE78E9C3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0C92D-3781-8791-D0B6-C71C29751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53B190-2F3C-F4F2-0CE7-08F449E0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65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4040-1D28-3CB3-BFCE-AAF94A343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1EC68-6518-53EE-C1B2-48CF6FB16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09E6BC-F8C5-1046-69B3-B1D0223E9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8C656-E0AE-43BC-DEA1-213EE069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BBC31-57FD-2D8B-70F0-4B9F69AF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3D657-AFC2-42E2-FB59-E34ADD9D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989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2283-E6D0-3FCB-FB68-D1AEBAAD0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ADC748-E00E-BFD2-F136-1DFC7F7C2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D674A-C32B-7BAD-22B6-D6C758F15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ADD78-6CFD-4920-7417-57ECD4BF9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93DF9-B3CF-0CB2-5D10-3CC7BC20B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D9549-F2D2-AD9C-A71F-D69EF942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8C0E-D760-E701-395A-87E80067C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2999E-E340-F1DD-76A5-D36CE3BC95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7158C-2856-F727-DC63-EF0F6D383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37893-1BF6-FCC2-A511-E32462AF9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BB7C-AC8D-4F08-48E1-BD0681FC1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83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0A1501-E612-EB01-8FB6-86F0036A5A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E8B7C1-32DB-849E-0A84-A11F15668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9D295-9696-F171-10B2-BB42ED704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9D68D-C59F-1054-8F3B-4EE5F131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D7FA2-9F42-C978-BFC0-8C904636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191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30230-4C18-A32F-3B52-4ED91830C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F8B7C-D77E-1C71-C686-DB1E5EC01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7280E-0A14-47A8-07C0-EBC443AB8E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27DA9-E156-46E3-BFCD-577DAEF26AD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0553C-B2AE-BE44-36A0-14E4C9F63D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BF4F8-CEC1-1DE0-B4EE-3DD2431E8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75A70D-9AE0-4FF6-95F3-C74D4D5EDA9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Left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CornerDot"/>
          <p:cNvSpPr/>
          <p:nvPr userDrawn="1"/>
        </p:nvSpPr>
        <p:spPr>
          <a:xfrm>
            <a:off x="11430000" y="6553200"/>
            <a:ext cx="152400" cy="15240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02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B181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181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B181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B1810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181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181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1810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1810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1810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B181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2AD0AA-39A4-414B-AD76-187DD6D37396}"/>
              </a:ext>
            </a:extLst>
          </p:cNvPr>
          <p:cNvSpPr/>
          <p:nvPr/>
        </p:nvSpPr>
        <p:spPr>
          <a:xfrm>
            <a:off x="1016000" y="12065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9C6B5D-9D66-4CE9-B9E1-641A96F4CA60}"/>
              </a:ext>
            </a:extLst>
          </p:cNvPr>
          <p:cNvSpPr txBox="1"/>
          <p:nvPr/>
        </p:nvSpPr>
        <p:spPr>
          <a:xfrm>
            <a:off x="1016000" y="13970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400" b="1">
                <a:solidFill>
                  <a:srgbClr val="C8553D"/>
                </a:solidFill>
              </a:rPr>
              <a:t>R O B O T   T A S K   O S</a:t>
            </a:r>
            <a:endParaRPr lang="en-US" sz="14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DFB5E-F2EB-498E-A41B-A89CF17C949F}"/>
              </a:ext>
            </a:extLst>
          </p:cNvPr>
          <p:cNvSpPr txBox="1"/>
          <p:nvPr/>
        </p:nvSpPr>
        <p:spPr>
          <a:xfrm>
            <a:off x="1016000" y="1905000"/>
            <a:ext cx="1016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6000" b="1">
                <a:solidFill>
                  <a:srgbClr val="2B1810"/>
                </a:solidFill>
              </a:rPr>
              <a:t>Robot Task OS
for Unitree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14E9D-8365-4A59-AB86-8991307946E7}"/>
              </a:ext>
            </a:extLst>
          </p:cNvPr>
          <p:cNvSpPr txBox="1"/>
          <p:nvPr/>
        </p:nvSpPr>
        <p:spPr>
          <a:xfrm>
            <a:off x="1016000" y="4191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2200">
                <a:solidFill>
                  <a:srgbClr val="5C3A21"/>
                </a:solidFill>
              </a:rPr>
              <a:t>让宇树机器人从「演示设备」变成「可交付场景员工」的任务操作系统</a:t>
            </a:r>
            <a:endParaRPr lang="en-US" sz="2200">
              <a:solidFill>
                <a:srgbClr val="5C3A2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FD97AF-6E66-4519-81FD-A15502D8C0F6}"/>
              </a:ext>
            </a:extLst>
          </p:cNvPr>
          <p:cNvSpPr txBox="1"/>
          <p:nvPr/>
        </p:nvSpPr>
        <p:spPr>
          <a:xfrm>
            <a:off x="1016000" y="55880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600" i="1">
                <a:solidFill>
                  <a:srgbClr val="8B6F47"/>
                </a:solidFill>
              </a:rPr>
              <a:t>硬件是身体  </a:t>
            </a:r>
            <a:r>
              <a:rPr lang="en-US" altLang="zh-CN" sz="1600" i="1">
                <a:solidFill>
                  <a:srgbClr val="8B6F47"/>
                </a:solidFill>
              </a:rPr>
              <a:t>·  </a:t>
            </a:r>
            <a:r>
              <a:rPr lang="en-US" sz="1600" i="1">
                <a:solidFill>
                  <a:srgbClr val="8B6F47"/>
                </a:solidFill>
              </a:rPr>
              <a:t>Task OS </a:t>
            </a:r>
            <a:r>
              <a:rPr lang="zh-CN" altLang="en-US" sz="1600" i="1">
                <a:solidFill>
                  <a:srgbClr val="8B6F47"/>
                </a:solidFill>
              </a:rPr>
              <a:t>是上岗能力</a:t>
            </a:r>
            <a:endParaRPr lang="en-US" sz="1600" i="1">
              <a:solidFill>
                <a:srgbClr val="8B6F47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B4AEB-F8BC-4FDD-A4FD-AE82E665D513}"/>
              </a:ext>
            </a:extLst>
          </p:cNvPr>
          <p:cNvSpPr txBox="1"/>
          <p:nvPr/>
        </p:nvSpPr>
        <p:spPr>
          <a:xfrm>
            <a:off x="10414000" y="6286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2226314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F5D63AC-4349-4E3E-AB9B-8C5F9614B256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8DFB8D-E68D-4878-9E2B-E1AA164DD7EA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C8553D"/>
                </a:solidFill>
              </a:rPr>
              <a:t>0 2   ·   T H E   G A P</a:t>
            </a:r>
            <a:endParaRPr lang="en-US" sz="12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7BD7A-7B47-482E-8D15-6414DD284840}"/>
              </a:ext>
            </a:extLst>
          </p:cNvPr>
          <p:cNvSpPr txBox="1"/>
          <p:nvPr/>
        </p:nvSpPr>
        <p:spPr>
          <a:xfrm>
            <a:off x="1016000" y="1143000"/>
            <a:ext cx="10414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2B1810"/>
                </a:solidFill>
              </a:rPr>
              <a:t>机器人从 </a:t>
            </a:r>
            <a:r>
              <a:rPr lang="en-US" sz="3200" b="1">
                <a:solidFill>
                  <a:srgbClr val="2B1810"/>
                </a:solidFill>
              </a:rPr>
              <a:t>Demo </a:t>
            </a:r>
            <a:r>
              <a:rPr lang="zh-CN" altLang="en-US" sz="3200" b="1">
                <a:solidFill>
                  <a:srgbClr val="2B1810"/>
                </a:solidFill>
              </a:rPr>
              <a:t>到交付，中间缺一层 </a:t>
            </a:r>
            <a:r>
              <a:rPr lang="en-US" sz="3200" b="1">
                <a:solidFill>
                  <a:srgbClr val="2B1810"/>
                </a:solidFill>
              </a:rPr>
              <a:t>Task 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9CD87-6C5A-4BAB-BC16-F499DA1B5B3E}"/>
              </a:ext>
            </a:extLst>
          </p:cNvPr>
          <p:cNvSpPr txBox="1"/>
          <p:nvPr/>
        </p:nvSpPr>
        <p:spPr>
          <a:xfrm>
            <a:off x="1016000" y="1968500"/>
            <a:ext cx="1041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700" i="1">
                <a:solidFill>
                  <a:srgbClr val="5C3A21"/>
                </a:solidFill>
              </a:rPr>
              <a:t>机器人不是不能动，而是很难长期、稳定、低人力地完成真实任务。</a:t>
            </a:r>
            <a:endParaRPr lang="en-US" sz="1700" i="1">
              <a:solidFill>
                <a:srgbClr val="5C3A2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D7570D-B37C-4C7B-AE60-6FA38A01DD55}"/>
              </a:ext>
            </a:extLst>
          </p:cNvPr>
          <p:cNvSpPr/>
          <p:nvPr/>
        </p:nvSpPr>
        <p:spPr>
          <a:xfrm>
            <a:off x="1016000" y="2730500"/>
            <a:ext cx="4953000" cy="1524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38388-D0D1-4FDF-A60D-630C9B3DF329}"/>
              </a:ext>
            </a:extLst>
          </p:cNvPr>
          <p:cNvSpPr/>
          <p:nvPr/>
        </p:nvSpPr>
        <p:spPr>
          <a:xfrm>
            <a:off x="1016000" y="2730500"/>
            <a:ext cx="50800" cy="15240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FFF711-9260-41EC-9844-38655925E111}"/>
              </a:ext>
            </a:extLst>
          </p:cNvPr>
          <p:cNvSpPr txBox="1"/>
          <p:nvPr/>
        </p:nvSpPr>
        <p:spPr>
          <a:xfrm>
            <a:off x="1295400" y="2959100"/>
            <a:ext cx="444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900" b="1">
                <a:solidFill>
                  <a:srgbClr val="2B1810"/>
                </a:solidFill>
              </a:rPr>
              <a:t>看得见，但不会做事</a:t>
            </a:r>
            <a:endParaRPr lang="en-US" sz="1900" b="1">
              <a:solidFill>
                <a:srgbClr val="2B181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131E9C-BCAC-4255-8A50-57E0DF9D58E9}"/>
              </a:ext>
            </a:extLst>
          </p:cNvPr>
          <p:cNvSpPr txBox="1"/>
          <p:nvPr/>
        </p:nvSpPr>
        <p:spPr>
          <a:xfrm>
            <a:off x="1295400" y="34671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>
                <a:solidFill>
                  <a:srgbClr val="5C3A21"/>
                </a:solidFill>
              </a:rPr>
              <a:t>看见画面，却无法稳定变成任务流程</a:t>
            </a:r>
            <a:endParaRPr lang="en-US" sz="1500">
              <a:solidFill>
                <a:srgbClr val="5C3A2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2BA1B5-1E40-41CC-9319-B21E5D76E343}"/>
              </a:ext>
            </a:extLst>
          </p:cNvPr>
          <p:cNvSpPr/>
          <p:nvPr/>
        </p:nvSpPr>
        <p:spPr>
          <a:xfrm>
            <a:off x="6350000" y="2730500"/>
            <a:ext cx="4953000" cy="1524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2CCC97-4526-4295-8DB0-41684AB7BEBA}"/>
              </a:ext>
            </a:extLst>
          </p:cNvPr>
          <p:cNvSpPr/>
          <p:nvPr/>
        </p:nvSpPr>
        <p:spPr>
          <a:xfrm>
            <a:off x="6350000" y="2730500"/>
            <a:ext cx="50800" cy="15240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1B5C9D-F640-49FF-B149-392C2F52642A}"/>
              </a:ext>
            </a:extLst>
          </p:cNvPr>
          <p:cNvSpPr txBox="1"/>
          <p:nvPr/>
        </p:nvSpPr>
        <p:spPr>
          <a:xfrm>
            <a:off x="6629400" y="2959100"/>
            <a:ext cx="444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900" b="1">
                <a:solidFill>
                  <a:srgbClr val="2B1810"/>
                </a:solidFill>
              </a:rPr>
              <a:t>听得懂，但记不住</a:t>
            </a:r>
            <a:endParaRPr lang="en-US" sz="1900" b="1">
              <a:solidFill>
                <a:srgbClr val="2B181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AFBFE-DBAF-48C8-ABF0-4F206580B00A}"/>
              </a:ext>
            </a:extLst>
          </p:cNvPr>
          <p:cNvSpPr txBox="1"/>
          <p:nvPr/>
        </p:nvSpPr>
        <p:spPr>
          <a:xfrm>
            <a:off x="6629400" y="34671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>
                <a:solidFill>
                  <a:srgbClr val="5C3A21"/>
                </a:solidFill>
              </a:rPr>
              <a:t>听懂单句，缺乏长期记忆与场景延续</a:t>
            </a:r>
            <a:endParaRPr lang="en-US" sz="1500">
              <a:solidFill>
                <a:srgbClr val="5C3A2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03527F-F76D-41B4-BE27-E0C0B3BE1AE4}"/>
              </a:ext>
            </a:extLst>
          </p:cNvPr>
          <p:cNvSpPr/>
          <p:nvPr/>
        </p:nvSpPr>
        <p:spPr>
          <a:xfrm>
            <a:off x="1016000" y="4508500"/>
            <a:ext cx="4953000" cy="1524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83AD85-AC6A-478B-A4C1-6996D2D34782}"/>
              </a:ext>
            </a:extLst>
          </p:cNvPr>
          <p:cNvSpPr/>
          <p:nvPr/>
        </p:nvSpPr>
        <p:spPr>
          <a:xfrm>
            <a:off x="1016000" y="4508500"/>
            <a:ext cx="50800" cy="15240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503B32-4585-43AE-A529-F158690E5075}"/>
              </a:ext>
            </a:extLst>
          </p:cNvPr>
          <p:cNvSpPr txBox="1"/>
          <p:nvPr/>
        </p:nvSpPr>
        <p:spPr>
          <a:xfrm>
            <a:off x="1295400" y="4737100"/>
            <a:ext cx="444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900" b="1">
                <a:solidFill>
                  <a:srgbClr val="2B1810"/>
                </a:solidFill>
              </a:rPr>
              <a:t>能走两步，但接不进业务</a:t>
            </a:r>
            <a:endParaRPr lang="en-US" sz="1900" b="1">
              <a:solidFill>
                <a:srgbClr val="2B181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63E96-5C44-4AE1-8CE8-3F4D46484412}"/>
              </a:ext>
            </a:extLst>
          </p:cNvPr>
          <p:cNvSpPr txBox="1"/>
          <p:nvPr/>
        </p:nvSpPr>
        <p:spPr>
          <a:xfrm>
            <a:off x="1295400" y="52451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>
                <a:solidFill>
                  <a:srgbClr val="5C3A21"/>
                </a:solidFill>
              </a:rPr>
              <a:t>无法接入工单、地图、数据库、</a:t>
            </a:r>
            <a:r>
              <a:rPr lang="en-US" altLang="zh-CN" sz="1500">
                <a:solidFill>
                  <a:srgbClr val="5C3A21"/>
                </a:solidFill>
              </a:rPr>
              <a:t>IoT</a:t>
            </a:r>
            <a:r>
              <a:rPr lang="zh-CN" altLang="en-US" sz="1500">
                <a:solidFill>
                  <a:srgbClr val="5C3A21"/>
                </a:solidFill>
              </a:rPr>
              <a:t>、知识库</a:t>
            </a:r>
            <a:endParaRPr lang="en-US" sz="1500">
              <a:solidFill>
                <a:srgbClr val="5C3A2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23FFA9-71D5-44B0-879C-6D035A5E321E}"/>
              </a:ext>
            </a:extLst>
          </p:cNvPr>
          <p:cNvSpPr/>
          <p:nvPr/>
        </p:nvSpPr>
        <p:spPr>
          <a:xfrm>
            <a:off x="6350000" y="4508500"/>
            <a:ext cx="4953000" cy="1524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0E665F-B85A-451E-BC77-46BC331355C6}"/>
              </a:ext>
            </a:extLst>
          </p:cNvPr>
          <p:cNvSpPr/>
          <p:nvPr/>
        </p:nvSpPr>
        <p:spPr>
          <a:xfrm>
            <a:off x="6350000" y="4508500"/>
            <a:ext cx="50800" cy="15240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EA2817-C267-4860-8DE6-376E16277663}"/>
              </a:ext>
            </a:extLst>
          </p:cNvPr>
          <p:cNvSpPr txBox="1"/>
          <p:nvPr/>
        </p:nvSpPr>
        <p:spPr>
          <a:xfrm>
            <a:off x="6629400" y="4737100"/>
            <a:ext cx="4445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900" b="1">
                <a:solidFill>
                  <a:srgbClr val="2B1810"/>
                </a:solidFill>
              </a:rPr>
              <a:t>动作映射到现实世界</a:t>
            </a:r>
            <a:endParaRPr lang="en-US" sz="1900" b="1">
              <a:solidFill>
                <a:srgbClr val="2B181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BB99F8-BF72-44AB-A75F-9ADECE27376A}"/>
              </a:ext>
            </a:extLst>
          </p:cNvPr>
          <p:cNvSpPr txBox="1"/>
          <p:nvPr/>
        </p:nvSpPr>
        <p:spPr>
          <a:xfrm>
            <a:off x="6629400" y="5245100"/>
            <a:ext cx="4445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500">
                <a:solidFill>
                  <a:srgbClr val="5C3A21"/>
                </a:solidFill>
              </a:rPr>
              <a:t>Prompt </a:t>
            </a:r>
            <a:r>
              <a:rPr lang="zh-CN" altLang="en-US" sz="1500">
                <a:solidFill>
                  <a:srgbClr val="5C3A21"/>
                </a:solidFill>
              </a:rPr>
              <a:t>无法保证安全，必须可控可审计</a:t>
            </a:r>
            <a:endParaRPr lang="en-US" sz="1500">
              <a:solidFill>
                <a:srgbClr val="5C3A2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5C8A04-A40B-4431-AAED-F2D51F992FAA}"/>
              </a:ext>
            </a:extLst>
          </p:cNvPr>
          <p:cNvSpPr txBox="1"/>
          <p:nvPr/>
        </p:nvSpPr>
        <p:spPr>
          <a:xfrm>
            <a:off x="1016000" y="6286500"/>
            <a:ext cx="1041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C8553D"/>
                </a:solidFill>
              </a:rPr>
              <a:t>客户要的不是一个「会回答」的机器人，而是一个能上岗的「场景员工」</a:t>
            </a:r>
            <a:endParaRPr lang="en-US" sz="1500" b="1">
              <a:solidFill>
                <a:srgbClr val="C8553D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5E581F-D826-4922-B7EE-B4F19500B5AF}"/>
              </a:ext>
            </a:extLst>
          </p:cNvPr>
          <p:cNvSpPr txBox="1"/>
          <p:nvPr/>
        </p:nvSpPr>
        <p:spPr>
          <a:xfrm>
            <a:off x="10414000" y="62865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02 / 08</a:t>
            </a:r>
          </a:p>
        </p:txBody>
      </p:sp>
    </p:spTree>
    <p:extLst>
      <p:ext uri="{BB962C8B-B14F-4D97-AF65-F5344CB8AC3E}">
        <p14:creationId xmlns:p14="http://schemas.microsoft.com/office/powerpoint/2010/main" val="2911463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492403F-63A5-4B59-BB61-38D3D446EF48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90C1D-BC6C-4CE4-89C4-C620559AFF7C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C8553D"/>
                </a:solidFill>
              </a:rPr>
              <a:t>0 3   ·   P R O D U C T</a:t>
            </a:r>
            <a:endParaRPr lang="en-US" sz="12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CB5E52-D584-43A3-A0FF-418F535D5D32}"/>
              </a:ext>
            </a:extLst>
          </p:cNvPr>
          <p:cNvSpPr txBox="1"/>
          <p:nvPr/>
        </p:nvSpPr>
        <p:spPr>
          <a:xfrm>
            <a:off x="1016000" y="1143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2B1810"/>
                </a:solidFill>
              </a:rPr>
              <a:t>把任务、记忆、工具、安全、协作连成闭环</a:t>
            </a:r>
            <a:endParaRPr lang="en-US" sz="3200" b="1">
              <a:solidFill>
                <a:srgbClr val="2B181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C4998-4A6F-41B9-87C2-7F02D0D7703A}"/>
              </a:ext>
            </a:extLst>
          </p:cNvPr>
          <p:cNvSpPr txBox="1"/>
          <p:nvPr/>
        </p:nvSpPr>
        <p:spPr>
          <a:xfrm>
            <a:off x="1016000" y="19050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500" i="1">
                <a:solidFill>
                  <a:srgbClr val="5C3A21"/>
                </a:solidFill>
              </a:rPr>
              <a:t>Harness </a:t>
            </a:r>
            <a:r>
              <a:rPr lang="zh-CN" altLang="en-US" sz="1500" i="1">
                <a:solidFill>
                  <a:srgbClr val="5C3A21"/>
                </a:solidFill>
              </a:rPr>
              <a:t>任务编排外壳 </a:t>
            </a:r>
            <a:r>
              <a:rPr lang="en-US" altLang="zh-CN" sz="1500" i="1">
                <a:solidFill>
                  <a:srgbClr val="5C3A21"/>
                </a:solidFill>
              </a:rPr>
              <a:t>+ </a:t>
            </a:r>
            <a:r>
              <a:rPr lang="zh-CN" altLang="en-US" sz="1500" i="1">
                <a:solidFill>
                  <a:srgbClr val="5C3A21"/>
                </a:solidFill>
              </a:rPr>
              <a:t>五个关键模块，让机器人具备真实可交付的上岗能力</a:t>
            </a:r>
            <a:endParaRPr lang="en-US" sz="1500" i="1">
              <a:solidFill>
                <a:srgbClr val="5C3A2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8804D6-CDB1-4E78-9560-90A4F8129F76}"/>
              </a:ext>
            </a:extLst>
          </p:cNvPr>
          <p:cNvSpPr/>
          <p:nvPr/>
        </p:nvSpPr>
        <p:spPr>
          <a:xfrm>
            <a:off x="1016000" y="2476500"/>
            <a:ext cx="3251200" cy="18415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D1DBAE-C251-4A1F-B20B-C5AD91C14D4C}"/>
              </a:ext>
            </a:extLst>
          </p:cNvPr>
          <p:cNvSpPr/>
          <p:nvPr/>
        </p:nvSpPr>
        <p:spPr>
          <a:xfrm>
            <a:off x="1244600" y="2705100"/>
            <a:ext cx="406400" cy="4064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8723F-EA33-4B0B-B045-1BB1FE1A94B4}"/>
              </a:ext>
            </a:extLst>
          </p:cNvPr>
          <p:cNvSpPr txBox="1"/>
          <p:nvPr/>
        </p:nvSpPr>
        <p:spPr>
          <a:xfrm>
            <a:off x="1244600" y="32385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B1810"/>
                </a:solidFill>
              </a:rPr>
              <a:t>Harness </a:t>
            </a:r>
            <a:r>
              <a:rPr lang="zh-CN" altLang="en-US" sz="1600" b="1">
                <a:solidFill>
                  <a:srgbClr val="2B1810"/>
                </a:solidFill>
              </a:rPr>
              <a:t>任务编排</a:t>
            </a:r>
            <a:endParaRPr lang="en-US" sz="1600" b="1">
              <a:solidFill>
                <a:srgbClr val="2B181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5D98C4-F5FE-48BB-A8C1-5CEB59F59451}"/>
              </a:ext>
            </a:extLst>
          </p:cNvPr>
          <p:cNvSpPr txBox="1"/>
          <p:nvPr/>
        </p:nvSpPr>
        <p:spPr>
          <a:xfrm>
            <a:off x="1244600" y="36449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5C3A21"/>
                </a:solidFill>
              </a:rPr>
              <a:t>把模型输出转成可执行、可追踪、可回滚的任务</a:t>
            </a:r>
            <a:endParaRPr lang="en-US" sz="1400">
              <a:solidFill>
                <a:srgbClr val="5C3A2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BCB95B-4498-4BBC-9E13-3482A13091F0}"/>
              </a:ext>
            </a:extLst>
          </p:cNvPr>
          <p:cNvSpPr/>
          <p:nvPr/>
        </p:nvSpPr>
        <p:spPr>
          <a:xfrm>
            <a:off x="4470400" y="2476500"/>
            <a:ext cx="3251200" cy="18415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2C90B1D-D5B7-4B4C-9EFF-9D1D1C5F1605}"/>
              </a:ext>
            </a:extLst>
          </p:cNvPr>
          <p:cNvSpPr/>
          <p:nvPr/>
        </p:nvSpPr>
        <p:spPr>
          <a:xfrm>
            <a:off x="4699000" y="2705100"/>
            <a:ext cx="406400" cy="4064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167177-DF99-4238-9202-2C3D6E35F570}"/>
              </a:ext>
            </a:extLst>
          </p:cNvPr>
          <p:cNvSpPr txBox="1"/>
          <p:nvPr/>
        </p:nvSpPr>
        <p:spPr>
          <a:xfrm>
            <a:off x="4699000" y="32385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B1810"/>
                </a:solidFill>
              </a:rPr>
              <a:t>Scene Memory </a:t>
            </a:r>
            <a:r>
              <a:rPr lang="zh-CN" altLang="en-US" sz="1600" b="1">
                <a:solidFill>
                  <a:srgbClr val="2B1810"/>
                </a:solidFill>
              </a:rPr>
              <a:t>场景记忆</a:t>
            </a:r>
            <a:endParaRPr lang="en-US" sz="1600" b="1">
              <a:solidFill>
                <a:srgbClr val="2B181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9219B8-44C7-41B0-80E1-C37844F4763D}"/>
              </a:ext>
            </a:extLst>
          </p:cNvPr>
          <p:cNvSpPr txBox="1"/>
          <p:nvPr/>
        </p:nvSpPr>
        <p:spPr>
          <a:xfrm>
            <a:off x="4699000" y="36449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5C3A21"/>
                </a:solidFill>
              </a:rPr>
              <a:t>记住人、地点、设备、异常与 </a:t>
            </a:r>
            <a:r>
              <a:rPr lang="en-US" altLang="zh-CN" sz="1400">
                <a:solidFill>
                  <a:srgbClr val="5C3A21"/>
                </a:solidFill>
              </a:rPr>
              <a:t>SOP</a:t>
            </a:r>
            <a:endParaRPr lang="en-US" sz="1400">
              <a:solidFill>
                <a:srgbClr val="5C3A2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14ACD6-74D7-4BDC-A6D0-4E4FAA13721E}"/>
              </a:ext>
            </a:extLst>
          </p:cNvPr>
          <p:cNvSpPr/>
          <p:nvPr/>
        </p:nvSpPr>
        <p:spPr>
          <a:xfrm>
            <a:off x="7924800" y="2476500"/>
            <a:ext cx="3251200" cy="18415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48D0585-A667-421D-8654-3F5A35E8ABF8}"/>
              </a:ext>
            </a:extLst>
          </p:cNvPr>
          <p:cNvSpPr/>
          <p:nvPr/>
        </p:nvSpPr>
        <p:spPr>
          <a:xfrm>
            <a:off x="8153400" y="2705100"/>
            <a:ext cx="406400" cy="4064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877E36-A7F4-49F9-9DBA-F94116DE3959}"/>
              </a:ext>
            </a:extLst>
          </p:cNvPr>
          <p:cNvSpPr txBox="1"/>
          <p:nvPr/>
        </p:nvSpPr>
        <p:spPr>
          <a:xfrm>
            <a:off x="8153400" y="32385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B1810"/>
                </a:solidFill>
              </a:rPr>
              <a:t>Multi-Agent </a:t>
            </a:r>
            <a:r>
              <a:rPr lang="zh-CN" altLang="en-US" sz="1600" b="1">
                <a:solidFill>
                  <a:srgbClr val="2B1810"/>
                </a:solidFill>
              </a:rPr>
              <a:t>协作</a:t>
            </a:r>
            <a:endParaRPr lang="en-US" sz="1600" b="1">
              <a:solidFill>
                <a:srgbClr val="2B181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490740-6E66-4C01-AB31-212C5D5B48C9}"/>
              </a:ext>
            </a:extLst>
          </p:cNvPr>
          <p:cNvSpPr txBox="1"/>
          <p:nvPr/>
        </p:nvSpPr>
        <p:spPr>
          <a:xfrm>
            <a:off x="8153400" y="36449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5C3A21"/>
                </a:solidFill>
              </a:rPr>
              <a:t>感知</a:t>
            </a:r>
            <a:r>
              <a:rPr lang="en-US" altLang="zh-CN" sz="1400">
                <a:solidFill>
                  <a:srgbClr val="5C3A21"/>
                </a:solidFill>
              </a:rPr>
              <a:t>/</a:t>
            </a:r>
            <a:r>
              <a:rPr lang="zh-CN" altLang="en-US" sz="1400">
                <a:solidFill>
                  <a:srgbClr val="5C3A21"/>
                </a:solidFill>
              </a:rPr>
              <a:t>计划</a:t>
            </a:r>
            <a:r>
              <a:rPr lang="en-US" altLang="zh-CN" sz="1400">
                <a:solidFill>
                  <a:srgbClr val="5C3A21"/>
                </a:solidFill>
              </a:rPr>
              <a:t>/</a:t>
            </a:r>
            <a:r>
              <a:rPr lang="zh-CN" altLang="en-US" sz="1400">
                <a:solidFill>
                  <a:srgbClr val="5C3A21"/>
                </a:solidFill>
              </a:rPr>
              <a:t>安全</a:t>
            </a:r>
            <a:r>
              <a:rPr lang="en-US" altLang="zh-CN" sz="1400">
                <a:solidFill>
                  <a:srgbClr val="5C3A21"/>
                </a:solidFill>
              </a:rPr>
              <a:t>/</a:t>
            </a:r>
            <a:r>
              <a:rPr lang="zh-CN" altLang="en-US" sz="1400">
                <a:solidFill>
                  <a:srgbClr val="5C3A21"/>
                </a:solidFill>
              </a:rPr>
              <a:t>工具</a:t>
            </a:r>
            <a:r>
              <a:rPr lang="en-US" altLang="zh-CN" sz="1400">
                <a:solidFill>
                  <a:srgbClr val="5C3A21"/>
                </a:solidFill>
              </a:rPr>
              <a:t>/</a:t>
            </a:r>
            <a:r>
              <a:rPr lang="zh-CN" altLang="en-US" sz="1400">
                <a:solidFill>
                  <a:srgbClr val="5C3A21"/>
                </a:solidFill>
              </a:rPr>
              <a:t>对话</a:t>
            </a:r>
            <a:r>
              <a:rPr lang="en-US" altLang="zh-CN" sz="1400">
                <a:solidFill>
                  <a:srgbClr val="5C3A21"/>
                </a:solidFill>
              </a:rPr>
              <a:t>/</a:t>
            </a:r>
            <a:r>
              <a:rPr lang="zh-CN" altLang="en-US" sz="1400">
                <a:solidFill>
                  <a:srgbClr val="5C3A21"/>
                </a:solidFill>
              </a:rPr>
              <a:t>审计并行分工</a:t>
            </a:r>
            <a:endParaRPr lang="en-US" sz="1400">
              <a:solidFill>
                <a:srgbClr val="5C3A2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CCBC83-62F8-4403-B382-50DB1197AF15}"/>
              </a:ext>
            </a:extLst>
          </p:cNvPr>
          <p:cNvSpPr/>
          <p:nvPr/>
        </p:nvSpPr>
        <p:spPr>
          <a:xfrm>
            <a:off x="1016000" y="4521200"/>
            <a:ext cx="3251200" cy="18415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2B2AD1C-7BC0-480C-BFE1-A81FA942A31E}"/>
              </a:ext>
            </a:extLst>
          </p:cNvPr>
          <p:cNvSpPr/>
          <p:nvPr/>
        </p:nvSpPr>
        <p:spPr>
          <a:xfrm>
            <a:off x="1244600" y="4749800"/>
            <a:ext cx="406400" cy="4064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090210-5DE1-4DDE-BF34-8FB664AE35A2}"/>
              </a:ext>
            </a:extLst>
          </p:cNvPr>
          <p:cNvSpPr txBox="1"/>
          <p:nvPr/>
        </p:nvSpPr>
        <p:spPr>
          <a:xfrm>
            <a:off x="1244600" y="52832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B1810"/>
                </a:solidFill>
              </a:rPr>
              <a:t>Realtime </a:t>
            </a:r>
            <a:r>
              <a:rPr lang="zh-CN" altLang="en-US" sz="1600" b="1">
                <a:solidFill>
                  <a:srgbClr val="2B1810"/>
                </a:solidFill>
              </a:rPr>
              <a:t>现场语音</a:t>
            </a:r>
            <a:endParaRPr lang="en-US" sz="1600" b="1">
              <a:solidFill>
                <a:srgbClr val="2B181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624B0-14E7-4479-A159-F0DBB6C0C78C}"/>
              </a:ext>
            </a:extLst>
          </p:cNvPr>
          <p:cNvSpPr txBox="1"/>
          <p:nvPr/>
        </p:nvSpPr>
        <p:spPr>
          <a:xfrm>
            <a:off x="1244600" y="56896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5C3A21"/>
                </a:solidFill>
              </a:rPr>
              <a:t>低延迟、可打断、可工具调用的对话</a:t>
            </a:r>
            <a:endParaRPr lang="en-US" sz="1400">
              <a:solidFill>
                <a:srgbClr val="5C3A2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1E747B-7C35-4C37-A7CA-6B21A1A458F4}"/>
              </a:ext>
            </a:extLst>
          </p:cNvPr>
          <p:cNvSpPr/>
          <p:nvPr/>
        </p:nvSpPr>
        <p:spPr>
          <a:xfrm>
            <a:off x="4470400" y="4521200"/>
            <a:ext cx="3251200" cy="18415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987BF4-AF8D-4A97-8627-31D8A7CFA5E1}"/>
              </a:ext>
            </a:extLst>
          </p:cNvPr>
          <p:cNvSpPr/>
          <p:nvPr/>
        </p:nvSpPr>
        <p:spPr>
          <a:xfrm>
            <a:off x="4699000" y="4749800"/>
            <a:ext cx="406400" cy="4064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F6D229-5523-4E89-854D-2FE248305961}"/>
              </a:ext>
            </a:extLst>
          </p:cNvPr>
          <p:cNvSpPr txBox="1"/>
          <p:nvPr/>
        </p:nvSpPr>
        <p:spPr>
          <a:xfrm>
            <a:off x="4699000" y="52832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B1810"/>
                </a:solidFill>
              </a:rPr>
              <a:t>MCP </a:t>
            </a:r>
            <a:r>
              <a:rPr lang="zh-CN" altLang="en-US" sz="1600" b="1">
                <a:solidFill>
                  <a:srgbClr val="2B1810"/>
                </a:solidFill>
              </a:rPr>
              <a:t>企业连接器</a:t>
            </a:r>
            <a:endParaRPr lang="en-US" sz="1600" b="1">
              <a:solidFill>
                <a:srgbClr val="2B181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688C95-14DA-48AC-AEC7-F0FAAB75D514}"/>
              </a:ext>
            </a:extLst>
          </p:cNvPr>
          <p:cNvSpPr txBox="1"/>
          <p:nvPr/>
        </p:nvSpPr>
        <p:spPr>
          <a:xfrm>
            <a:off x="4699000" y="56896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5C3A21"/>
                </a:solidFill>
              </a:rPr>
              <a:t>接入工单、地图、数据库、</a:t>
            </a:r>
            <a:r>
              <a:rPr lang="en-US" altLang="zh-CN" sz="1400">
                <a:solidFill>
                  <a:srgbClr val="5C3A21"/>
                </a:solidFill>
              </a:rPr>
              <a:t>IoT</a:t>
            </a:r>
            <a:r>
              <a:rPr lang="zh-CN" altLang="en-US" sz="1400">
                <a:solidFill>
                  <a:srgbClr val="5C3A21"/>
                </a:solidFill>
              </a:rPr>
              <a:t>、知识库</a:t>
            </a:r>
            <a:endParaRPr lang="en-US" sz="1400">
              <a:solidFill>
                <a:srgbClr val="5C3A2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588EE3-0A37-4EB4-B1AC-E593A9EBF209}"/>
              </a:ext>
            </a:extLst>
          </p:cNvPr>
          <p:cNvSpPr/>
          <p:nvPr/>
        </p:nvSpPr>
        <p:spPr>
          <a:xfrm>
            <a:off x="7924800" y="4521200"/>
            <a:ext cx="3251200" cy="18415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504B6E0-218D-413E-8EAD-31BA66970940}"/>
              </a:ext>
            </a:extLst>
          </p:cNvPr>
          <p:cNvSpPr/>
          <p:nvPr/>
        </p:nvSpPr>
        <p:spPr>
          <a:xfrm>
            <a:off x="8153400" y="4749800"/>
            <a:ext cx="406400" cy="4064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01C375-8BC9-4DDE-A785-094A0CDB84E2}"/>
              </a:ext>
            </a:extLst>
          </p:cNvPr>
          <p:cNvSpPr txBox="1"/>
          <p:nvPr/>
        </p:nvSpPr>
        <p:spPr>
          <a:xfrm>
            <a:off x="8153400" y="5283200"/>
            <a:ext cx="279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2B1810"/>
                </a:solidFill>
              </a:rPr>
              <a:t>Safety + Trace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3787C9-C991-454C-ADC4-C24C6C0AA21A}"/>
              </a:ext>
            </a:extLst>
          </p:cNvPr>
          <p:cNvSpPr txBox="1"/>
          <p:nvPr/>
        </p:nvSpPr>
        <p:spPr>
          <a:xfrm>
            <a:off x="8153400" y="5689600"/>
            <a:ext cx="279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>
                <a:solidFill>
                  <a:srgbClr val="5C3A21"/>
                </a:solidFill>
              </a:rPr>
              <a:t>规则、安全门、审计日志、可回放</a:t>
            </a:r>
            <a:endParaRPr lang="en-US" sz="1400">
              <a:solidFill>
                <a:srgbClr val="5C3A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23043F-C6D8-4B88-B2A0-E4A86BE90E65}"/>
              </a:ext>
            </a:extLst>
          </p:cNvPr>
          <p:cNvSpPr txBox="1"/>
          <p:nvPr/>
        </p:nvSpPr>
        <p:spPr>
          <a:xfrm>
            <a:off x="1016000" y="63246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C8553D"/>
                </a:solidFill>
              </a:rPr>
              <a:t>机器人不是缺一个更聪明的嘴，而是缺一套能安全上岗的任务操作层</a:t>
            </a:r>
            <a:endParaRPr lang="en-US" sz="1400" b="1">
              <a:solidFill>
                <a:srgbClr val="C8553D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0349D0-EE17-44D6-89D6-2997F5A62A0B}"/>
              </a:ext>
            </a:extLst>
          </p:cNvPr>
          <p:cNvSpPr txBox="1"/>
          <p:nvPr/>
        </p:nvSpPr>
        <p:spPr>
          <a:xfrm>
            <a:off x="10414000" y="63246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843887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7AB975-5916-49D9-A3E8-3AF062F9B34F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90080C-7626-4A45-864C-37A87E78CB0D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C8553D"/>
                </a:solidFill>
              </a:rPr>
              <a:t>0 4   ·   A R C H I T E C T U R E</a:t>
            </a:r>
            <a:endParaRPr lang="en-US" sz="12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9690F-8082-44C8-B329-EEEF30C066FF}"/>
              </a:ext>
            </a:extLst>
          </p:cNvPr>
          <p:cNvSpPr txBox="1"/>
          <p:nvPr/>
        </p:nvSpPr>
        <p:spPr>
          <a:xfrm>
            <a:off x="1016000" y="1143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2800" b="1">
                <a:solidFill>
                  <a:srgbClr val="2B1810"/>
                </a:solidFill>
              </a:rPr>
              <a:t>快脑 </a:t>
            </a:r>
            <a:r>
              <a:rPr lang="en-US" altLang="zh-CN" sz="2800" b="1">
                <a:solidFill>
                  <a:srgbClr val="2B1810"/>
                </a:solidFill>
              </a:rPr>
              <a:t>+ </a:t>
            </a:r>
            <a:r>
              <a:rPr lang="zh-CN" altLang="en-US" sz="2800" b="1">
                <a:solidFill>
                  <a:srgbClr val="2B1810"/>
                </a:solidFill>
              </a:rPr>
              <a:t>慢脑 </a:t>
            </a:r>
            <a:r>
              <a:rPr lang="en-US" altLang="zh-CN" sz="2800" b="1">
                <a:solidFill>
                  <a:srgbClr val="2B1810"/>
                </a:solidFill>
              </a:rPr>
              <a:t>+ </a:t>
            </a:r>
            <a:r>
              <a:rPr lang="zh-CN" altLang="en-US" sz="2800" b="1">
                <a:solidFill>
                  <a:srgbClr val="2B1810"/>
                </a:solidFill>
              </a:rPr>
              <a:t>安全网关：可运行、可审计的任务 </a:t>
            </a:r>
            <a:r>
              <a:rPr lang="en-US" altLang="zh-CN" sz="2800" b="1">
                <a:solidFill>
                  <a:srgbClr val="2B1810"/>
                </a:solidFill>
              </a:rPr>
              <a:t>Runtime</a:t>
            </a:r>
            <a:endParaRPr lang="en-US" sz="2800" b="1">
              <a:solidFill>
                <a:srgbClr val="2B181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7A8C90-FB35-4D4F-A9FD-1ECBF4AE552F}"/>
              </a:ext>
            </a:extLst>
          </p:cNvPr>
          <p:cNvSpPr/>
          <p:nvPr/>
        </p:nvSpPr>
        <p:spPr>
          <a:xfrm>
            <a:off x="1016000" y="2222500"/>
            <a:ext cx="8382000" cy="558800"/>
          </a:xfrm>
          <a:prstGeom prst="rect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zh-CN" altLang="en-US" sz="1400" b="1">
                <a:solidFill>
                  <a:srgbClr val="FFFFFF"/>
                </a:solidFill>
              </a:rPr>
              <a:t>用户语音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zh-CN" altLang="en-US" sz="1400" b="1">
                <a:solidFill>
                  <a:srgbClr val="FFFFFF"/>
                </a:solidFill>
              </a:rPr>
              <a:t>电话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zh-CN" altLang="en-US" sz="1400" b="1">
                <a:solidFill>
                  <a:srgbClr val="FFFFFF"/>
                </a:solidFill>
              </a:rPr>
              <a:t>远程主管</a:t>
            </a:r>
            <a:endParaRPr lang="en-US" sz="1400" b="1">
              <a:solidFill>
                <a:srgbClr val="FFFFFF"/>
              </a:solidFill>
            </a:endParaRP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7FAA936-89C1-465B-B7CA-8AAC3100DBA2}"/>
              </a:ext>
            </a:extLst>
          </p:cNvPr>
          <p:cNvSpPr/>
          <p:nvPr/>
        </p:nvSpPr>
        <p:spPr>
          <a:xfrm>
            <a:off x="5105400" y="2730500"/>
            <a:ext cx="203200" cy="177800"/>
          </a:xfrm>
          <a:prstGeom prst="down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17E31-E511-4C68-9D50-1F46A803BBB5}"/>
              </a:ext>
            </a:extLst>
          </p:cNvPr>
          <p:cNvSpPr/>
          <p:nvPr/>
        </p:nvSpPr>
        <p:spPr>
          <a:xfrm>
            <a:off x="1016000" y="2857500"/>
            <a:ext cx="8382000" cy="5588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Realtime Fast Brain  ·  </a:t>
            </a:r>
            <a:r>
              <a:rPr lang="zh-CN" altLang="en-US" sz="1400" b="1">
                <a:solidFill>
                  <a:srgbClr val="FFFFFF"/>
                </a:solidFill>
              </a:rPr>
              <a:t>低延迟对话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zh-CN" altLang="en-US" sz="1400" b="1">
                <a:solidFill>
                  <a:srgbClr val="FFFFFF"/>
                </a:solidFill>
              </a:rPr>
              <a:t>打断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zh-CN" altLang="en-US" sz="1400" b="1">
                <a:solidFill>
                  <a:srgbClr val="FFFFFF"/>
                </a:solidFill>
              </a:rPr>
              <a:t>工具调用</a:t>
            </a:r>
            <a:endParaRPr lang="en-US" sz="1400" b="1">
              <a:solidFill>
                <a:srgbClr val="FFFFFF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D4BFE61-4F3E-46B5-84D9-B9B5FBACEBC1}"/>
              </a:ext>
            </a:extLst>
          </p:cNvPr>
          <p:cNvSpPr/>
          <p:nvPr/>
        </p:nvSpPr>
        <p:spPr>
          <a:xfrm>
            <a:off x="5105400" y="3365500"/>
            <a:ext cx="203200" cy="177800"/>
          </a:xfrm>
          <a:prstGeom prst="down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FB4BA4-0641-4B60-A7D5-01FE8B1988AF}"/>
              </a:ext>
            </a:extLst>
          </p:cNvPr>
          <p:cNvSpPr/>
          <p:nvPr/>
        </p:nvSpPr>
        <p:spPr>
          <a:xfrm>
            <a:off x="1016000" y="3492500"/>
            <a:ext cx="8382000" cy="558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Harness Task OS  ·  </a:t>
            </a:r>
            <a:r>
              <a:rPr lang="zh-CN" altLang="en-US" sz="1400" b="1">
                <a:solidFill>
                  <a:srgbClr val="FFFFFF"/>
                </a:solidFill>
              </a:rPr>
              <a:t>任务编排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en-US" sz="1400" b="1">
                <a:solidFill>
                  <a:srgbClr val="FFFFFF"/>
                </a:solidFill>
              </a:rPr>
              <a:t>Agent / MCP </a:t>
            </a:r>
            <a:r>
              <a:rPr lang="zh-CN" altLang="en-US" sz="1400" b="1">
                <a:solidFill>
                  <a:srgbClr val="FFFFFF"/>
                </a:solidFill>
              </a:rPr>
              <a:t>工具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zh-CN" altLang="en-US" sz="1400" b="1">
                <a:solidFill>
                  <a:srgbClr val="FFFFFF"/>
                </a:solidFill>
              </a:rPr>
              <a:t>记忆读写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en-US" sz="1400" b="1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5624DAB-4469-4638-9C7A-15F73A408A7A}"/>
              </a:ext>
            </a:extLst>
          </p:cNvPr>
          <p:cNvSpPr/>
          <p:nvPr/>
        </p:nvSpPr>
        <p:spPr>
          <a:xfrm>
            <a:off x="5105400" y="4000500"/>
            <a:ext cx="203200" cy="177800"/>
          </a:xfrm>
          <a:prstGeom prst="down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A9B2EC-7667-4FBD-9584-F1EEBB4E0EE5}"/>
              </a:ext>
            </a:extLst>
          </p:cNvPr>
          <p:cNvSpPr/>
          <p:nvPr/>
        </p:nvSpPr>
        <p:spPr>
          <a:xfrm>
            <a:off x="1016000" y="4127500"/>
            <a:ext cx="8382000" cy="558800"/>
          </a:xfrm>
          <a:prstGeom prst="rect">
            <a:avLst/>
          </a:prstGeom>
          <a:solidFill>
            <a:srgbClr val="6B422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Slow Brain · Codex / Memory  ·  </a:t>
            </a:r>
            <a:r>
              <a:rPr lang="zh-CN" altLang="en-US" sz="1400" b="1">
                <a:solidFill>
                  <a:srgbClr val="FFFFFF"/>
                </a:solidFill>
              </a:rPr>
              <a:t>跨 </a:t>
            </a:r>
            <a:r>
              <a:rPr lang="en-US" sz="1400" b="1">
                <a:solidFill>
                  <a:srgbClr val="FFFFFF"/>
                </a:solidFill>
              </a:rPr>
              <a:t>session </a:t>
            </a:r>
            <a:r>
              <a:rPr lang="zh-CN" altLang="en-US" sz="1400" b="1">
                <a:solidFill>
                  <a:srgbClr val="FFFFFF"/>
                </a:solidFill>
              </a:rPr>
              <a:t>推理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zh-CN" altLang="en-US" sz="1400" b="1">
                <a:solidFill>
                  <a:srgbClr val="FFFFFF"/>
                </a:solidFill>
              </a:rPr>
              <a:t>离线固化</a:t>
            </a:r>
            <a:endParaRPr lang="en-US" sz="1400" b="1">
              <a:solidFill>
                <a:srgbClr val="FFFFFF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83B9DCF-0D00-4988-BAB6-0B7E18D8F6F5}"/>
              </a:ext>
            </a:extLst>
          </p:cNvPr>
          <p:cNvSpPr/>
          <p:nvPr/>
        </p:nvSpPr>
        <p:spPr>
          <a:xfrm>
            <a:off x="5105400" y="4635500"/>
            <a:ext cx="203200" cy="177800"/>
          </a:xfrm>
          <a:prstGeom prst="down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411B73-11F8-405E-89A2-EF6473DCFFFB}"/>
              </a:ext>
            </a:extLst>
          </p:cNvPr>
          <p:cNvSpPr/>
          <p:nvPr/>
        </p:nvSpPr>
        <p:spPr>
          <a:xfrm>
            <a:off x="1016000" y="4762500"/>
            <a:ext cx="8382000" cy="558800"/>
          </a:xfrm>
          <a:prstGeom prst="rect">
            <a:avLst/>
          </a:prstGeom>
          <a:solidFill>
            <a:srgbClr val="8B3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</a:rPr>
              <a:t>Safety Gateway  ·  11+1 </a:t>
            </a:r>
            <a:r>
              <a:rPr lang="zh-CN" altLang="en-US" sz="1400" b="1">
                <a:solidFill>
                  <a:srgbClr val="FFFFFF"/>
                </a:solidFill>
              </a:rPr>
              <a:t>规则 </a:t>
            </a:r>
            <a:r>
              <a:rPr lang="en-US" altLang="zh-CN" sz="1400" b="1">
                <a:solidFill>
                  <a:srgbClr val="FFFFFF"/>
                </a:solidFill>
              </a:rPr>
              <a:t>/ </a:t>
            </a:r>
            <a:r>
              <a:rPr lang="en-US" sz="1400" b="1">
                <a:solidFill>
                  <a:srgbClr val="FFFFFF"/>
                </a:solidFill>
              </a:rPr>
              <a:t>FSM / Watchdog / E-stop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4A7E5EE-023E-429C-9080-FD25149600B0}"/>
              </a:ext>
            </a:extLst>
          </p:cNvPr>
          <p:cNvSpPr/>
          <p:nvPr/>
        </p:nvSpPr>
        <p:spPr>
          <a:xfrm>
            <a:off x="5105400" y="5270500"/>
            <a:ext cx="203200" cy="177800"/>
          </a:xfrm>
          <a:prstGeom prst="down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E9D016-266D-4482-9BC7-E756740720BF}"/>
              </a:ext>
            </a:extLst>
          </p:cNvPr>
          <p:cNvSpPr/>
          <p:nvPr/>
        </p:nvSpPr>
        <p:spPr>
          <a:xfrm>
            <a:off x="1016000" y="5397500"/>
            <a:ext cx="8382000" cy="558800"/>
          </a:xfrm>
          <a:prstGeom prst="rect">
            <a:avLst/>
          </a:prstGeom>
          <a:solidFill>
            <a:srgbClr val="5C3A2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Unitree Runtime  ·  DDS / ComboController / RL Locomotion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46F2D4-5C2B-4093-A341-C1BA442199B2}"/>
              </a:ext>
            </a:extLst>
          </p:cNvPr>
          <p:cNvSpPr/>
          <p:nvPr/>
        </p:nvSpPr>
        <p:spPr>
          <a:xfrm>
            <a:off x="9652000" y="2222500"/>
            <a:ext cx="2032000" cy="3683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C5F64F-EDED-45B9-98B6-BA178972DCCA}"/>
              </a:ext>
            </a:extLst>
          </p:cNvPr>
          <p:cNvSpPr txBox="1"/>
          <p:nvPr/>
        </p:nvSpPr>
        <p:spPr>
          <a:xfrm>
            <a:off x="9829800" y="2425700"/>
            <a:ext cx="167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C8553D"/>
                </a:solidFill>
              </a:rPr>
              <a:t>关键约束</a:t>
            </a:r>
            <a:endParaRPr lang="en-US" sz="1300" b="1">
              <a:solidFill>
                <a:srgbClr val="C8553D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151605-287B-433E-8356-ADCE864444A2}"/>
              </a:ext>
            </a:extLst>
          </p:cNvPr>
          <p:cNvSpPr txBox="1"/>
          <p:nvPr/>
        </p:nvSpPr>
        <p:spPr>
          <a:xfrm>
            <a:off x="9829800" y="2781300"/>
            <a:ext cx="16764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>
                <a:solidFill>
                  <a:srgbClr val="2B1810"/>
                </a:solidFill>
              </a:rPr>
              <a:t>慢脑只出建议，
所有动作执行权回到快脑
所有运动工具必须经过安全网关
即使 </a:t>
            </a:r>
            <a:r>
              <a:rPr lang="en-US" altLang="zh-CN" sz="1300">
                <a:solidFill>
                  <a:srgbClr val="2B1810"/>
                </a:solidFill>
              </a:rPr>
              <a:t>LLM </a:t>
            </a:r>
            <a:r>
              <a:rPr lang="zh-CN" altLang="en-US" sz="1300">
                <a:solidFill>
                  <a:srgbClr val="2B1810"/>
                </a:solidFill>
              </a:rPr>
              <a:t>失败，
安全栈仍能独立工作</a:t>
            </a:r>
            <a:endParaRPr lang="en-US" sz="1300">
              <a:solidFill>
                <a:srgbClr val="2B181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776AFD-D6EA-4D2A-A097-926398B77D77}"/>
              </a:ext>
            </a:extLst>
          </p:cNvPr>
          <p:cNvSpPr txBox="1"/>
          <p:nvPr/>
        </p:nvSpPr>
        <p:spPr>
          <a:xfrm>
            <a:off x="10414000" y="63246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274577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4F9D65-C433-4787-946A-B415D1635CD8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C9430-0703-4BAE-841A-F240CA1843D2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C8553D"/>
                </a:solidFill>
              </a:rPr>
              <a:t>0 5   ·   B U S I N E S S</a:t>
            </a:r>
            <a:endParaRPr lang="en-US" sz="12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84003-22F3-4255-BD41-F108FFD2C705}"/>
              </a:ext>
            </a:extLst>
          </p:cNvPr>
          <p:cNvSpPr txBox="1"/>
          <p:nvPr/>
        </p:nvSpPr>
        <p:spPr>
          <a:xfrm>
            <a:off x="1016000" y="1143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2B1810"/>
                </a:solidFill>
              </a:rPr>
              <a:t>从 </a:t>
            </a:r>
            <a:r>
              <a:rPr lang="en-US" sz="3200" b="1">
                <a:solidFill>
                  <a:srgbClr val="2B1810"/>
                </a:solidFill>
              </a:rPr>
              <a:t>Paid Pilot </a:t>
            </a:r>
            <a:r>
              <a:rPr lang="zh-CN" altLang="en-US" sz="3200" b="1">
                <a:solidFill>
                  <a:srgbClr val="2B1810"/>
                </a:solidFill>
              </a:rPr>
              <a:t>到 </a:t>
            </a:r>
            <a:r>
              <a:rPr lang="en-US" sz="3200" b="1">
                <a:solidFill>
                  <a:srgbClr val="2B1810"/>
                </a:solidFill>
              </a:rPr>
              <a:t>Workflow Marketplace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16BF26-DF88-432A-B654-72D42D445659}"/>
              </a:ext>
            </a:extLst>
          </p:cNvPr>
          <p:cNvSpPr txBox="1"/>
          <p:nvPr/>
        </p:nvSpPr>
        <p:spPr>
          <a:xfrm>
            <a:off x="1016000" y="18796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500" i="1">
                <a:solidFill>
                  <a:srgbClr val="5C3A21"/>
                </a:solidFill>
              </a:rPr>
              <a:t>Pilot </a:t>
            </a:r>
            <a:r>
              <a:rPr lang="zh-CN" altLang="en-US" sz="1500" i="1">
                <a:solidFill>
                  <a:srgbClr val="5C3A21"/>
                </a:solidFill>
              </a:rPr>
              <a:t>不是终点，而是采集真实 </a:t>
            </a:r>
            <a:r>
              <a:rPr lang="en-US" altLang="zh-CN" sz="1500" i="1">
                <a:solidFill>
                  <a:srgbClr val="5C3A21"/>
                </a:solidFill>
              </a:rPr>
              <a:t>SOP</a:t>
            </a:r>
            <a:r>
              <a:rPr lang="zh-CN" altLang="en-US" sz="1500" i="1">
                <a:solidFill>
                  <a:srgbClr val="5C3A21"/>
                </a:solidFill>
              </a:rPr>
              <a:t>、验证安全边界、沉淀工作流模板的入口</a:t>
            </a:r>
            <a:endParaRPr lang="en-US" sz="1500" i="1">
              <a:solidFill>
                <a:srgbClr val="5C3A2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44A30-516B-44E2-B040-0A4A7D48F3CB}"/>
              </a:ext>
            </a:extLst>
          </p:cNvPr>
          <p:cNvSpPr/>
          <p:nvPr/>
        </p:nvSpPr>
        <p:spPr>
          <a:xfrm>
            <a:off x="1016000" y="2476500"/>
            <a:ext cx="2540000" cy="2095500"/>
          </a:xfrm>
          <a:prstGeom prst="rect">
            <a:avLst/>
          </a:prstGeom>
          <a:solidFill>
            <a:srgbClr val="E8DC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CF720-6969-4BF1-A487-B69FC4D18457}"/>
              </a:ext>
            </a:extLst>
          </p:cNvPr>
          <p:cNvSpPr txBox="1"/>
          <p:nvPr/>
        </p:nvSpPr>
        <p:spPr>
          <a:xfrm>
            <a:off x="1244600" y="2679700"/>
            <a:ext cx="2082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2B1810"/>
                </a:solidFill>
              </a:rPr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929A65-5FEA-42A9-AD75-AA7B61F4BDA0}"/>
              </a:ext>
            </a:extLst>
          </p:cNvPr>
          <p:cNvSpPr txBox="1"/>
          <p:nvPr/>
        </p:nvSpPr>
        <p:spPr>
          <a:xfrm>
            <a:off x="1244600" y="31369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700" b="1">
                <a:solidFill>
                  <a:srgbClr val="2B1810"/>
                </a:solidFill>
              </a:rPr>
              <a:t>可信 </a:t>
            </a:r>
            <a:r>
              <a:rPr lang="en-US" sz="1700" b="1">
                <a:solidFill>
                  <a:srgbClr val="2B1810"/>
                </a:solidFill>
              </a:rPr>
              <a:t>Demo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34DBD8-6E4C-4357-902D-A34920D3FEDC}"/>
              </a:ext>
            </a:extLst>
          </p:cNvPr>
          <p:cNvSpPr txBox="1"/>
          <p:nvPr/>
        </p:nvSpPr>
        <p:spPr>
          <a:xfrm>
            <a:off x="1244600" y="3594100"/>
            <a:ext cx="2082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>
                <a:solidFill>
                  <a:srgbClr val="2B1810"/>
                </a:solidFill>
              </a:rPr>
              <a:t>证明单台机器人可跑通真实任务闭环</a:t>
            </a:r>
            <a:endParaRPr lang="en-US" sz="1300">
              <a:solidFill>
                <a:srgbClr val="2B1810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B5F7496-9938-4B49-9E37-A5A71E835508}"/>
              </a:ext>
            </a:extLst>
          </p:cNvPr>
          <p:cNvSpPr/>
          <p:nvPr/>
        </p:nvSpPr>
        <p:spPr>
          <a:xfrm>
            <a:off x="3530600" y="3422650"/>
            <a:ext cx="177800" cy="203200"/>
          </a:xfrm>
          <a:prstGeom prst="right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558AA8-9F00-40F2-AF8E-CB932E50C66D}"/>
              </a:ext>
            </a:extLst>
          </p:cNvPr>
          <p:cNvSpPr/>
          <p:nvPr/>
        </p:nvSpPr>
        <p:spPr>
          <a:xfrm>
            <a:off x="3708400" y="2476500"/>
            <a:ext cx="2540000" cy="20955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B5A774-FE54-4CA9-95CA-108DA6E13341}"/>
              </a:ext>
            </a:extLst>
          </p:cNvPr>
          <p:cNvSpPr txBox="1"/>
          <p:nvPr/>
        </p:nvSpPr>
        <p:spPr>
          <a:xfrm>
            <a:off x="3937000" y="2679700"/>
            <a:ext cx="2082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D26418-302A-42C7-B5AA-EEBCDDE676A3}"/>
              </a:ext>
            </a:extLst>
          </p:cNvPr>
          <p:cNvSpPr txBox="1"/>
          <p:nvPr/>
        </p:nvSpPr>
        <p:spPr>
          <a:xfrm>
            <a:off x="3937000" y="31369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700" b="1">
                <a:solidFill>
                  <a:srgbClr val="FFFFFF"/>
                </a:solidFill>
              </a:rPr>
              <a:t>垂直 </a:t>
            </a:r>
            <a:r>
              <a:rPr lang="en-US" sz="1700" b="1">
                <a:solidFill>
                  <a:srgbClr val="FFFFFF"/>
                </a:solidFill>
              </a:rPr>
              <a:t>Paid Pilot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47DE2-17B2-43D7-BC70-87D215B338AB}"/>
              </a:ext>
            </a:extLst>
          </p:cNvPr>
          <p:cNvSpPr txBox="1"/>
          <p:nvPr/>
        </p:nvSpPr>
        <p:spPr>
          <a:xfrm>
            <a:off x="3937000" y="3594100"/>
            <a:ext cx="2082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>
                <a:solidFill>
                  <a:srgbClr val="FFFFFF"/>
                </a:solidFill>
              </a:rPr>
              <a:t>机房</a:t>
            </a:r>
            <a:r>
              <a:rPr lang="en-US" altLang="zh-CN" sz="1300">
                <a:solidFill>
                  <a:srgbClr val="FFFFFF"/>
                </a:solidFill>
              </a:rPr>
              <a:t>/</a:t>
            </a:r>
            <a:r>
              <a:rPr lang="zh-CN" altLang="en-US" sz="1300">
                <a:solidFill>
                  <a:srgbClr val="FFFFFF"/>
                </a:solidFill>
              </a:rPr>
              <a:t>园区</a:t>
            </a:r>
            <a:r>
              <a:rPr lang="en-US" altLang="zh-CN" sz="1300">
                <a:solidFill>
                  <a:srgbClr val="FFFFFF"/>
                </a:solidFill>
              </a:rPr>
              <a:t>/</a:t>
            </a:r>
            <a:r>
              <a:rPr lang="zh-CN" altLang="en-US" sz="1300">
                <a:solidFill>
                  <a:srgbClr val="FFFFFF"/>
                </a:solidFill>
              </a:rPr>
              <a:t>工业巡检：拿到真实 </a:t>
            </a:r>
            <a:r>
              <a:rPr lang="en-US" altLang="zh-CN" sz="1300">
                <a:solidFill>
                  <a:srgbClr val="FFFFFF"/>
                </a:solidFill>
              </a:rPr>
              <a:t>SOP </a:t>
            </a:r>
            <a:r>
              <a:rPr lang="zh-CN" altLang="en-US" sz="1300">
                <a:solidFill>
                  <a:srgbClr val="FFFFFF"/>
                </a:solidFill>
              </a:rPr>
              <a:t>与异常数据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DABF8B8-6B99-4800-914C-2B284D868D96}"/>
              </a:ext>
            </a:extLst>
          </p:cNvPr>
          <p:cNvSpPr/>
          <p:nvPr/>
        </p:nvSpPr>
        <p:spPr>
          <a:xfrm>
            <a:off x="6223000" y="3422650"/>
            <a:ext cx="177800" cy="203200"/>
          </a:xfrm>
          <a:prstGeom prst="right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AADD23-E1DA-4EDA-810B-B5F3A3A3ABBF}"/>
              </a:ext>
            </a:extLst>
          </p:cNvPr>
          <p:cNvSpPr/>
          <p:nvPr/>
        </p:nvSpPr>
        <p:spPr>
          <a:xfrm>
            <a:off x="6400800" y="2476500"/>
            <a:ext cx="2540000" cy="20955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46852D-913F-47D3-8DED-5FCB074813AD}"/>
              </a:ext>
            </a:extLst>
          </p:cNvPr>
          <p:cNvSpPr txBox="1"/>
          <p:nvPr/>
        </p:nvSpPr>
        <p:spPr>
          <a:xfrm>
            <a:off x="6629400" y="2679700"/>
            <a:ext cx="2082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CD5FA0-9275-4B29-A597-13179F20CEA5}"/>
              </a:ext>
            </a:extLst>
          </p:cNvPr>
          <p:cNvSpPr txBox="1"/>
          <p:nvPr/>
        </p:nvSpPr>
        <p:spPr>
          <a:xfrm>
            <a:off x="6629400" y="31369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RobotOps </a:t>
            </a:r>
            <a:r>
              <a:rPr lang="zh-CN" altLang="en-US" sz="1700" b="1">
                <a:solidFill>
                  <a:srgbClr val="FFFFFF"/>
                </a:solidFill>
              </a:rPr>
              <a:t>平台</a:t>
            </a:r>
            <a:endParaRPr lang="en-US" sz="1700" b="1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BA4203-D7CA-4620-96B1-CA5A3037B850}"/>
              </a:ext>
            </a:extLst>
          </p:cNvPr>
          <p:cNvSpPr txBox="1"/>
          <p:nvPr/>
        </p:nvSpPr>
        <p:spPr>
          <a:xfrm>
            <a:off x="6629400" y="3594100"/>
            <a:ext cx="2082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Runtime + Site License + Fleet Dashboard </a:t>
            </a:r>
            <a:r>
              <a:rPr lang="zh-CN" altLang="en-US" sz="1300">
                <a:solidFill>
                  <a:srgbClr val="FFFFFF"/>
                </a:solidFill>
              </a:rPr>
              <a:t>订阅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26F9B05-F34B-4C50-914F-8BC96D2CD9AF}"/>
              </a:ext>
            </a:extLst>
          </p:cNvPr>
          <p:cNvSpPr/>
          <p:nvPr/>
        </p:nvSpPr>
        <p:spPr>
          <a:xfrm>
            <a:off x="8915400" y="3422650"/>
            <a:ext cx="177800" cy="203200"/>
          </a:xfrm>
          <a:prstGeom prst="right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2F9625A-2C73-42CB-A0A2-922AE5C384C5}"/>
              </a:ext>
            </a:extLst>
          </p:cNvPr>
          <p:cNvSpPr/>
          <p:nvPr/>
        </p:nvSpPr>
        <p:spPr>
          <a:xfrm>
            <a:off x="9093200" y="2476500"/>
            <a:ext cx="2540000" cy="2095500"/>
          </a:xfrm>
          <a:prstGeom prst="rect">
            <a:avLst/>
          </a:prstGeom>
          <a:solidFill>
            <a:srgbClr val="8B3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391E5D-F6A4-4FCD-A612-D293699FB2D8}"/>
              </a:ext>
            </a:extLst>
          </p:cNvPr>
          <p:cNvSpPr txBox="1"/>
          <p:nvPr/>
        </p:nvSpPr>
        <p:spPr>
          <a:xfrm>
            <a:off x="9321800" y="2679700"/>
            <a:ext cx="2082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FFFFFF"/>
                </a:solidFill>
              </a:rPr>
              <a:t>P3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D31F4B-7B0D-4102-8B2C-243CF769FC82}"/>
              </a:ext>
            </a:extLst>
          </p:cNvPr>
          <p:cNvSpPr txBox="1"/>
          <p:nvPr/>
        </p:nvSpPr>
        <p:spPr>
          <a:xfrm>
            <a:off x="9321800" y="31369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700" b="1">
                <a:solidFill>
                  <a:srgbClr val="FFFFFF"/>
                </a:solidFill>
              </a:rPr>
              <a:t>Workflow </a:t>
            </a:r>
            <a:r>
              <a:rPr lang="zh-CN" altLang="en-US" sz="1700" b="1">
                <a:solidFill>
                  <a:srgbClr val="FFFFFF"/>
                </a:solidFill>
              </a:rPr>
              <a:t>生态</a:t>
            </a:r>
            <a:endParaRPr lang="en-US" sz="1700" b="1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25924D-657C-4E8C-9B55-4B07F818D78E}"/>
              </a:ext>
            </a:extLst>
          </p:cNvPr>
          <p:cNvSpPr txBox="1"/>
          <p:nvPr/>
        </p:nvSpPr>
        <p:spPr>
          <a:xfrm>
            <a:off x="9321800" y="3594100"/>
            <a:ext cx="2082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Marketplace + </a:t>
            </a:r>
            <a:r>
              <a:rPr lang="zh-CN" altLang="en-US" sz="1300">
                <a:solidFill>
                  <a:srgbClr val="FFFFFF"/>
                </a:solidFill>
              </a:rPr>
              <a:t>第三方 </a:t>
            </a:r>
            <a:r>
              <a:rPr lang="en-US" sz="1300">
                <a:solidFill>
                  <a:srgbClr val="FFFFFF"/>
                </a:solidFill>
              </a:rPr>
              <a:t>Agent + Connector </a:t>
            </a:r>
            <a:r>
              <a:rPr lang="zh-CN" altLang="en-US" sz="1300">
                <a:solidFill>
                  <a:srgbClr val="FFFFFF"/>
                </a:solidFill>
              </a:rPr>
              <a:t>认证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C4DA53-691D-49DF-86C4-FAC42FC46130}"/>
              </a:ext>
            </a:extLst>
          </p:cNvPr>
          <p:cNvSpPr txBox="1"/>
          <p:nvPr/>
        </p:nvSpPr>
        <p:spPr>
          <a:xfrm>
            <a:off x="1016000" y="4927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C8553D"/>
                </a:solidFill>
              </a:rPr>
              <a:t>收费单元</a:t>
            </a:r>
            <a:endParaRPr lang="en-US" sz="1300" b="1">
              <a:solidFill>
                <a:srgbClr val="C8553D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6392162-0858-4409-A60B-7A294B2E0871}"/>
              </a:ext>
            </a:extLst>
          </p:cNvPr>
          <p:cNvSpPr/>
          <p:nvPr/>
        </p:nvSpPr>
        <p:spPr>
          <a:xfrm>
            <a:off x="1016000" y="5422900"/>
            <a:ext cx="101600" cy="101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22E2D9-6424-40E5-9C3C-5DF7F4F35017}"/>
              </a:ext>
            </a:extLst>
          </p:cNvPr>
          <p:cNvSpPr txBox="1"/>
          <p:nvPr/>
        </p:nvSpPr>
        <p:spPr>
          <a:xfrm>
            <a:off x="1270000" y="5334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B1810"/>
                </a:solidFill>
              </a:rPr>
              <a:t>Pilot Fee · </a:t>
            </a:r>
            <a:r>
              <a:rPr lang="zh-CN" altLang="en-US" sz="1400">
                <a:solidFill>
                  <a:srgbClr val="2B1810"/>
                </a:solidFill>
              </a:rPr>
              <a:t>帮客户把机器人跑通一个 </a:t>
            </a:r>
            <a:r>
              <a:rPr lang="en-US" sz="1400">
                <a:solidFill>
                  <a:srgbClr val="2B1810"/>
                </a:solidFill>
              </a:rPr>
              <a:t>SOP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5ECE3BE-279E-4D74-8666-D82F5725F174}"/>
              </a:ext>
            </a:extLst>
          </p:cNvPr>
          <p:cNvSpPr/>
          <p:nvPr/>
        </p:nvSpPr>
        <p:spPr>
          <a:xfrm>
            <a:off x="1016000" y="5740400"/>
            <a:ext cx="101600" cy="101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464C2E-B52C-49A5-AA04-EFEF5224C8DC}"/>
              </a:ext>
            </a:extLst>
          </p:cNvPr>
          <p:cNvSpPr txBox="1"/>
          <p:nvPr/>
        </p:nvSpPr>
        <p:spPr>
          <a:xfrm>
            <a:off x="1270000" y="5651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B1810"/>
                </a:solidFill>
              </a:rPr>
              <a:t>Runtime License · </a:t>
            </a:r>
            <a:r>
              <a:rPr lang="zh-CN" altLang="en-US" sz="1400">
                <a:solidFill>
                  <a:srgbClr val="2B1810"/>
                </a:solidFill>
              </a:rPr>
              <a:t>按机器人 </a:t>
            </a:r>
            <a:r>
              <a:rPr lang="en-US" altLang="zh-CN" sz="1400">
                <a:solidFill>
                  <a:srgbClr val="2B1810"/>
                </a:solidFill>
              </a:rPr>
              <a:t>/ </a:t>
            </a:r>
            <a:r>
              <a:rPr lang="zh-CN" altLang="en-US" sz="1400">
                <a:solidFill>
                  <a:srgbClr val="2B1810"/>
                </a:solidFill>
              </a:rPr>
              <a:t>场地 </a:t>
            </a:r>
            <a:r>
              <a:rPr lang="en-US" altLang="zh-CN" sz="1400">
                <a:solidFill>
                  <a:srgbClr val="2B1810"/>
                </a:solidFill>
              </a:rPr>
              <a:t>/ </a:t>
            </a:r>
            <a:r>
              <a:rPr lang="zh-CN" altLang="en-US" sz="1400">
                <a:solidFill>
                  <a:srgbClr val="2B1810"/>
                </a:solidFill>
              </a:rPr>
              <a:t>连接器订阅</a:t>
            </a:r>
            <a:endParaRPr lang="en-US" sz="1400">
              <a:solidFill>
                <a:srgbClr val="2B1810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31F520-AA57-4AE1-845C-E0ADBE288E35}"/>
              </a:ext>
            </a:extLst>
          </p:cNvPr>
          <p:cNvSpPr/>
          <p:nvPr/>
        </p:nvSpPr>
        <p:spPr>
          <a:xfrm>
            <a:off x="1016000" y="6057900"/>
            <a:ext cx="101600" cy="101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B2179A-3721-4B6A-A92E-4ACAEFA88F89}"/>
              </a:ext>
            </a:extLst>
          </p:cNvPr>
          <p:cNvSpPr txBox="1"/>
          <p:nvPr/>
        </p:nvSpPr>
        <p:spPr>
          <a:xfrm>
            <a:off x="1270000" y="5969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B1810"/>
                </a:solidFill>
              </a:rPr>
              <a:t>Connector Pack &amp; Safety Module · </a:t>
            </a:r>
            <a:r>
              <a:rPr lang="zh-CN" altLang="en-US" sz="1400">
                <a:solidFill>
                  <a:srgbClr val="2B1810"/>
                </a:solidFill>
              </a:rPr>
              <a:t>工单 </a:t>
            </a:r>
            <a:r>
              <a:rPr lang="en-US" altLang="zh-CN" sz="1400">
                <a:solidFill>
                  <a:srgbClr val="2B1810"/>
                </a:solidFill>
              </a:rPr>
              <a:t>/ </a:t>
            </a:r>
            <a:r>
              <a:rPr lang="zh-CN" altLang="en-US" sz="1400">
                <a:solidFill>
                  <a:srgbClr val="2B1810"/>
                </a:solidFill>
              </a:rPr>
              <a:t>地图 </a:t>
            </a:r>
            <a:r>
              <a:rPr lang="en-US" altLang="zh-CN" sz="1400">
                <a:solidFill>
                  <a:srgbClr val="2B1810"/>
                </a:solidFill>
              </a:rPr>
              <a:t>/ </a:t>
            </a:r>
            <a:r>
              <a:rPr lang="en-US" sz="1400">
                <a:solidFill>
                  <a:srgbClr val="2B1810"/>
                </a:solidFill>
              </a:rPr>
              <a:t>IoT / </a:t>
            </a:r>
            <a:r>
              <a:rPr lang="zh-CN" altLang="en-US" sz="1400">
                <a:solidFill>
                  <a:srgbClr val="2B1810"/>
                </a:solidFill>
              </a:rPr>
              <a:t>审计</a:t>
            </a:r>
            <a:endParaRPr lang="en-US" sz="1400">
              <a:solidFill>
                <a:srgbClr val="2B181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0F6114F-02DD-4919-BC41-6704294BE971}"/>
              </a:ext>
            </a:extLst>
          </p:cNvPr>
          <p:cNvSpPr/>
          <p:nvPr/>
        </p:nvSpPr>
        <p:spPr>
          <a:xfrm>
            <a:off x="1016000" y="6375400"/>
            <a:ext cx="101600" cy="101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EE046EA-9D4E-4004-8397-911963DEC07D}"/>
              </a:ext>
            </a:extLst>
          </p:cNvPr>
          <p:cNvSpPr txBox="1"/>
          <p:nvPr/>
        </p:nvSpPr>
        <p:spPr>
          <a:xfrm>
            <a:off x="1270000" y="6286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2B1810"/>
                </a:solidFill>
              </a:rPr>
              <a:t>Marketplace Commission · </a:t>
            </a:r>
            <a:r>
              <a:rPr lang="zh-CN" altLang="en-US" sz="1400">
                <a:solidFill>
                  <a:srgbClr val="2B1810"/>
                </a:solidFill>
              </a:rPr>
              <a:t>工作流 </a:t>
            </a:r>
            <a:r>
              <a:rPr lang="en-US" altLang="zh-CN" sz="1400">
                <a:solidFill>
                  <a:srgbClr val="2B1810"/>
                </a:solidFill>
              </a:rPr>
              <a:t>/ </a:t>
            </a:r>
            <a:r>
              <a:rPr lang="en-US" sz="1400">
                <a:solidFill>
                  <a:srgbClr val="2B1810"/>
                </a:solidFill>
              </a:rPr>
              <a:t>Agent / </a:t>
            </a:r>
            <a:r>
              <a:rPr lang="zh-CN" altLang="en-US" sz="1400">
                <a:solidFill>
                  <a:srgbClr val="2B1810"/>
                </a:solidFill>
              </a:rPr>
              <a:t>连接器交易抽成</a:t>
            </a:r>
            <a:endParaRPr lang="en-US" sz="1400">
              <a:solidFill>
                <a:srgbClr val="2B181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83E1DF-896B-4A1C-AFBB-586511391CDC}"/>
              </a:ext>
            </a:extLst>
          </p:cNvPr>
          <p:cNvSpPr txBox="1"/>
          <p:nvPr/>
        </p:nvSpPr>
        <p:spPr>
          <a:xfrm>
            <a:off x="10414000" y="63246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3768000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08E1E6-88C2-4C8A-B31B-B625243598D7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183A4-80A3-490E-B0D0-95CA310F61A4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C8553D"/>
                </a:solidFill>
              </a:rPr>
              <a:t>0 6   ·   S W A R 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4B20E-D16F-42B0-A8CD-9DB95D9014E4}"/>
              </a:ext>
            </a:extLst>
          </p:cNvPr>
          <p:cNvSpPr txBox="1"/>
          <p:nvPr/>
        </p:nvSpPr>
        <p:spPr>
          <a:xfrm>
            <a:off x="1016000" y="1143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2B1810"/>
                </a:solidFill>
              </a:rPr>
              <a:t>从单台机器人，到可调度的机器人团队</a:t>
            </a:r>
            <a:endParaRPr lang="en-US" sz="3200" b="1">
              <a:solidFill>
                <a:srgbClr val="2B181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5898DC-9D86-4A38-95A0-58791F8405F7}"/>
              </a:ext>
            </a:extLst>
          </p:cNvPr>
          <p:cNvSpPr txBox="1"/>
          <p:nvPr/>
        </p:nvSpPr>
        <p:spPr>
          <a:xfrm>
            <a:off x="1016000" y="1879600"/>
            <a:ext cx="1041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C3A21"/>
                </a:solidFill>
              </a:rPr>
              <a:t>Coordinator AI </a:t>
            </a:r>
            <a:r>
              <a:rPr lang="zh-CN" altLang="en-US" sz="1400" i="1">
                <a:solidFill>
                  <a:srgbClr val="5C3A21"/>
                </a:solidFill>
              </a:rPr>
              <a:t>知道每台机器人在哪、能做什么、是否安全 </a:t>
            </a:r>
            <a:r>
              <a:rPr lang="en-US" altLang="zh-CN" sz="1400" i="1">
                <a:solidFill>
                  <a:srgbClr val="5C3A21"/>
                </a:solidFill>
              </a:rPr>
              <a:t>— </a:t>
            </a:r>
            <a:r>
              <a:rPr lang="zh-CN" altLang="en-US" sz="1400" i="1">
                <a:solidFill>
                  <a:srgbClr val="5C3A21"/>
                </a:solidFill>
              </a:rPr>
              <a:t>统一分配、共享记忆、远程接管、审计</a:t>
            </a:r>
            <a:endParaRPr lang="en-US" sz="1400" i="1">
              <a:solidFill>
                <a:srgbClr val="5C3A2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F039F0-2F7B-4A7A-8B9A-260E6D84BD7D}"/>
              </a:ext>
            </a:extLst>
          </p:cNvPr>
          <p:cNvSpPr/>
          <p:nvPr/>
        </p:nvSpPr>
        <p:spPr>
          <a:xfrm>
            <a:off x="1016000" y="2476500"/>
            <a:ext cx="4826000" cy="3048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E76446-32FC-4E7B-9B1F-F26E3EC2749A}"/>
              </a:ext>
            </a:extLst>
          </p:cNvPr>
          <p:cNvSpPr/>
          <p:nvPr/>
        </p:nvSpPr>
        <p:spPr>
          <a:xfrm>
            <a:off x="2730500" y="3505200"/>
            <a:ext cx="1397000" cy="990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Coordinator
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24E0F4-E9C3-46C3-928A-89BF646E4733}"/>
              </a:ext>
            </a:extLst>
          </p:cNvPr>
          <p:cNvSpPr/>
          <p:nvPr/>
        </p:nvSpPr>
        <p:spPr>
          <a:xfrm rot="1551981">
            <a:off x="1290974" y="3163229"/>
            <a:ext cx="1863051" cy="25400"/>
          </a:xfrm>
          <a:prstGeom prst="rect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9665A0-11C3-40B3-AAAD-AD32DCD81CDA}"/>
              </a:ext>
            </a:extLst>
          </p:cNvPr>
          <p:cNvSpPr/>
          <p:nvPr/>
        </p:nvSpPr>
        <p:spPr>
          <a:xfrm rot="9248019">
            <a:off x="3768284" y="3175001"/>
            <a:ext cx="1863051" cy="25400"/>
          </a:xfrm>
          <a:prstGeom prst="rect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CBFB9-04DC-463B-A241-75D42890BA0A}"/>
              </a:ext>
            </a:extLst>
          </p:cNvPr>
          <p:cNvSpPr/>
          <p:nvPr/>
        </p:nvSpPr>
        <p:spPr>
          <a:xfrm rot="-5400000">
            <a:off x="3003550" y="4899877"/>
            <a:ext cx="812800" cy="25400"/>
          </a:xfrm>
          <a:prstGeom prst="rect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CC0D20C-E81D-4CDE-BC7C-F818D643E172}"/>
              </a:ext>
            </a:extLst>
          </p:cNvPr>
          <p:cNvSpPr/>
          <p:nvPr/>
        </p:nvSpPr>
        <p:spPr>
          <a:xfrm>
            <a:off x="2730500" y="3505200"/>
            <a:ext cx="1397000" cy="990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Coordinator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941028-69B0-4723-A5F7-5EBF3C4003BC}"/>
              </a:ext>
            </a:extLst>
          </p:cNvPr>
          <p:cNvSpPr/>
          <p:nvPr/>
        </p:nvSpPr>
        <p:spPr>
          <a:xfrm>
            <a:off x="1100916" y="2970716"/>
            <a:ext cx="711200" cy="711200"/>
          </a:xfrm>
          <a:prstGeom prst="ellipse">
            <a:avLst/>
          </a:prstGeom>
          <a:solidFill>
            <a:srgbClr val="5C3A2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5EFE6"/>
                </a:solidFill>
              </a:rPr>
              <a:t>R-01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36124D-9A9B-41D6-8B48-E579BD1DEFCB}"/>
              </a:ext>
            </a:extLst>
          </p:cNvPr>
          <p:cNvSpPr/>
          <p:nvPr/>
        </p:nvSpPr>
        <p:spPr>
          <a:xfrm>
            <a:off x="5029200" y="2945129"/>
            <a:ext cx="711200" cy="711200"/>
          </a:xfrm>
          <a:prstGeom prst="ellipse">
            <a:avLst/>
          </a:prstGeom>
          <a:solidFill>
            <a:srgbClr val="5C3A2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5EFE6"/>
                </a:solidFill>
              </a:rPr>
              <a:t>R-02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FA5460-4B27-41DE-B2DC-822A1D118AD4}"/>
              </a:ext>
            </a:extLst>
          </p:cNvPr>
          <p:cNvSpPr/>
          <p:nvPr/>
        </p:nvSpPr>
        <p:spPr>
          <a:xfrm>
            <a:off x="2254250" y="4502150"/>
            <a:ext cx="711200" cy="711200"/>
          </a:xfrm>
          <a:prstGeom prst="ellipse">
            <a:avLst/>
          </a:prstGeom>
          <a:solidFill>
            <a:srgbClr val="5C3A2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5EFE6"/>
                </a:solidFill>
              </a:rPr>
              <a:t>R-03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A3B4AF-0FF5-447E-9D01-BB6B5CADB72B}"/>
              </a:ext>
            </a:extLst>
          </p:cNvPr>
          <p:cNvSpPr txBox="1"/>
          <p:nvPr/>
        </p:nvSpPr>
        <p:spPr>
          <a:xfrm>
            <a:off x="6350000" y="24765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700" b="1">
                <a:solidFill>
                  <a:srgbClr val="2B1810"/>
                </a:solidFill>
              </a:rPr>
              <a:t>Swarm </a:t>
            </a:r>
            <a:r>
              <a:rPr lang="zh-CN" altLang="en-US" sz="1700" b="1">
                <a:solidFill>
                  <a:srgbClr val="2B1810"/>
                </a:solidFill>
              </a:rPr>
              <a:t>层解决的企业刚需</a:t>
            </a:r>
            <a:endParaRPr lang="en-US" sz="1700" b="1">
              <a:solidFill>
                <a:srgbClr val="2B181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2B12E0-14A9-4313-B5FC-48BEBDE42E2F}"/>
              </a:ext>
            </a:extLst>
          </p:cNvPr>
          <p:cNvSpPr txBox="1"/>
          <p:nvPr/>
        </p:nvSpPr>
        <p:spPr>
          <a:xfrm>
            <a:off x="6350000" y="29591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2B1810"/>
                </a:solidFill>
              </a:rPr>
              <a:t>多台机器人谁去做哪个任务？</a:t>
            </a:r>
            <a:endParaRPr lang="en-US" sz="1300" b="1">
              <a:solidFill>
                <a:srgbClr val="2B181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8875B-BE28-473D-83CF-538C280FFB34}"/>
              </a:ext>
            </a:extLst>
          </p:cNvPr>
          <p:cNvSpPr txBox="1"/>
          <p:nvPr/>
        </p:nvSpPr>
        <p:spPr>
          <a:xfrm>
            <a:off x="6350000" y="3200400"/>
            <a:ext cx="5080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8553D"/>
                </a:solidFill>
              </a:rPr>
              <a:t>→ Task Queue + Capability Matching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D8FEF5-AD0D-4B08-86BB-933B28E59555}"/>
              </a:ext>
            </a:extLst>
          </p:cNvPr>
          <p:cNvSpPr txBox="1"/>
          <p:nvPr/>
        </p:nvSpPr>
        <p:spPr>
          <a:xfrm>
            <a:off x="6350000" y="35179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2B1810"/>
                </a:solidFill>
              </a:rPr>
              <a:t>会不会两台机器人冲突？</a:t>
            </a:r>
            <a:endParaRPr lang="en-US" sz="1300" b="1">
              <a:solidFill>
                <a:srgbClr val="2B181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47A654-5596-4751-95EB-622A7310FE5F}"/>
              </a:ext>
            </a:extLst>
          </p:cNvPr>
          <p:cNvSpPr txBox="1"/>
          <p:nvPr/>
        </p:nvSpPr>
        <p:spPr>
          <a:xfrm>
            <a:off x="6350000" y="3759200"/>
            <a:ext cx="5080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8553D"/>
                </a:solidFill>
              </a:rPr>
              <a:t>→ Global State + Geofence + Lease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59ACC9-0B10-4915-A329-3822BBD5F335}"/>
              </a:ext>
            </a:extLst>
          </p:cNvPr>
          <p:cNvSpPr txBox="1"/>
          <p:nvPr/>
        </p:nvSpPr>
        <p:spPr>
          <a:xfrm>
            <a:off x="6350000" y="40767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2B1810"/>
                </a:solidFill>
              </a:rPr>
              <a:t>某台低电量或故障怎么办？</a:t>
            </a:r>
            <a:endParaRPr lang="en-US" sz="1300" b="1">
              <a:solidFill>
                <a:srgbClr val="2B181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BEE434-3B3A-4ADF-AEB0-97B38FCF1CBC}"/>
              </a:ext>
            </a:extLst>
          </p:cNvPr>
          <p:cNvSpPr txBox="1"/>
          <p:nvPr/>
        </p:nvSpPr>
        <p:spPr>
          <a:xfrm>
            <a:off x="6350000" y="4318000"/>
            <a:ext cx="5080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8553D"/>
                </a:solidFill>
              </a:rPr>
              <a:t>→ Health Monitor + Reassign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7E4F3F-99EB-4308-B975-F3C332AF4688}"/>
              </a:ext>
            </a:extLst>
          </p:cNvPr>
          <p:cNvSpPr txBox="1"/>
          <p:nvPr/>
        </p:nvSpPr>
        <p:spPr>
          <a:xfrm>
            <a:off x="6350000" y="46355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2B1810"/>
                </a:solidFill>
              </a:rPr>
              <a:t>主管怎么接管？</a:t>
            </a:r>
            <a:endParaRPr lang="en-US" sz="1300" b="1">
              <a:solidFill>
                <a:srgbClr val="2B181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7E3FB0-E313-4E73-B999-7F73D1A3FCCA}"/>
              </a:ext>
            </a:extLst>
          </p:cNvPr>
          <p:cNvSpPr txBox="1"/>
          <p:nvPr/>
        </p:nvSpPr>
        <p:spPr>
          <a:xfrm>
            <a:off x="6350000" y="4876800"/>
            <a:ext cx="5080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8553D"/>
                </a:solidFill>
              </a:rPr>
              <a:t>→ Remote Bridge + Human-in-the-loop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EAD884-5E48-455C-A425-7F7FEB3C1D6D}"/>
              </a:ext>
            </a:extLst>
          </p:cNvPr>
          <p:cNvSpPr txBox="1"/>
          <p:nvPr/>
        </p:nvSpPr>
        <p:spPr>
          <a:xfrm>
            <a:off x="6350000" y="51943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2B1810"/>
                </a:solidFill>
              </a:rPr>
              <a:t>多机器人如何共享记忆？</a:t>
            </a:r>
            <a:endParaRPr lang="en-US" sz="1300" b="1">
              <a:solidFill>
                <a:srgbClr val="2B181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F27C62-A9EC-4FE1-9C0C-8C6E42F449A1}"/>
              </a:ext>
            </a:extLst>
          </p:cNvPr>
          <p:cNvSpPr txBox="1"/>
          <p:nvPr/>
        </p:nvSpPr>
        <p:spPr>
          <a:xfrm>
            <a:off x="6350000" y="5435600"/>
            <a:ext cx="5080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8553D"/>
                </a:solidFill>
              </a:rPr>
              <a:t>→ Shared Site Memory + Local Memory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455BEA-1A49-4C29-9548-5115F41007FE}"/>
              </a:ext>
            </a:extLst>
          </p:cNvPr>
          <p:cNvSpPr txBox="1"/>
          <p:nvPr/>
        </p:nvSpPr>
        <p:spPr>
          <a:xfrm>
            <a:off x="6350000" y="57531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2B1810"/>
                </a:solidFill>
              </a:rPr>
              <a:t>怎么复盘整队表现？</a:t>
            </a:r>
            <a:endParaRPr lang="en-US" sz="1300" b="1">
              <a:solidFill>
                <a:srgbClr val="2B181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4B242C-E8B8-4591-BCC6-4C069DD1198B}"/>
              </a:ext>
            </a:extLst>
          </p:cNvPr>
          <p:cNvSpPr txBox="1"/>
          <p:nvPr/>
        </p:nvSpPr>
        <p:spPr>
          <a:xfrm>
            <a:off x="6350000" y="5994400"/>
            <a:ext cx="5080000" cy="215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C8553D"/>
                </a:solidFill>
              </a:rPr>
              <a:t>→ Fleet Trace + Metrics Dashboard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279F4B-E537-41CC-998B-C2192BB213C8}"/>
              </a:ext>
            </a:extLst>
          </p:cNvPr>
          <p:cNvSpPr txBox="1"/>
          <p:nvPr/>
        </p:nvSpPr>
        <p:spPr>
          <a:xfrm>
            <a:off x="10414000" y="63246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06 / 08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819CCBE-5CF0-4187-AC5E-A5B4A66C321C}"/>
              </a:ext>
            </a:extLst>
          </p:cNvPr>
          <p:cNvSpPr/>
          <p:nvPr/>
        </p:nvSpPr>
        <p:spPr>
          <a:xfrm>
            <a:off x="1314450" y="5651500"/>
            <a:ext cx="1485900" cy="279400"/>
          </a:xfrm>
          <a:prstGeom prst="round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3A21"/>
                </a:solidFill>
              </a:rPr>
              <a:t>Robot Registry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B8341D2-6F39-445D-A36C-6F7C81FBF550}"/>
              </a:ext>
            </a:extLst>
          </p:cNvPr>
          <p:cNvSpPr/>
          <p:nvPr/>
        </p:nvSpPr>
        <p:spPr>
          <a:xfrm>
            <a:off x="2901950" y="5651500"/>
            <a:ext cx="1143000" cy="279400"/>
          </a:xfrm>
          <a:prstGeom prst="round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3A21"/>
                </a:solidFill>
              </a:rPr>
              <a:t>Task Queue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7B1649E-2858-4D10-8D43-A98D8B747032}"/>
              </a:ext>
            </a:extLst>
          </p:cNvPr>
          <p:cNvSpPr/>
          <p:nvPr/>
        </p:nvSpPr>
        <p:spPr>
          <a:xfrm>
            <a:off x="4146550" y="5651500"/>
            <a:ext cx="1397000" cy="279400"/>
          </a:xfrm>
          <a:prstGeom prst="round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3A21"/>
                </a:solidFill>
              </a:rPr>
              <a:t>Shared Memory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E07EF5-FB87-4370-8379-25094CFBA490}"/>
              </a:ext>
            </a:extLst>
          </p:cNvPr>
          <p:cNvSpPr/>
          <p:nvPr/>
        </p:nvSpPr>
        <p:spPr>
          <a:xfrm>
            <a:off x="2101850" y="6032500"/>
            <a:ext cx="1320800" cy="279400"/>
          </a:xfrm>
          <a:prstGeom prst="round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3A21"/>
                </a:solidFill>
              </a:rPr>
              <a:t>Safety Lease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8190FAC-7417-4BEE-A7B1-12E699C3D683}"/>
              </a:ext>
            </a:extLst>
          </p:cNvPr>
          <p:cNvSpPr/>
          <p:nvPr/>
        </p:nvSpPr>
        <p:spPr>
          <a:xfrm>
            <a:off x="3524250" y="6032500"/>
            <a:ext cx="1231900" cy="279400"/>
          </a:xfrm>
          <a:prstGeom prst="round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5C3A21"/>
                </a:solidFill>
              </a:rPr>
              <a:t>Fleet Trace</a:t>
            </a:r>
          </a:p>
        </p:txBody>
      </p:sp>
    </p:spTree>
    <p:extLst>
      <p:ext uri="{BB962C8B-B14F-4D97-AF65-F5344CB8AC3E}">
        <p14:creationId xmlns:p14="http://schemas.microsoft.com/office/powerpoint/2010/main" val="2699264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B2B69-2468-7E43-B754-69721F57C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r>
              <a:rPr lang="zh-CN" altLang="en-US" dirty="0"/>
              <a:t>视频页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876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2C4AF2-4E35-4F72-98F6-0C1F1B16CEE4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B051B8-382F-4C98-873E-DFEA2ED7157C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C8553D"/>
                </a:solidFill>
              </a:rPr>
              <a:t>0 7   ·   D E M O</a:t>
            </a:r>
            <a:endParaRPr lang="en-US" sz="12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1B9714-2330-448A-8659-980EBFB2A66D}"/>
              </a:ext>
            </a:extLst>
          </p:cNvPr>
          <p:cNvSpPr txBox="1"/>
          <p:nvPr/>
        </p:nvSpPr>
        <p:spPr>
          <a:xfrm>
            <a:off x="1016000" y="1143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2400" b="1">
                <a:solidFill>
                  <a:srgbClr val="2B1810"/>
                </a:solidFill>
              </a:rPr>
              <a:t>机房巡检任务闭环：语音 → 动作 → 安全 → 工单 → 记忆 → </a:t>
            </a:r>
            <a:r>
              <a:rPr lang="en-US" altLang="zh-CN" sz="2400" b="1">
                <a:solidFill>
                  <a:srgbClr val="2B1810"/>
                </a:solidFill>
              </a:rPr>
              <a:t>Trace</a:t>
            </a:r>
            <a:endParaRPr lang="en-US" sz="2400" b="1">
              <a:solidFill>
                <a:srgbClr val="2B181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52171-EF35-4248-B1E8-B3925EFB1A3E}"/>
              </a:ext>
            </a:extLst>
          </p:cNvPr>
          <p:cNvSpPr/>
          <p:nvPr/>
        </p:nvSpPr>
        <p:spPr>
          <a:xfrm>
            <a:off x="1016000" y="2095500"/>
            <a:ext cx="3251200" cy="2032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34500B-3EE5-4F2F-88F1-BA2DD569CCCC}"/>
              </a:ext>
            </a:extLst>
          </p:cNvPr>
          <p:cNvSpPr/>
          <p:nvPr/>
        </p:nvSpPr>
        <p:spPr>
          <a:xfrm>
            <a:off x="1016000" y="2095500"/>
            <a:ext cx="3251200" cy="50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9220EA-6BD0-48EB-B939-D1F781B90B5C}"/>
              </a:ext>
            </a:extLst>
          </p:cNvPr>
          <p:cNvSpPr/>
          <p:nvPr/>
        </p:nvSpPr>
        <p:spPr>
          <a:xfrm>
            <a:off x="1219200" y="2298700"/>
            <a:ext cx="355600" cy="355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840222-7AFC-44D4-A3A5-FCDB51AB07C4}"/>
              </a:ext>
            </a:extLst>
          </p:cNvPr>
          <p:cNvSpPr txBox="1"/>
          <p:nvPr/>
        </p:nvSpPr>
        <p:spPr>
          <a:xfrm>
            <a:off x="1676400" y="2324100"/>
            <a:ext cx="243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B1810"/>
                </a:solidFill>
              </a:rPr>
              <a:t>下达任务</a:t>
            </a:r>
            <a:endParaRPr lang="en-US" sz="1500" b="1">
              <a:solidFill>
                <a:srgbClr val="2B181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FB05AC-56C6-452B-8471-A065FC81791B}"/>
              </a:ext>
            </a:extLst>
          </p:cNvPr>
          <p:cNvSpPr txBox="1"/>
          <p:nvPr/>
        </p:nvSpPr>
        <p:spPr>
          <a:xfrm>
            <a:off x="1219200" y="2806700"/>
            <a:ext cx="2844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i="1">
                <a:solidFill>
                  <a:srgbClr val="2B1810"/>
                </a:solidFill>
              </a:rPr>
              <a:t>「巡检 </a:t>
            </a:r>
            <a:r>
              <a:rPr lang="en-US" altLang="zh-CN" sz="1300" i="1">
                <a:solidFill>
                  <a:srgbClr val="2B1810"/>
                </a:solidFill>
              </a:rPr>
              <a:t>A </a:t>
            </a:r>
            <a:r>
              <a:rPr lang="zh-CN" altLang="en-US" sz="1300" i="1">
                <a:solidFill>
                  <a:srgbClr val="2B1810"/>
                </a:solidFill>
              </a:rPr>
              <a:t>区，发现异常先确认，再创建工单。」</a:t>
            </a:r>
            <a:endParaRPr lang="en-US" sz="1300" i="1">
              <a:solidFill>
                <a:srgbClr val="2B181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020AD7-A9FE-4B9A-8140-62798C2E91ED}"/>
              </a:ext>
            </a:extLst>
          </p:cNvPr>
          <p:cNvSpPr txBox="1"/>
          <p:nvPr/>
        </p:nvSpPr>
        <p:spPr>
          <a:xfrm>
            <a:off x="1219200" y="37465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 b="1">
                <a:solidFill>
                  <a:srgbClr val="C8553D"/>
                </a:solidFill>
              </a:rPr>
              <a:t>→ 任务理解，不是单句遥控</a:t>
            </a:r>
            <a:endParaRPr lang="en-US" sz="1100" b="1">
              <a:solidFill>
                <a:srgbClr val="C8553D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4C20CF-EC60-4000-BCB2-04F3BD602048}"/>
              </a:ext>
            </a:extLst>
          </p:cNvPr>
          <p:cNvSpPr/>
          <p:nvPr/>
        </p:nvSpPr>
        <p:spPr>
          <a:xfrm>
            <a:off x="4470400" y="2095500"/>
            <a:ext cx="3251200" cy="2032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2257D-CAD1-4928-AEA7-859ABA00EEC9}"/>
              </a:ext>
            </a:extLst>
          </p:cNvPr>
          <p:cNvSpPr/>
          <p:nvPr/>
        </p:nvSpPr>
        <p:spPr>
          <a:xfrm>
            <a:off x="4470400" y="2095500"/>
            <a:ext cx="3251200" cy="50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346793-ACEA-4712-9A54-2CA93ACC18FE}"/>
              </a:ext>
            </a:extLst>
          </p:cNvPr>
          <p:cNvSpPr/>
          <p:nvPr/>
        </p:nvSpPr>
        <p:spPr>
          <a:xfrm>
            <a:off x="4673600" y="2298700"/>
            <a:ext cx="355600" cy="355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6D32ED-353B-4BBA-8971-B645FEAF1ED7}"/>
              </a:ext>
            </a:extLst>
          </p:cNvPr>
          <p:cNvSpPr txBox="1"/>
          <p:nvPr/>
        </p:nvSpPr>
        <p:spPr>
          <a:xfrm>
            <a:off x="5130800" y="2324100"/>
            <a:ext cx="243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B1810"/>
                </a:solidFill>
              </a:rPr>
              <a:t>动作 </a:t>
            </a:r>
            <a:r>
              <a:rPr lang="en-US" altLang="zh-CN" sz="1500" b="1">
                <a:solidFill>
                  <a:srgbClr val="2B1810"/>
                </a:solidFill>
              </a:rPr>
              <a:t>+ </a:t>
            </a:r>
            <a:r>
              <a:rPr lang="zh-CN" altLang="en-US" sz="1500" b="1">
                <a:solidFill>
                  <a:srgbClr val="2B1810"/>
                </a:solidFill>
              </a:rPr>
              <a:t>安全检查</a:t>
            </a:r>
            <a:endParaRPr lang="en-US" sz="1500" b="1">
              <a:solidFill>
                <a:srgbClr val="2B181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D3790D-9F18-46B9-992B-F794B5D8E35D}"/>
              </a:ext>
            </a:extLst>
          </p:cNvPr>
          <p:cNvSpPr txBox="1"/>
          <p:nvPr/>
        </p:nvSpPr>
        <p:spPr>
          <a:xfrm>
            <a:off x="4673600" y="2806700"/>
            <a:ext cx="2844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2B1810"/>
                </a:solidFill>
              </a:rPr>
              <a:t>walk / turn → safety.validate → ComboController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7EA6D9-D13D-4D29-BAC9-934AE4B6512B}"/>
              </a:ext>
            </a:extLst>
          </p:cNvPr>
          <p:cNvSpPr txBox="1"/>
          <p:nvPr/>
        </p:nvSpPr>
        <p:spPr>
          <a:xfrm>
            <a:off x="4673600" y="37465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 b="1">
                <a:solidFill>
                  <a:srgbClr val="C8553D"/>
                </a:solidFill>
              </a:rPr>
              <a:t>→ 动作必须过安全网关</a:t>
            </a:r>
            <a:endParaRPr lang="en-US" sz="1100" b="1">
              <a:solidFill>
                <a:srgbClr val="C8553D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0429AB-EA8F-4F55-9F1D-C395EFDD5F73}"/>
              </a:ext>
            </a:extLst>
          </p:cNvPr>
          <p:cNvSpPr/>
          <p:nvPr/>
        </p:nvSpPr>
        <p:spPr>
          <a:xfrm>
            <a:off x="7924800" y="2095500"/>
            <a:ext cx="3251200" cy="2032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D4C8AD-A086-4DF3-9402-83544A3BCCE4}"/>
              </a:ext>
            </a:extLst>
          </p:cNvPr>
          <p:cNvSpPr/>
          <p:nvPr/>
        </p:nvSpPr>
        <p:spPr>
          <a:xfrm>
            <a:off x="7924800" y="2095500"/>
            <a:ext cx="3251200" cy="50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92B89C9-B356-4E09-99A0-64025DD6B380}"/>
              </a:ext>
            </a:extLst>
          </p:cNvPr>
          <p:cNvSpPr/>
          <p:nvPr/>
        </p:nvSpPr>
        <p:spPr>
          <a:xfrm>
            <a:off x="8128000" y="2298700"/>
            <a:ext cx="355600" cy="355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8C4632-DFB7-4743-9D05-AF30391240BA}"/>
              </a:ext>
            </a:extLst>
          </p:cNvPr>
          <p:cNvSpPr txBox="1"/>
          <p:nvPr/>
        </p:nvSpPr>
        <p:spPr>
          <a:xfrm>
            <a:off x="8585200" y="2324100"/>
            <a:ext cx="243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B1810"/>
                </a:solidFill>
              </a:rPr>
              <a:t>中途打断</a:t>
            </a:r>
            <a:endParaRPr lang="en-US" sz="1500" b="1">
              <a:solidFill>
                <a:srgbClr val="2B181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5A534B-05FE-4FF1-AC22-F875BC89D00A}"/>
              </a:ext>
            </a:extLst>
          </p:cNvPr>
          <p:cNvSpPr txBox="1"/>
          <p:nvPr/>
        </p:nvSpPr>
        <p:spPr>
          <a:xfrm>
            <a:off x="8128000" y="2806700"/>
            <a:ext cx="2844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i="1">
                <a:solidFill>
                  <a:srgbClr val="2B1810"/>
                </a:solidFill>
              </a:rPr>
              <a:t>「停，前面有人，从左侧绕过去。」</a:t>
            </a:r>
            <a:endParaRPr lang="en-US" sz="1300" i="1">
              <a:solidFill>
                <a:srgbClr val="2B181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8FEE86-21F8-46A4-A4F7-E06CC53D1060}"/>
              </a:ext>
            </a:extLst>
          </p:cNvPr>
          <p:cNvSpPr txBox="1"/>
          <p:nvPr/>
        </p:nvSpPr>
        <p:spPr>
          <a:xfrm>
            <a:off x="8128000" y="37465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C8553D"/>
                </a:solidFill>
              </a:rPr>
              <a:t>→ Realtime </a:t>
            </a:r>
            <a:r>
              <a:rPr lang="zh-CN" altLang="en-US" sz="1100" b="1">
                <a:solidFill>
                  <a:srgbClr val="C8553D"/>
                </a:solidFill>
              </a:rPr>
              <a:t>低延迟打断 </a:t>
            </a:r>
            <a:r>
              <a:rPr lang="en-US" altLang="zh-CN" sz="1100" b="1">
                <a:solidFill>
                  <a:srgbClr val="C8553D"/>
                </a:solidFill>
              </a:rPr>
              <a:t>+ </a:t>
            </a:r>
            <a:r>
              <a:rPr lang="zh-CN" altLang="en-US" sz="1100" b="1">
                <a:solidFill>
                  <a:srgbClr val="C8553D"/>
                </a:solidFill>
              </a:rPr>
              <a:t>重规划</a:t>
            </a:r>
            <a:endParaRPr lang="en-US" sz="1100" b="1">
              <a:solidFill>
                <a:srgbClr val="C8553D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D26B92-CEAA-4AC3-8234-ACE5DC0E1E99}"/>
              </a:ext>
            </a:extLst>
          </p:cNvPr>
          <p:cNvSpPr/>
          <p:nvPr/>
        </p:nvSpPr>
        <p:spPr>
          <a:xfrm>
            <a:off x="1016000" y="4305300"/>
            <a:ext cx="3251200" cy="2032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68A6CA-DDE7-45B9-9534-644F67DE0B99}"/>
              </a:ext>
            </a:extLst>
          </p:cNvPr>
          <p:cNvSpPr/>
          <p:nvPr/>
        </p:nvSpPr>
        <p:spPr>
          <a:xfrm>
            <a:off x="1016000" y="4305300"/>
            <a:ext cx="3251200" cy="50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3AF1691-22F5-45F6-A477-3D53F598B045}"/>
              </a:ext>
            </a:extLst>
          </p:cNvPr>
          <p:cNvSpPr/>
          <p:nvPr/>
        </p:nvSpPr>
        <p:spPr>
          <a:xfrm>
            <a:off x="1219200" y="4508500"/>
            <a:ext cx="355600" cy="355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90CF88-3035-472C-B5EB-3553C87E3F30}"/>
              </a:ext>
            </a:extLst>
          </p:cNvPr>
          <p:cNvSpPr txBox="1"/>
          <p:nvPr/>
        </p:nvSpPr>
        <p:spPr>
          <a:xfrm>
            <a:off x="1676400" y="4533900"/>
            <a:ext cx="243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B1810"/>
                </a:solidFill>
              </a:rPr>
              <a:t>异常 </a:t>
            </a:r>
            <a:r>
              <a:rPr lang="en-US" altLang="zh-CN" sz="1500" b="1">
                <a:solidFill>
                  <a:srgbClr val="2B1810"/>
                </a:solidFill>
              </a:rPr>
              <a:t>+ </a:t>
            </a:r>
            <a:r>
              <a:rPr lang="zh-CN" altLang="en-US" sz="1500" b="1">
                <a:solidFill>
                  <a:srgbClr val="2B1810"/>
                </a:solidFill>
              </a:rPr>
              <a:t>创建工单</a:t>
            </a:r>
            <a:endParaRPr lang="en-US" sz="1500" b="1">
              <a:solidFill>
                <a:srgbClr val="2B181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D4FDB2-7721-41DF-8066-BD7D8BCB4783}"/>
              </a:ext>
            </a:extLst>
          </p:cNvPr>
          <p:cNvSpPr txBox="1"/>
          <p:nvPr/>
        </p:nvSpPr>
        <p:spPr>
          <a:xfrm>
            <a:off x="1219200" y="5016500"/>
            <a:ext cx="2844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i="1">
                <a:solidFill>
                  <a:srgbClr val="2B1810"/>
                </a:solidFill>
              </a:rPr>
              <a:t>「</a:t>
            </a:r>
            <a:r>
              <a:rPr lang="en-US" altLang="zh-CN" sz="1300" i="1">
                <a:solidFill>
                  <a:srgbClr val="2B1810"/>
                </a:solidFill>
              </a:rPr>
              <a:t>A7 </a:t>
            </a:r>
            <a:r>
              <a:rPr lang="zh-CN" altLang="en-US" sz="1300" i="1">
                <a:solidFill>
                  <a:srgbClr val="2B1810"/>
                </a:solidFill>
              </a:rPr>
              <a:t>区域异常，是否创建 </a:t>
            </a:r>
            <a:r>
              <a:rPr lang="en-US" altLang="zh-CN" sz="1300" i="1">
                <a:solidFill>
                  <a:srgbClr val="2B1810"/>
                </a:solidFill>
              </a:rPr>
              <a:t>P2 </a:t>
            </a:r>
            <a:r>
              <a:rPr lang="zh-CN" altLang="en-US" sz="1300" i="1">
                <a:solidFill>
                  <a:srgbClr val="2B1810"/>
                </a:solidFill>
              </a:rPr>
              <a:t>工单？」「确认。」</a:t>
            </a:r>
            <a:endParaRPr lang="en-US" sz="1300" i="1">
              <a:solidFill>
                <a:srgbClr val="2B181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7B5B0E-95FD-40E0-BDAA-C43835B76302}"/>
              </a:ext>
            </a:extLst>
          </p:cNvPr>
          <p:cNvSpPr txBox="1"/>
          <p:nvPr/>
        </p:nvSpPr>
        <p:spPr>
          <a:xfrm>
            <a:off x="1219200" y="59563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 b="1">
                <a:solidFill>
                  <a:srgbClr val="C8553D"/>
                </a:solidFill>
              </a:rPr>
              <a:t>→ </a:t>
            </a:r>
            <a:r>
              <a:rPr lang="en-US" altLang="zh-CN" sz="1100" b="1">
                <a:solidFill>
                  <a:srgbClr val="C8553D"/>
                </a:solidFill>
              </a:rPr>
              <a:t>MCP </a:t>
            </a:r>
            <a:r>
              <a:rPr lang="zh-CN" altLang="en-US" sz="1100" b="1">
                <a:solidFill>
                  <a:srgbClr val="C8553D"/>
                </a:solidFill>
              </a:rPr>
              <a:t>工单系统调用</a:t>
            </a:r>
            <a:endParaRPr lang="en-US" sz="1100" b="1">
              <a:solidFill>
                <a:srgbClr val="C8553D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FCD2CB-A560-450B-B4DC-C86243CC6BC1}"/>
              </a:ext>
            </a:extLst>
          </p:cNvPr>
          <p:cNvSpPr/>
          <p:nvPr/>
        </p:nvSpPr>
        <p:spPr>
          <a:xfrm>
            <a:off x="4470400" y="4305300"/>
            <a:ext cx="3251200" cy="2032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0D7A0-28EF-4CFE-AEC9-583996C994B6}"/>
              </a:ext>
            </a:extLst>
          </p:cNvPr>
          <p:cNvSpPr/>
          <p:nvPr/>
        </p:nvSpPr>
        <p:spPr>
          <a:xfrm>
            <a:off x="4470400" y="4305300"/>
            <a:ext cx="3251200" cy="50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0C3D65-E58F-4D33-BC0E-F9127C60A730}"/>
              </a:ext>
            </a:extLst>
          </p:cNvPr>
          <p:cNvSpPr/>
          <p:nvPr/>
        </p:nvSpPr>
        <p:spPr>
          <a:xfrm>
            <a:off x="4673600" y="4508500"/>
            <a:ext cx="355600" cy="355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CC627E-27E9-4667-9009-B4A2791880B1}"/>
              </a:ext>
            </a:extLst>
          </p:cNvPr>
          <p:cNvSpPr txBox="1"/>
          <p:nvPr/>
        </p:nvSpPr>
        <p:spPr>
          <a:xfrm>
            <a:off x="5130800" y="4533900"/>
            <a:ext cx="243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500" b="1">
                <a:solidFill>
                  <a:srgbClr val="2B1810"/>
                </a:solidFill>
              </a:rPr>
              <a:t>记忆召回</a:t>
            </a:r>
            <a:endParaRPr lang="en-US" sz="1500" b="1">
              <a:solidFill>
                <a:srgbClr val="2B181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C9D82A-6626-4AF3-96A6-062C12C158E4}"/>
              </a:ext>
            </a:extLst>
          </p:cNvPr>
          <p:cNvSpPr txBox="1"/>
          <p:nvPr/>
        </p:nvSpPr>
        <p:spPr>
          <a:xfrm>
            <a:off x="4673600" y="5016500"/>
            <a:ext cx="2844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i="1">
                <a:solidFill>
                  <a:srgbClr val="2B1810"/>
                </a:solidFill>
              </a:rPr>
              <a:t>「刚才 </a:t>
            </a:r>
            <a:r>
              <a:rPr lang="en-US" sz="1300" i="1">
                <a:solidFill>
                  <a:srgbClr val="2B1810"/>
                </a:solidFill>
              </a:rPr>
              <a:t>A7 </a:t>
            </a:r>
            <a:r>
              <a:rPr lang="zh-CN" altLang="en-US" sz="1300" i="1">
                <a:solidFill>
                  <a:srgbClr val="2B1810"/>
                </a:solidFill>
              </a:rPr>
              <a:t>发生了什么？」→ 召回 </a:t>
            </a:r>
            <a:r>
              <a:rPr lang="en-US" altLang="zh-CN" sz="1300" i="1">
                <a:solidFill>
                  <a:srgbClr val="2B1810"/>
                </a:solidFill>
              </a:rPr>
              <a:t>+ </a:t>
            </a:r>
            <a:r>
              <a:rPr lang="zh-CN" altLang="en-US" sz="1300" i="1">
                <a:solidFill>
                  <a:srgbClr val="2B1810"/>
                </a:solidFill>
              </a:rPr>
              <a:t>提醒复查</a:t>
            </a:r>
            <a:endParaRPr lang="en-US" sz="1300" i="1">
              <a:solidFill>
                <a:srgbClr val="2B181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18C4325-C3D5-4A72-82F2-F641135F19A8}"/>
              </a:ext>
            </a:extLst>
          </p:cNvPr>
          <p:cNvSpPr txBox="1"/>
          <p:nvPr/>
        </p:nvSpPr>
        <p:spPr>
          <a:xfrm>
            <a:off x="4673600" y="59563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 b="1">
                <a:solidFill>
                  <a:srgbClr val="C8553D"/>
                </a:solidFill>
              </a:rPr>
              <a:t>→ 跨 </a:t>
            </a:r>
            <a:r>
              <a:rPr lang="en-US" sz="1100" b="1">
                <a:solidFill>
                  <a:srgbClr val="C8553D"/>
                </a:solidFill>
              </a:rPr>
              <a:t>session </a:t>
            </a:r>
            <a:r>
              <a:rPr lang="zh-CN" altLang="en-US" sz="1100" b="1">
                <a:solidFill>
                  <a:srgbClr val="C8553D"/>
                </a:solidFill>
              </a:rPr>
              <a:t>长期记忆</a:t>
            </a:r>
            <a:endParaRPr lang="en-US" sz="1100" b="1">
              <a:solidFill>
                <a:srgbClr val="C8553D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2B44D9-345C-4462-B203-3CA5924F56C7}"/>
              </a:ext>
            </a:extLst>
          </p:cNvPr>
          <p:cNvSpPr/>
          <p:nvPr/>
        </p:nvSpPr>
        <p:spPr>
          <a:xfrm>
            <a:off x="7924800" y="4305300"/>
            <a:ext cx="3251200" cy="2032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5DAFD2-8F0A-4B95-8337-C1BAAFC8052A}"/>
              </a:ext>
            </a:extLst>
          </p:cNvPr>
          <p:cNvSpPr/>
          <p:nvPr/>
        </p:nvSpPr>
        <p:spPr>
          <a:xfrm>
            <a:off x="7924800" y="4305300"/>
            <a:ext cx="3251200" cy="508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F92F694-0826-4530-B258-934D9C1E95B8}"/>
              </a:ext>
            </a:extLst>
          </p:cNvPr>
          <p:cNvSpPr/>
          <p:nvPr/>
        </p:nvSpPr>
        <p:spPr>
          <a:xfrm>
            <a:off x="8128000" y="4508500"/>
            <a:ext cx="355600" cy="355600"/>
          </a:xfrm>
          <a:prstGeom prst="ellipse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AF7CF-CB8D-4479-927F-43738642C1D9}"/>
              </a:ext>
            </a:extLst>
          </p:cNvPr>
          <p:cNvSpPr txBox="1"/>
          <p:nvPr/>
        </p:nvSpPr>
        <p:spPr>
          <a:xfrm>
            <a:off x="8585200" y="4533900"/>
            <a:ext cx="243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500" b="1">
                <a:solidFill>
                  <a:srgbClr val="2B1810"/>
                </a:solidFill>
              </a:rPr>
              <a:t>Trace </a:t>
            </a:r>
            <a:r>
              <a:rPr lang="zh-CN" altLang="en-US" sz="1500" b="1">
                <a:solidFill>
                  <a:srgbClr val="2B1810"/>
                </a:solidFill>
              </a:rPr>
              <a:t>回放</a:t>
            </a:r>
            <a:endParaRPr lang="en-US" sz="1500" b="1">
              <a:solidFill>
                <a:srgbClr val="2B1810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D6066E-272F-4B87-AD1E-442E86FCC470}"/>
              </a:ext>
            </a:extLst>
          </p:cNvPr>
          <p:cNvSpPr txBox="1"/>
          <p:nvPr/>
        </p:nvSpPr>
        <p:spPr>
          <a:xfrm>
            <a:off x="8128000" y="5016500"/>
            <a:ext cx="28448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2B1810"/>
                </a:solidFill>
              </a:rPr>
              <a:t>voice → plan → tool → safety → action → ticket → memory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63DF6D9-0E2B-4571-82A5-4F4AC1B84D80}"/>
              </a:ext>
            </a:extLst>
          </p:cNvPr>
          <p:cNvSpPr txBox="1"/>
          <p:nvPr/>
        </p:nvSpPr>
        <p:spPr>
          <a:xfrm>
            <a:off x="8128000" y="59563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100" b="1">
                <a:solidFill>
                  <a:srgbClr val="C8553D"/>
                </a:solidFill>
              </a:rPr>
              <a:t>→ 可审计、可复盘、可评测</a:t>
            </a:r>
            <a:endParaRPr lang="en-US" sz="1100" b="1">
              <a:solidFill>
                <a:srgbClr val="C8553D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268EAF-CB2B-4A13-A96E-04BCC5FE03DA}"/>
              </a:ext>
            </a:extLst>
          </p:cNvPr>
          <p:cNvSpPr txBox="1"/>
          <p:nvPr/>
        </p:nvSpPr>
        <p:spPr>
          <a:xfrm>
            <a:off x="1016000" y="6324600"/>
            <a:ext cx="914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C8553D"/>
                </a:solidFill>
              </a:rPr>
              <a:t>不是让机器人多聊几句，而是让它能执行、记录、复盘、复用真实任务</a:t>
            </a:r>
            <a:endParaRPr lang="en-US" sz="1400" b="1">
              <a:solidFill>
                <a:srgbClr val="C8553D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E204BB-B9FD-4982-9393-926B0C3C9CAD}"/>
              </a:ext>
            </a:extLst>
          </p:cNvPr>
          <p:cNvSpPr txBox="1"/>
          <p:nvPr/>
        </p:nvSpPr>
        <p:spPr>
          <a:xfrm>
            <a:off x="10414000" y="63246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732298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21E7EA-E4CB-4126-BE36-E3DBCF4CE04E}"/>
              </a:ext>
            </a:extLst>
          </p:cNvPr>
          <p:cNvSpPr/>
          <p:nvPr/>
        </p:nvSpPr>
        <p:spPr>
          <a:xfrm>
            <a:off x="1016000" y="635000"/>
            <a:ext cx="508000" cy="381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E43713-D97A-485B-96C3-84D941AD35D2}"/>
              </a:ext>
            </a:extLst>
          </p:cNvPr>
          <p:cNvSpPr txBox="1"/>
          <p:nvPr/>
        </p:nvSpPr>
        <p:spPr>
          <a:xfrm>
            <a:off x="1016000" y="7874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pt-BR" sz="1200" b="1">
                <a:solidFill>
                  <a:srgbClr val="C8553D"/>
                </a:solidFill>
              </a:rPr>
              <a:t>0 8   ·   T H E   A R C</a:t>
            </a:r>
            <a:endParaRPr lang="en-US" sz="1200" b="1">
              <a:solidFill>
                <a:srgbClr val="C8553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1EA2E-537A-4259-85A1-861C7BEABDCB}"/>
              </a:ext>
            </a:extLst>
          </p:cNvPr>
          <p:cNvSpPr txBox="1"/>
          <p:nvPr/>
        </p:nvSpPr>
        <p:spPr>
          <a:xfrm>
            <a:off x="1016000" y="1143000"/>
            <a:ext cx="1041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3200" b="1">
                <a:solidFill>
                  <a:srgbClr val="2B1810"/>
                </a:solidFill>
              </a:rPr>
              <a:t>从单机 </a:t>
            </a:r>
            <a:r>
              <a:rPr lang="en-US" altLang="zh-CN" sz="3200" b="1">
                <a:solidFill>
                  <a:srgbClr val="2B1810"/>
                </a:solidFill>
              </a:rPr>
              <a:t>Runtime </a:t>
            </a:r>
            <a:r>
              <a:rPr lang="zh-CN" altLang="en-US" sz="3200" b="1">
                <a:solidFill>
                  <a:srgbClr val="2B1810"/>
                </a:solidFill>
              </a:rPr>
              <a:t>到机器人劳动力网络</a:t>
            </a:r>
            <a:endParaRPr lang="en-US" sz="3200" b="1">
              <a:solidFill>
                <a:srgbClr val="2B181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E2DDB1-0535-477A-A6A4-5406B957EFD2}"/>
              </a:ext>
            </a:extLst>
          </p:cNvPr>
          <p:cNvSpPr/>
          <p:nvPr/>
        </p:nvSpPr>
        <p:spPr>
          <a:xfrm>
            <a:off x="1016000" y="2222500"/>
            <a:ext cx="3251200" cy="2286000"/>
          </a:xfrm>
          <a:prstGeom prst="rect">
            <a:avLst/>
          </a:prstGeom>
          <a:solidFill>
            <a:srgbClr val="D9775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42DEAC-D0A5-4A87-A9C9-83384D81141F}"/>
              </a:ext>
            </a:extLst>
          </p:cNvPr>
          <p:cNvSpPr txBox="1"/>
          <p:nvPr/>
        </p:nvSpPr>
        <p:spPr>
          <a:xfrm>
            <a:off x="1295400" y="25019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F5EFE6"/>
                </a:solidFill>
              </a:rPr>
              <a:t>短期</a:t>
            </a:r>
            <a:endParaRPr lang="en-US" sz="1300" b="1">
              <a:solidFill>
                <a:srgbClr val="F5EFE6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AAB3F-3704-4FA5-8B18-C23161FCD8AA}"/>
              </a:ext>
            </a:extLst>
          </p:cNvPr>
          <p:cNvSpPr txBox="1"/>
          <p:nvPr/>
        </p:nvSpPr>
        <p:spPr>
          <a:xfrm>
            <a:off x="1295400" y="2882900"/>
            <a:ext cx="2692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b="1">
                <a:solidFill>
                  <a:srgbClr val="FFFFFF"/>
                </a:solidFill>
              </a:rPr>
              <a:t>巡检 </a:t>
            </a:r>
            <a:r>
              <a:rPr lang="en-US" b="1">
                <a:solidFill>
                  <a:srgbClr val="FFFFFF"/>
                </a:solidFill>
              </a:rPr>
              <a:t>Paid Pilot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67CF0-9B55-4DFD-8DFA-CE20D8B13CB4}"/>
              </a:ext>
            </a:extLst>
          </p:cNvPr>
          <p:cNvSpPr txBox="1"/>
          <p:nvPr/>
        </p:nvSpPr>
        <p:spPr>
          <a:xfrm>
            <a:off x="1295400" y="3441700"/>
            <a:ext cx="2692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>
                <a:solidFill>
                  <a:srgbClr val="FFFFFF"/>
                </a:solidFill>
              </a:rPr>
              <a:t>证明真实场景可用：
任务完成率、人工接管次数、安全拦截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98A183FD-44B0-4EC0-A53B-05FBB74DC93D}"/>
              </a:ext>
            </a:extLst>
          </p:cNvPr>
          <p:cNvSpPr/>
          <p:nvPr/>
        </p:nvSpPr>
        <p:spPr>
          <a:xfrm>
            <a:off x="4241800" y="3263900"/>
            <a:ext cx="177800" cy="203200"/>
          </a:xfrm>
          <a:prstGeom prst="right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D8EC2A-D5FB-435B-BDE3-B605A5D70AF5}"/>
              </a:ext>
            </a:extLst>
          </p:cNvPr>
          <p:cNvSpPr/>
          <p:nvPr/>
        </p:nvSpPr>
        <p:spPr>
          <a:xfrm>
            <a:off x="4470400" y="2222500"/>
            <a:ext cx="3251200" cy="22860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45AE2-30F5-4F1D-9529-0373738BA678}"/>
              </a:ext>
            </a:extLst>
          </p:cNvPr>
          <p:cNvSpPr txBox="1"/>
          <p:nvPr/>
        </p:nvSpPr>
        <p:spPr>
          <a:xfrm>
            <a:off x="4749800" y="25019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F5EFE6"/>
                </a:solidFill>
              </a:rPr>
              <a:t>中期</a:t>
            </a:r>
            <a:endParaRPr lang="en-US" sz="1300" b="1">
              <a:solidFill>
                <a:srgbClr val="F5EFE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F9B48-2E3B-4FFF-A6EC-62FB4DDC2A7A}"/>
              </a:ext>
            </a:extLst>
          </p:cNvPr>
          <p:cNvSpPr txBox="1"/>
          <p:nvPr/>
        </p:nvSpPr>
        <p:spPr>
          <a:xfrm>
            <a:off x="4749800" y="2882900"/>
            <a:ext cx="2692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FFFFFF"/>
                </a:solidFill>
              </a:rPr>
              <a:t>RobotOps </a:t>
            </a:r>
            <a:r>
              <a:rPr lang="zh-CN" altLang="en-US" b="1">
                <a:solidFill>
                  <a:srgbClr val="FFFFFF"/>
                </a:solidFill>
              </a:rPr>
              <a:t>平台</a:t>
            </a:r>
            <a:endParaRPr lang="en-US" b="1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938E40-5748-4283-A598-02B2D682EFB1}"/>
              </a:ext>
            </a:extLst>
          </p:cNvPr>
          <p:cNvSpPr txBox="1"/>
          <p:nvPr/>
        </p:nvSpPr>
        <p:spPr>
          <a:xfrm>
            <a:off x="4749800" y="3441700"/>
            <a:ext cx="2692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>
                <a:solidFill>
                  <a:srgbClr val="FFFFFF"/>
                </a:solidFill>
              </a:rPr>
              <a:t>Runtime + Site + Connector + Safety + Fleet </a:t>
            </a:r>
            <a:r>
              <a:rPr lang="zh-CN" altLang="en-US" sz="1300">
                <a:solidFill>
                  <a:srgbClr val="FFFFFF"/>
                </a:solidFill>
              </a:rPr>
              <a:t>订阅
单机走向机器人队列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6EFAF27-6958-4A1B-BF2E-45C2A974C614}"/>
              </a:ext>
            </a:extLst>
          </p:cNvPr>
          <p:cNvSpPr/>
          <p:nvPr/>
        </p:nvSpPr>
        <p:spPr>
          <a:xfrm>
            <a:off x="7696200" y="3263900"/>
            <a:ext cx="177800" cy="203200"/>
          </a:xfrm>
          <a:prstGeom prst="rightArrow">
            <a:avLst/>
          </a:prstGeom>
          <a:solidFill>
            <a:srgbClr val="8B6F4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84F6BD-E73A-4034-BF83-21D6236C0615}"/>
              </a:ext>
            </a:extLst>
          </p:cNvPr>
          <p:cNvSpPr/>
          <p:nvPr/>
        </p:nvSpPr>
        <p:spPr>
          <a:xfrm>
            <a:off x="7924800" y="2222500"/>
            <a:ext cx="3251200" cy="2286000"/>
          </a:xfrm>
          <a:prstGeom prst="rect">
            <a:avLst/>
          </a:prstGeom>
          <a:solidFill>
            <a:srgbClr val="8B3A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559EA3-7185-43D4-AFD8-DB623F7BD7C9}"/>
              </a:ext>
            </a:extLst>
          </p:cNvPr>
          <p:cNvSpPr txBox="1"/>
          <p:nvPr/>
        </p:nvSpPr>
        <p:spPr>
          <a:xfrm>
            <a:off x="8204200" y="25019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 b="1">
                <a:solidFill>
                  <a:srgbClr val="F5EFE6"/>
                </a:solidFill>
              </a:rPr>
              <a:t>长期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8C8B7A-7C98-44FF-9B57-31DA1357BD25}"/>
              </a:ext>
            </a:extLst>
          </p:cNvPr>
          <p:cNvSpPr txBox="1"/>
          <p:nvPr/>
        </p:nvSpPr>
        <p:spPr>
          <a:xfrm>
            <a:off x="8204200" y="2882900"/>
            <a:ext cx="26924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2200" b="1">
                <a:solidFill>
                  <a:srgbClr val="FFFFFF"/>
                </a:solidFill>
              </a:rPr>
              <a:t>工作流生态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D30A44-9C6B-4F3B-98DA-94CBF888AD83}"/>
              </a:ext>
            </a:extLst>
          </p:cNvPr>
          <p:cNvSpPr txBox="1"/>
          <p:nvPr/>
        </p:nvSpPr>
        <p:spPr>
          <a:xfrm>
            <a:off x="8204200" y="3441700"/>
            <a:ext cx="26924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300">
                <a:solidFill>
                  <a:srgbClr val="FFFFFF"/>
                </a:solidFill>
              </a:rPr>
              <a:t>稳定工作流 </a:t>
            </a:r>
            <a:r>
              <a:rPr lang="en-US" altLang="zh-CN" sz="1300">
                <a:solidFill>
                  <a:srgbClr val="FFFFFF"/>
                </a:solidFill>
              </a:rPr>
              <a:t>/ Agent / </a:t>
            </a:r>
            <a:r>
              <a:rPr lang="zh-CN" altLang="en-US" sz="1300">
                <a:solidFill>
                  <a:srgbClr val="FFFFFF"/>
                </a:solidFill>
              </a:rPr>
              <a:t>连接器
可导出 </a:t>
            </a:r>
            <a:r>
              <a:rPr lang="en-US" altLang="zh-CN" sz="1300">
                <a:solidFill>
                  <a:srgbClr val="FFFFFF"/>
                </a:solidFill>
              </a:rPr>
              <a:t>· </a:t>
            </a:r>
            <a:r>
              <a:rPr lang="zh-CN" altLang="en-US" sz="1300">
                <a:solidFill>
                  <a:srgbClr val="FFFFFF"/>
                </a:solidFill>
              </a:rPr>
              <a:t>可认证 </a:t>
            </a:r>
            <a:r>
              <a:rPr lang="en-US" altLang="zh-CN" sz="1300">
                <a:solidFill>
                  <a:srgbClr val="FFFFFF"/>
                </a:solidFill>
              </a:rPr>
              <a:t>· </a:t>
            </a:r>
            <a:r>
              <a:rPr lang="zh-CN" altLang="en-US" sz="1300">
                <a:solidFill>
                  <a:srgbClr val="FFFFFF"/>
                </a:solidFill>
              </a:rPr>
              <a:t>可交易</a:t>
            </a:r>
            <a:endParaRPr lang="en-US" sz="130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10010C3-C6A3-4DCE-9103-E6D8522BFCA9}"/>
              </a:ext>
            </a:extLst>
          </p:cNvPr>
          <p:cNvSpPr/>
          <p:nvPr/>
        </p:nvSpPr>
        <p:spPr>
          <a:xfrm>
            <a:off x="1016000" y="4927600"/>
            <a:ext cx="10160000" cy="1143000"/>
          </a:xfrm>
          <a:prstGeom prst="rect">
            <a:avLst/>
          </a:prstGeom>
          <a:solidFill>
            <a:srgbClr val="EFE4D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020C28-A439-49B2-AD4C-E7AC763ADFE0}"/>
              </a:ext>
            </a:extLst>
          </p:cNvPr>
          <p:cNvSpPr/>
          <p:nvPr/>
        </p:nvSpPr>
        <p:spPr>
          <a:xfrm>
            <a:off x="1016000" y="4927600"/>
            <a:ext cx="50800" cy="1143000"/>
          </a:xfrm>
          <a:prstGeom prst="rect">
            <a:avLst/>
          </a:prstGeom>
          <a:solidFill>
            <a:srgbClr val="C855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ECAAE4-E775-4A33-8756-22543EB36A79}"/>
              </a:ext>
            </a:extLst>
          </p:cNvPr>
          <p:cNvSpPr txBox="1"/>
          <p:nvPr/>
        </p:nvSpPr>
        <p:spPr>
          <a:xfrm>
            <a:off x="1320800" y="51308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b="1">
                <a:solidFill>
                  <a:srgbClr val="2B1810"/>
                </a:solidFill>
              </a:rPr>
              <a:t>宇树解决机器人身体，我解决机器人进入真实场景后的任务智能层。</a:t>
            </a:r>
            <a:endParaRPr lang="en-US" b="1">
              <a:solidFill>
                <a:srgbClr val="2B181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69C0C7-A343-4D3C-AAE4-1A861B77A87E}"/>
              </a:ext>
            </a:extLst>
          </p:cNvPr>
          <p:cNvSpPr txBox="1"/>
          <p:nvPr/>
        </p:nvSpPr>
        <p:spPr>
          <a:xfrm>
            <a:off x="1320800" y="5537200"/>
            <a:ext cx="965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600" i="1">
                <a:solidFill>
                  <a:srgbClr val="5C3A21"/>
                </a:solidFill>
              </a:rPr>
              <a:t>让宇树机器人从「设备」变成「员工」，再变成「可调度的机器人劳动力网络」。</a:t>
            </a:r>
            <a:endParaRPr lang="en-US" sz="1600" i="1">
              <a:solidFill>
                <a:srgbClr val="5C3A2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0FFCD-0B32-4D93-971A-FBE3E98FFFCA}"/>
              </a:ext>
            </a:extLst>
          </p:cNvPr>
          <p:cNvSpPr txBox="1"/>
          <p:nvPr/>
        </p:nvSpPr>
        <p:spPr>
          <a:xfrm>
            <a:off x="10414000" y="6324600"/>
            <a:ext cx="1016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8B6F47"/>
                </a:solidFill>
              </a:rPr>
              <a:t>08 / 08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EA1568E-0E3B-4405-A877-D1DCFB9E0F30}"/>
              </a:ext>
            </a:extLst>
          </p:cNvPr>
          <p:cNvSpPr txBox="1"/>
          <p:nvPr/>
        </p:nvSpPr>
        <p:spPr>
          <a:xfrm>
            <a:off x="1016000" y="63246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zh-CN" altLang="en-US" sz="1400" b="1">
                <a:solidFill>
                  <a:srgbClr val="C8553D"/>
                </a:solidFill>
              </a:rPr>
              <a:t>谢谢</a:t>
            </a:r>
            <a:endParaRPr lang="en-US" sz="1400" b="1">
              <a:solidFill>
                <a:srgbClr val="C855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216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9939507184]">
  <a:themeElements>
    <a:clrScheme name="Office">
      <a:dk1>
        <a:srgbClr val="2B1810"/>
      </a:dk1>
      <a:lt1>
        <a:srgbClr val="F5EFE6"/>
      </a:lt1>
      <a:dk2>
        <a:srgbClr val="5C3A21"/>
      </a:dk2>
      <a:lt2>
        <a:srgbClr val="E8DCC8"/>
      </a:lt2>
      <a:accent1>
        <a:srgbClr val="C8553D"/>
      </a:accent1>
      <a:accent2>
        <a:srgbClr val="D97757"/>
      </a:accent2>
      <a:accent3>
        <a:srgbClr val="8B6F47"/>
      </a:accent3>
      <a:accent4>
        <a:srgbClr val="A67B5B"/>
      </a:accent4>
      <a:accent5>
        <a:srgbClr val="6B8E4E"/>
      </a:accent5>
      <a:accent6>
        <a:srgbClr val="8B3A2F"/>
      </a:accent6>
      <a:hlink>
        <a:srgbClr val="467886"/>
      </a:hlink>
      <a:folHlink>
        <a:srgbClr val="96607D"/>
      </a:folHlink>
    </a:clrScheme>
    <a:fontScheme name="Office">
      <a:majorFont>
        <a:latin typeface="Source Han Serif SC" panose="02110004020202020204"/>
        <a:ea typeface="Source Han Serif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SC" panose="02110004020202020204"/>
        <a:ea typeface="Source Han Sans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EA58AB0-309A-448C-B1D2-EEC4A950926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b3ff302-2f9b-4ccf-a1c0-f89810a44f0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1501</Words>
  <Application>Microsoft Office PowerPoint</Application>
  <PresentationFormat>Widescreen</PresentationFormat>
  <Paragraphs>144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Source Han Sans SC</vt:lpstr>
      <vt:lpstr>Source Han Serif SC</vt:lpstr>
      <vt:lpstr>Arial</vt:lpstr>
      <vt:lpstr>Office Theme [1779939507184]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DEMO视频页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Haixu Wen</dc:creator>
  <cp:lastModifiedBy>Haixu Wen</cp:lastModifiedBy>
  <cp:revision>5</cp:revision>
  <dcterms:created xsi:type="dcterms:W3CDTF">2026-05-28T03:32:05Z</dcterms:created>
  <dcterms:modified xsi:type="dcterms:W3CDTF">2026-05-28T03:58:10Z</dcterms:modified>
</cp:coreProperties>
</file>