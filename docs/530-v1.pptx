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8" r:id="rId7"/>
    <p:sldId id="261" r:id="rId8"/>
    <p:sldId id="265"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23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101CD-9ABA-F000-204F-E70D4369EB1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006B2F4-80D1-39AE-B313-9DE97F9E30F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5F3415C-D18A-6812-3BEC-E5B2DBD4F731}"/>
              </a:ext>
            </a:extLst>
          </p:cNvPr>
          <p:cNvSpPr>
            <a:spLocks noGrp="1"/>
          </p:cNvSpPr>
          <p:nvPr>
            <p:ph type="dt" sz="half" idx="10"/>
          </p:nvPr>
        </p:nvSpPr>
        <p:spPr/>
        <p:txBody>
          <a:bodyPr/>
          <a:lstStyle/>
          <a:p>
            <a:fld id="{5A227DA9-E156-46E3-BFCD-577DAEF26ADE}" type="datetimeFigureOut">
              <a:rPr lang="en-US" smtClean="0"/>
              <a:t>5/28/2026</a:t>
            </a:fld>
            <a:endParaRPr lang="en-US"/>
          </a:p>
        </p:txBody>
      </p:sp>
      <p:sp>
        <p:nvSpPr>
          <p:cNvPr id="5" name="Footer Placeholder 4">
            <a:extLst>
              <a:ext uri="{FF2B5EF4-FFF2-40B4-BE49-F238E27FC236}">
                <a16:creationId xmlns:a16="http://schemas.microsoft.com/office/drawing/2014/main" id="{63CDC4DF-8E35-342A-E32C-51AD5BECC7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C2418D-233A-C24D-2919-6EDD954841CD}"/>
              </a:ext>
            </a:extLst>
          </p:cNvPr>
          <p:cNvSpPr>
            <a:spLocks noGrp="1"/>
          </p:cNvSpPr>
          <p:nvPr>
            <p:ph type="sldNum" sz="quarter" idx="12"/>
          </p:nvPr>
        </p:nvSpPr>
        <p:spPr/>
        <p:txBody>
          <a:bodyPr/>
          <a:lstStyle/>
          <a:p>
            <a:fld id="{2D75A70D-9AE0-4FF6-95F3-C74D4D5EDA93}" type="slidenum">
              <a:rPr lang="en-US" smtClean="0"/>
              <a:t>‹#›</a:t>
            </a:fld>
            <a:endParaRPr lang="en-US"/>
          </a:p>
        </p:txBody>
      </p:sp>
    </p:spTree>
    <p:extLst>
      <p:ext uri="{BB962C8B-B14F-4D97-AF65-F5344CB8AC3E}">
        <p14:creationId xmlns:p14="http://schemas.microsoft.com/office/powerpoint/2010/main" val="3529230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52A1C9-5F47-931C-19DE-AB52D40BB34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8FF3E0E-5C40-8366-68E3-91D0C04088E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C5DDA5-7B7D-4E2E-8341-EF08534E009B}"/>
              </a:ext>
            </a:extLst>
          </p:cNvPr>
          <p:cNvSpPr>
            <a:spLocks noGrp="1"/>
          </p:cNvSpPr>
          <p:nvPr>
            <p:ph type="dt" sz="half" idx="10"/>
          </p:nvPr>
        </p:nvSpPr>
        <p:spPr/>
        <p:txBody>
          <a:bodyPr/>
          <a:lstStyle/>
          <a:p>
            <a:fld id="{5A227DA9-E156-46E3-BFCD-577DAEF26ADE}" type="datetimeFigureOut">
              <a:rPr lang="en-US" smtClean="0"/>
              <a:t>5/28/2026</a:t>
            </a:fld>
            <a:endParaRPr lang="en-US"/>
          </a:p>
        </p:txBody>
      </p:sp>
      <p:sp>
        <p:nvSpPr>
          <p:cNvPr id="5" name="Footer Placeholder 4">
            <a:extLst>
              <a:ext uri="{FF2B5EF4-FFF2-40B4-BE49-F238E27FC236}">
                <a16:creationId xmlns:a16="http://schemas.microsoft.com/office/drawing/2014/main" id="{A3724E5A-011C-3D19-ACEE-94CE87E4F7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783F84-FF64-975A-EA60-0625F89402C6}"/>
              </a:ext>
            </a:extLst>
          </p:cNvPr>
          <p:cNvSpPr>
            <a:spLocks noGrp="1"/>
          </p:cNvSpPr>
          <p:nvPr>
            <p:ph type="sldNum" sz="quarter" idx="12"/>
          </p:nvPr>
        </p:nvSpPr>
        <p:spPr/>
        <p:txBody>
          <a:bodyPr/>
          <a:lstStyle/>
          <a:p>
            <a:fld id="{2D75A70D-9AE0-4FF6-95F3-C74D4D5EDA93}" type="slidenum">
              <a:rPr lang="en-US" smtClean="0"/>
              <a:t>‹#›</a:t>
            </a:fld>
            <a:endParaRPr lang="en-US"/>
          </a:p>
        </p:txBody>
      </p:sp>
    </p:spTree>
    <p:extLst>
      <p:ext uri="{BB962C8B-B14F-4D97-AF65-F5344CB8AC3E}">
        <p14:creationId xmlns:p14="http://schemas.microsoft.com/office/powerpoint/2010/main" val="882587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D4177A-9C07-1155-0F76-B6BD0641405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740B305-6BCC-EFF0-5A20-75E92AA49E8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FD89B36-CBE9-4D5D-5E5F-EE7356E25835}"/>
              </a:ext>
            </a:extLst>
          </p:cNvPr>
          <p:cNvSpPr>
            <a:spLocks noGrp="1"/>
          </p:cNvSpPr>
          <p:nvPr>
            <p:ph type="dt" sz="half" idx="10"/>
          </p:nvPr>
        </p:nvSpPr>
        <p:spPr/>
        <p:txBody>
          <a:bodyPr/>
          <a:lstStyle/>
          <a:p>
            <a:fld id="{5A227DA9-E156-46E3-BFCD-577DAEF26ADE}" type="datetimeFigureOut">
              <a:rPr lang="en-US" smtClean="0"/>
              <a:t>5/28/2026</a:t>
            </a:fld>
            <a:endParaRPr lang="en-US"/>
          </a:p>
        </p:txBody>
      </p:sp>
      <p:sp>
        <p:nvSpPr>
          <p:cNvPr id="5" name="Footer Placeholder 4">
            <a:extLst>
              <a:ext uri="{FF2B5EF4-FFF2-40B4-BE49-F238E27FC236}">
                <a16:creationId xmlns:a16="http://schemas.microsoft.com/office/drawing/2014/main" id="{1E21837E-003C-A995-CB27-28309C953C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592DA8-5145-E6FD-C59A-8F081A28EA8E}"/>
              </a:ext>
            </a:extLst>
          </p:cNvPr>
          <p:cNvSpPr>
            <a:spLocks noGrp="1"/>
          </p:cNvSpPr>
          <p:nvPr>
            <p:ph type="sldNum" sz="quarter" idx="12"/>
          </p:nvPr>
        </p:nvSpPr>
        <p:spPr/>
        <p:txBody>
          <a:bodyPr/>
          <a:lstStyle/>
          <a:p>
            <a:fld id="{2D75A70D-9AE0-4FF6-95F3-C74D4D5EDA93}" type="slidenum">
              <a:rPr lang="en-US" smtClean="0"/>
              <a:t>‹#›</a:t>
            </a:fld>
            <a:endParaRPr lang="en-US"/>
          </a:p>
        </p:txBody>
      </p:sp>
    </p:spTree>
    <p:extLst>
      <p:ext uri="{BB962C8B-B14F-4D97-AF65-F5344CB8AC3E}">
        <p14:creationId xmlns:p14="http://schemas.microsoft.com/office/powerpoint/2010/main" val="19968174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CED44-89D7-2A7A-6D14-582E18AD3F8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74E7171-8CC9-3B53-30ED-15EDC602F29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4445073-3B68-7CE4-E69B-94FDD5BF573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66990F5-2ADA-CDEB-B75C-EC2065C5278D}"/>
              </a:ext>
            </a:extLst>
          </p:cNvPr>
          <p:cNvSpPr>
            <a:spLocks noGrp="1"/>
          </p:cNvSpPr>
          <p:nvPr>
            <p:ph type="dt" sz="half" idx="10"/>
          </p:nvPr>
        </p:nvSpPr>
        <p:spPr/>
        <p:txBody>
          <a:bodyPr/>
          <a:lstStyle/>
          <a:p>
            <a:fld id="{5A227DA9-E156-46E3-BFCD-577DAEF26ADE}" type="datetimeFigureOut">
              <a:rPr lang="en-US" smtClean="0"/>
              <a:t>5/28/2026</a:t>
            </a:fld>
            <a:endParaRPr lang="en-US"/>
          </a:p>
        </p:txBody>
      </p:sp>
      <p:sp>
        <p:nvSpPr>
          <p:cNvPr id="6" name="Footer Placeholder 5">
            <a:extLst>
              <a:ext uri="{FF2B5EF4-FFF2-40B4-BE49-F238E27FC236}">
                <a16:creationId xmlns:a16="http://schemas.microsoft.com/office/drawing/2014/main" id="{FD83C32B-470B-BAD8-4C80-A065ED7DC7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1C77D04-ECAF-40CD-4E1C-45801A52BEBC}"/>
              </a:ext>
            </a:extLst>
          </p:cNvPr>
          <p:cNvSpPr>
            <a:spLocks noGrp="1"/>
          </p:cNvSpPr>
          <p:nvPr>
            <p:ph type="sldNum" sz="quarter" idx="12"/>
          </p:nvPr>
        </p:nvSpPr>
        <p:spPr/>
        <p:txBody>
          <a:bodyPr/>
          <a:lstStyle/>
          <a:p>
            <a:fld id="{2D75A70D-9AE0-4FF6-95F3-C74D4D5EDA93}" type="slidenum">
              <a:rPr lang="en-US" smtClean="0"/>
              <a:t>‹#›</a:t>
            </a:fld>
            <a:endParaRPr lang="en-US"/>
          </a:p>
        </p:txBody>
      </p:sp>
    </p:spTree>
    <p:extLst>
      <p:ext uri="{BB962C8B-B14F-4D97-AF65-F5344CB8AC3E}">
        <p14:creationId xmlns:p14="http://schemas.microsoft.com/office/powerpoint/2010/main" val="8463007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6ECA3-05A6-4E8F-BC86-7AB4652C36B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DCBEF4E-2235-1F70-660D-A695467B743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F95DE99-A040-BFAE-A427-89194295084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6F4CADE-1D7D-8821-C540-D318901EA3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EF0D95F-B4F6-8AAF-4FF3-3DBF639AED6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60A82D7-A516-2C21-DF3F-BE01965C92F7}"/>
              </a:ext>
            </a:extLst>
          </p:cNvPr>
          <p:cNvSpPr>
            <a:spLocks noGrp="1"/>
          </p:cNvSpPr>
          <p:nvPr>
            <p:ph type="dt" sz="half" idx="10"/>
          </p:nvPr>
        </p:nvSpPr>
        <p:spPr/>
        <p:txBody>
          <a:bodyPr/>
          <a:lstStyle/>
          <a:p>
            <a:fld id="{5A227DA9-E156-46E3-BFCD-577DAEF26ADE}" type="datetimeFigureOut">
              <a:rPr lang="en-US" smtClean="0"/>
              <a:t>5/28/2026</a:t>
            </a:fld>
            <a:endParaRPr lang="en-US"/>
          </a:p>
        </p:txBody>
      </p:sp>
      <p:sp>
        <p:nvSpPr>
          <p:cNvPr id="8" name="Footer Placeholder 7">
            <a:extLst>
              <a:ext uri="{FF2B5EF4-FFF2-40B4-BE49-F238E27FC236}">
                <a16:creationId xmlns:a16="http://schemas.microsoft.com/office/drawing/2014/main" id="{40C97B80-5D6D-AED3-A23B-D0D1D23D629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55EF4D7-35B9-F720-A9C6-7650B5AE985B}"/>
              </a:ext>
            </a:extLst>
          </p:cNvPr>
          <p:cNvSpPr>
            <a:spLocks noGrp="1"/>
          </p:cNvSpPr>
          <p:nvPr>
            <p:ph type="sldNum" sz="quarter" idx="12"/>
          </p:nvPr>
        </p:nvSpPr>
        <p:spPr/>
        <p:txBody>
          <a:bodyPr/>
          <a:lstStyle/>
          <a:p>
            <a:fld id="{2D75A70D-9AE0-4FF6-95F3-C74D4D5EDA93}" type="slidenum">
              <a:rPr lang="en-US" smtClean="0"/>
              <a:t>‹#›</a:t>
            </a:fld>
            <a:endParaRPr lang="en-US"/>
          </a:p>
        </p:txBody>
      </p:sp>
    </p:spTree>
    <p:extLst>
      <p:ext uri="{BB962C8B-B14F-4D97-AF65-F5344CB8AC3E}">
        <p14:creationId xmlns:p14="http://schemas.microsoft.com/office/powerpoint/2010/main" val="6921349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322E04-5081-5DE9-C453-D705299752A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528CEB2-C3CE-B0C2-D0A3-BE78E9C3411E}"/>
              </a:ext>
            </a:extLst>
          </p:cNvPr>
          <p:cNvSpPr>
            <a:spLocks noGrp="1"/>
          </p:cNvSpPr>
          <p:nvPr>
            <p:ph type="dt" sz="half" idx="10"/>
          </p:nvPr>
        </p:nvSpPr>
        <p:spPr/>
        <p:txBody>
          <a:bodyPr/>
          <a:lstStyle/>
          <a:p>
            <a:fld id="{5A227DA9-E156-46E3-BFCD-577DAEF26ADE}" type="datetimeFigureOut">
              <a:rPr lang="en-US" smtClean="0"/>
              <a:t>5/28/2026</a:t>
            </a:fld>
            <a:endParaRPr lang="en-US"/>
          </a:p>
        </p:txBody>
      </p:sp>
      <p:sp>
        <p:nvSpPr>
          <p:cNvPr id="4" name="Footer Placeholder 3">
            <a:extLst>
              <a:ext uri="{FF2B5EF4-FFF2-40B4-BE49-F238E27FC236}">
                <a16:creationId xmlns:a16="http://schemas.microsoft.com/office/drawing/2014/main" id="{1F70C92D-3781-8791-D0B6-C71C29751C4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D53B190-2F3C-F4F2-0CE7-08F449E08112}"/>
              </a:ext>
            </a:extLst>
          </p:cNvPr>
          <p:cNvSpPr>
            <a:spLocks noGrp="1"/>
          </p:cNvSpPr>
          <p:nvPr>
            <p:ph type="sldNum" sz="quarter" idx="12"/>
          </p:nvPr>
        </p:nvSpPr>
        <p:spPr/>
        <p:txBody>
          <a:bodyPr/>
          <a:lstStyle/>
          <a:p>
            <a:fld id="{2D75A70D-9AE0-4FF6-95F3-C74D4D5EDA93}" type="slidenum">
              <a:rPr lang="en-US" smtClean="0"/>
              <a:t>‹#›</a:t>
            </a:fld>
            <a:endParaRPr lang="en-US"/>
          </a:p>
        </p:txBody>
      </p:sp>
    </p:spTree>
    <p:extLst>
      <p:ext uri="{BB962C8B-B14F-4D97-AF65-F5344CB8AC3E}">
        <p14:creationId xmlns:p14="http://schemas.microsoft.com/office/powerpoint/2010/main" val="31589652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144040-1D28-3CB3-BFCE-AAF94A34366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A31EC68-6518-53EE-C1B2-48CF6FB1687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309E6BC-F8C5-1046-69B3-B1D0223E9C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E8C656-E0AE-43BC-DEA1-213EE0695D8C}"/>
              </a:ext>
            </a:extLst>
          </p:cNvPr>
          <p:cNvSpPr>
            <a:spLocks noGrp="1"/>
          </p:cNvSpPr>
          <p:nvPr>
            <p:ph type="dt" sz="half" idx="10"/>
          </p:nvPr>
        </p:nvSpPr>
        <p:spPr/>
        <p:txBody>
          <a:bodyPr/>
          <a:lstStyle/>
          <a:p>
            <a:fld id="{5A227DA9-E156-46E3-BFCD-577DAEF26ADE}" type="datetimeFigureOut">
              <a:rPr lang="en-US" smtClean="0"/>
              <a:t>5/28/2026</a:t>
            </a:fld>
            <a:endParaRPr lang="en-US"/>
          </a:p>
        </p:txBody>
      </p:sp>
      <p:sp>
        <p:nvSpPr>
          <p:cNvPr id="6" name="Footer Placeholder 5">
            <a:extLst>
              <a:ext uri="{FF2B5EF4-FFF2-40B4-BE49-F238E27FC236}">
                <a16:creationId xmlns:a16="http://schemas.microsoft.com/office/drawing/2014/main" id="{6FBBBC31-57FD-2D8B-70F0-4B9F69AF79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D33D657-AFC2-42E2-FB59-E34ADD9D623C}"/>
              </a:ext>
            </a:extLst>
          </p:cNvPr>
          <p:cNvSpPr>
            <a:spLocks noGrp="1"/>
          </p:cNvSpPr>
          <p:nvPr>
            <p:ph type="sldNum" sz="quarter" idx="12"/>
          </p:nvPr>
        </p:nvSpPr>
        <p:spPr/>
        <p:txBody>
          <a:bodyPr/>
          <a:lstStyle/>
          <a:p>
            <a:fld id="{2D75A70D-9AE0-4FF6-95F3-C74D4D5EDA93}" type="slidenum">
              <a:rPr lang="en-US" smtClean="0"/>
              <a:t>‹#›</a:t>
            </a:fld>
            <a:endParaRPr lang="en-US"/>
          </a:p>
        </p:txBody>
      </p:sp>
    </p:spTree>
    <p:extLst>
      <p:ext uri="{BB962C8B-B14F-4D97-AF65-F5344CB8AC3E}">
        <p14:creationId xmlns:p14="http://schemas.microsoft.com/office/powerpoint/2010/main" val="36129891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92283-E6D0-3FCB-FB68-D1AEBAAD06D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8ADC748-E00E-BFD2-F136-1DFC7F7C2FE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EAD674A-C32B-7BAD-22B6-D6C758F157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FADD78-6CFD-4920-7417-57ECD4BF9722}"/>
              </a:ext>
            </a:extLst>
          </p:cNvPr>
          <p:cNvSpPr>
            <a:spLocks noGrp="1"/>
          </p:cNvSpPr>
          <p:nvPr>
            <p:ph type="dt" sz="half" idx="10"/>
          </p:nvPr>
        </p:nvSpPr>
        <p:spPr/>
        <p:txBody>
          <a:bodyPr/>
          <a:lstStyle/>
          <a:p>
            <a:fld id="{5A227DA9-E156-46E3-BFCD-577DAEF26ADE}" type="datetimeFigureOut">
              <a:rPr lang="en-US" smtClean="0"/>
              <a:t>5/28/2026</a:t>
            </a:fld>
            <a:endParaRPr lang="en-US"/>
          </a:p>
        </p:txBody>
      </p:sp>
      <p:sp>
        <p:nvSpPr>
          <p:cNvPr id="6" name="Footer Placeholder 5">
            <a:extLst>
              <a:ext uri="{FF2B5EF4-FFF2-40B4-BE49-F238E27FC236}">
                <a16:creationId xmlns:a16="http://schemas.microsoft.com/office/drawing/2014/main" id="{FBE93DF9-B3CF-0CB2-5D10-3CC7BC20BC0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59D9549-F2D2-AD9C-A71F-D69EF942C785}"/>
              </a:ext>
            </a:extLst>
          </p:cNvPr>
          <p:cNvSpPr>
            <a:spLocks noGrp="1"/>
          </p:cNvSpPr>
          <p:nvPr>
            <p:ph type="sldNum" sz="quarter" idx="12"/>
          </p:nvPr>
        </p:nvSpPr>
        <p:spPr/>
        <p:txBody>
          <a:bodyPr/>
          <a:lstStyle/>
          <a:p>
            <a:fld id="{2D75A70D-9AE0-4FF6-95F3-C74D4D5EDA93}" type="slidenum">
              <a:rPr lang="en-US" smtClean="0"/>
              <a:t>‹#›</a:t>
            </a:fld>
            <a:endParaRPr lang="en-US"/>
          </a:p>
        </p:txBody>
      </p:sp>
    </p:spTree>
    <p:extLst>
      <p:ext uri="{BB962C8B-B14F-4D97-AF65-F5344CB8AC3E}">
        <p14:creationId xmlns:p14="http://schemas.microsoft.com/office/powerpoint/2010/main" val="3466027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28C0E-D760-E701-395A-87E80067CB5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FC2999E-E340-F1DD-76A5-D36CE3BC95E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207158C-2856-F727-DC63-EF0F6D383943}"/>
              </a:ext>
            </a:extLst>
          </p:cNvPr>
          <p:cNvSpPr>
            <a:spLocks noGrp="1"/>
          </p:cNvSpPr>
          <p:nvPr>
            <p:ph type="dt" sz="half" idx="10"/>
          </p:nvPr>
        </p:nvSpPr>
        <p:spPr/>
        <p:txBody>
          <a:bodyPr/>
          <a:lstStyle/>
          <a:p>
            <a:fld id="{5A227DA9-E156-46E3-BFCD-577DAEF26ADE}" type="datetimeFigureOut">
              <a:rPr lang="en-US" smtClean="0"/>
              <a:t>5/28/2026</a:t>
            </a:fld>
            <a:endParaRPr lang="en-US"/>
          </a:p>
        </p:txBody>
      </p:sp>
      <p:sp>
        <p:nvSpPr>
          <p:cNvPr id="5" name="Footer Placeholder 4">
            <a:extLst>
              <a:ext uri="{FF2B5EF4-FFF2-40B4-BE49-F238E27FC236}">
                <a16:creationId xmlns:a16="http://schemas.microsoft.com/office/drawing/2014/main" id="{21337893-1BF6-FCC2-A511-E32462AF95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6BBB7C-AC8D-4F08-48E1-BD0681FC1C6C}"/>
              </a:ext>
            </a:extLst>
          </p:cNvPr>
          <p:cNvSpPr>
            <a:spLocks noGrp="1"/>
          </p:cNvSpPr>
          <p:nvPr>
            <p:ph type="sldNum" sz="quarter" idx="12"/>
          </p:nvPr>
        </p:nvSpPr>
        <p:spPr/>
        <p:txBody>
          <a:bodyPr/>
          <a:lstStyle/>
          <a:p>
            <a:fld id="{2D75A70D-9AE0-4FF6-95F3-C74D4D5EDA93}" type="slidenum">
              <a:rPr lang="en-US" smtClean="0"/>
              <a:t>‹#›</a:t>
            </a:fld>
            <a:endParaRPr lang="en-US"/>
          </a:p>
        </p:txBody>
      </p:sp>
    </p:spTree>
    <p:extLst>
      <p:ext uri="{BB962C8B-B14F-4D97-AF65-F5344CB8AC3E}">
        <p14:creationId xmlns:p14="http://schemas.microsoft.com/office/powerpoint/2010/main" val="30348332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F0A1501-E612-EB01-8FB6-86F0036A5A7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4E8B7C1-32DB-849E-0A84-A11F15668E9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59D295-9696-F171-10B2-BB42ED704B75}"/>
              </a:ext>
            </a:extLst>
          </p:cNvPr>
          <p:cNvSpPr>
            <a:spLocks noGrp="1"/>
          </p:cNvSpPr>
          <p:nvPr>
            <p:ph type="dt" sz="half" idx="10"/>
          </p:nvPr>
        </p:nvSpPr>
        <p:spPr/>
        <p:txBody>
          <a:bodyPr/>
          <a:lstStyle/>
          <a:p>
            <a:fld id="{5A227DA9-E156-46E3-BFCD-577DAEF26ADE}" type="datetimeFigureOut">
              <a:rPr lang="en-US" smtClean="0"/>
              <a:t>5/28/2026</a:t>
            </a:fld>
            <a:endParaRPr lang="en-US"/>
          </a:p>
        </p:txBody>
      </p:sp>
      <p:sp>
        <p:nvSpPr>
          <p:cNvPr id="5" name="Footer Placeholder 4">
            <a:extLst>
              <a:ext uri="{FF2B5EF4-FFF2-40B4-BE49-F238E27FC236}">
                <a16:creationId xmlns:a16="http://schemas.microsoft.com/office/drawing/2014/main" id="{9869D68D-C59F-1054-8F3B-4EE5F131E5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BD7FA2-9F42-C978-BFC0-8C9046364001}"/>
              </a:ext>
            </a:extLst>
          </p:cNvPr>
          <p:cNvSpPr>
            <a:spLocks noGrp="1"/>
          </p:cNvSpPr>
          <p:nvPr>
            <p:ph type="sldNum" sz="quarter" idx="12"/>
          </p:nvPr>
        </p:nvSpPr>
        <p:spPr/>
        <p:txBody>
          <a:bodyPr/>
          <a:lstStyle/>
          <a:p>
            <a:fld id="{2D75A70D-9AE0-4FF6-95F3-C74D4D5EDA93}" type="slidenum">
              <a:rPr lang="en-US" smtClean="0"/>
              <a:t>‹#›</a:t>
            </a:fld>
            <a:endParaRPr lang="en-US"/>
          </a:p>
        </p:txBody>
      </p:sp>
    </p:spTree>
    <p:extLst>
      <p:ext uri="{BB962C8B-B14F-4D97-AF65-F5344CB8AC3E}">
        <p14:creationId xmlns:p14="http://schemas.microsoft.com/office/powerpoint/2010/main" val="31511919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EFE6"/>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A30230-4C18-A32F-3B52-4ED91830CD5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FFF8B7C-D77E-1C71-C686-DB1E5EC01E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47280E-0A14-47A8-07C0-EBC443AB8E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A227DA9-E156-46E3-BFCD-577DAEF26ADE}" type="datetimeFigureOut">
              <a:rPr lang="en-US" smtClean="0"/>
              <a:t>5/28/2026</a:t>
            </a:fld>
            <a:endParaRPr lang="en-US"/>
          </a:p>
        </p:txBody>
      </p:sp>
      <p:sp>
        <p:nvSpPr>
          <p:cNvPr id="5" name="Footer Placeholder 4">
            <a:extLst>
              <a:ext uri="{FF2B5EF4-FFF2-40B4-BE49-F238E27FC236}">
                <a16:creationId xmlns:a16="http://schemas.microsoft.com/office/drawing/2014/main" id="{6560553C-B2AE-BE44-36A0-14E4C9F63DC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5ABF4F8-CEC1-1DE0-B4EE-3DD2431E836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D75A70D-9AE0-4FF6-95F3-C74D4D5EDA93}" type="slidenum">
              <a:rPr lang="en-US" smtClean="0"/>
              <a:t>‹#›</a:t>
            </a:fld>
            <a:endParaRPr lang="en-US"/>
          </a:p>
        </p:txBody>
      </p:sp>
      <p:sp>
        <p:nvSpPr>
          <p:cNvPr id="900" name="LeftAccentBar"/>
          <p:cNvSpPr/>
          <p:nvPr userDrawn="1"/>
        </p:nvSpPr>
        <p:spPr>
          <a:xfrm>
            <a:off x="0" y="0"/>
            <a:ext cx="76200" cy="6858000"/>
          </a:xfrm>
          <a:prstGeom prst="rect">
            <a:avLst/>
          </a:prstGeom>
          <a:solidFill>
            <a:srgbClr val="C8553D"/>
          </a:solidFill>
          <a:ln>
            <a:noFill/>
          </a:ln>
        </p:spPr>
        <p:txBody>
          <a:bodyPr/>
          <a:lstStyle/>
          <a:p>
            <a:endParaRPr lang="en-US"/>
          </a:p>
        </p:txBody>
      </p:sp>
      <p:sp>
        <p:nvSpPr>
          <p:cNvPr id="901" name="CornerDot"/>
          <p:cNvSpPr/>
          <p:nvPr userDrawn="1"/>
        </p:nvSpPr>
        <p:spPr>
          <a:xfrm>
            <a:off x="11430000" y="6553200"/>
            <a:ext cx="152400" cy="152400"/>
          </a:xfrm>
          <a:prstGeom prst="ellipse">
            <a:avLst/>
          </a:prstGeom>
          <a:solidFill>
            <a:srgbClr val="D97757"/>
          </a:solidFill>
          <a:ln>
            <a:noFill/>
          </a:ln>
        </p:spPr>
        <p:txBody>
          <a:bodyPr/>
          <a:lstStyle/>
          <a:p>
            <a:endParaRPr lang="en-US"/>
          </a:p>
        </p:txBody>
      </p:sp>
    </p:spTree>
    <p:extLst>
      <p:ext uri="{BB962C8B-B14F-4D97-AF65-F5344CB8AC3E}">
        <p14:creationId xmlns:p14="http://schemas.microsoft.com/office/powerpoint/2010/main" val="374460262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8" r:id="rId7"/>
    <p:sldLayoutId id="2147483669" r:id="rId8"/>
    <p:sldLayoutId id="2147483670" r:id="rId9"/>
    <p:sldLayoutId id="2147483671" r:id="rId10"/>
  </p:sldLayoutIdLst>
  <p:txStyles>
    <p:titleStyle>
      <a:lvl1pPr algn="l" defTabSz="914400" rtl="0" eaLnBrk="1" latinLnBrk="0" hangingPunct="1">
        <a:lnSpc>
          <a:spcPct val="90000"/>
        </a:lnSpc>
        <a:spcBef>
          <a:spcPct val="0"/>
        </a:spcBef>
        <a:buNone/>
        <a:defRPr sz="4400" kern="1200">
          <a:solidFill>
            <a:srgbClr val="2B1810"/>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2B181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2B181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2B181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2B181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2B181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rgbClr val="2B1810"/>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rgbClr val="2B1810"/>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rgbClr val="2B1810"/>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rgbClr val="2B1810"/>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E2AD0AA-39A4-414B-AD76-187DD6D37396}"/>
              </a:ext>
            </a:extLst>
          </p:cNvPr>
          <p:cNvSpPr/>
          <p:nvPr/>
        </p:nvSpPr>
        <p:spPr>
          <a:xfrm>
            <a:off x="1016000" y="1206500"/>
            <a:ext cx="508000" cy="38100"/>
          </a:xfrm>
          <a:prstGeom prst="rect">
            <a:avLst/>
          </a:prstGeom>
          <a:solidFill>
            <a:srgbClr val="C8553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6E9C6B5D-9D66-4CE9-B9E1-641A96F4CA60}"/>
              </a:ext>
            </a:extLst>
          </p:cNvPr>
          <p:cNvSpPr txBox="1"/>
          <p:nvPr/>
        </p:nvSpPr>
        <p:spPr>
          <a:xfrm>
            <a:off x="1016000" y="1397000"/>
            <a:ext cx="8890000" cy="304800"/>
          </a:xfrm>
          <a:prstGeom prst="rect">
            <a:avLst/>
          </a:prstGeom>
          <a:noFill/>
        </p:spPr>
        <p:txBody>
          <a:bodyPr vertOverflow="overflow" vert="horz" wrap="square" rtlCol="0" anchor="t">
            <a:noAutofit/>
          </a:bodyPr>
          <a:lstStyle/>
          <a:p>
            <a:pPr algn="l"/>
            <a:r>
              <a:rPr lang="pt-BR" sz="1400" b="1">
                <a:solidFill>
                  <a:srgbClr val="C8553D"/>
                </a:solidFill>
              </a:rPr>
              <a:t>R O B O T   T A S K   O S</a:t>
            </a:r>
            <a:endParaRPr lang="en-US" sz="1400" b="1">
              <a:solidFill>
                <a:srgbClr val="C8553D"/>
              </a:solidFill>
            </a:endParaRPr>
          </a:p>
        </p:txBody>
      </p:sp>
      <p:sp>
        <p:nvSpPr>
          <p:cNvPr id="5" name="TextBox 4">
            <a:extLst>
              <a:ext uri="{FF2B5EF4-FFF2-40B4-BE49-F238E27FC236}">
                <a16:creationId xmlns:a16="http://schemas.microsoft.com/office/drawing/2014/main" id="{8FDDFB5E-F2EB-498E-A41B-A89CF17C949F}"/>
              </a:ext>
            </a:extLst>
          </p:cNvPr>
          <p:cNvSpPr txBox="1"/>
          <p:nvPr/>
        </p:nvSpPr>
        <p:spPr>
          <a:xfrm>
            <a:off x="1016000" y="1905000"/>
            <a:ext cx="10160000" cy="2032000"/>
          </a:xfrm>
          <a:prstGeom prst="rect">
            <a:avLst/>
          </a:prstGeom>
          <a:noFill/>
        </p:spPr>
        <p:txBody>
          <a:bodyPr vertOverflow="overflow" vert="horz" wrap="square" rtlCol="0" anchor="t">
            <a:noAutofit/>
          </a:bodyPr>
          <a:lstStyle/>
          <a:p>
            <a:pPr algn="l"/>
            <a:r>
              <a:rPr lang="zh-CN" altLang="en-US" sz="6000" b="1" dirty="0">
                <a:solidFill>
                  <a:srgbClr val="2B1810"/>
                </a:solidFill>
              </a:rPr>
              <a:t>宇树机器人</a:t>
            </a:r>
            <a:br>
              <a:rPr lang="en-US" altLang="zh-CN" sz="6000" b="1" dirty="0">
                <a:solidFill>
                  <a:srgbClr val="2B1810"/>
                </a:solidFill>
              </a:rPr>
            </a:br>
            <a:r>
              <a:rPr lang="zh-CN" altLang="en-US" sz="6000" b="1" dirty="0">
                <a:solidFill>
                  <a:srgbClr val="2B1810"/>
                </a:solidFill>
              </a:rPr>
              <a:t>任务操作系统</a:t>
            </a:r>
            <a:endParaRPr lang="en-US" sz="6000" b="1" dirty="0">
              <a:solidFill>
                <a:srgbClr val="2B1810"/>
              </a:solidFill>
            </a:endParaRPr>
          </a:p>
        </p:txBody>
      </p:sp>
      <p:sp>
        <p:nvSpPr>
          <p:cNvPr id="6" name="TextBox 5">
            <a:extLst>
              <a:ext uri="{FF2B5EF4-FFF2-40B4-BE49-F238E27FC236}">
                <a16:creationId xmlns:a16="http://schemas.microsoft.com/office/drawing/2014/main" id="{43D14E9D-8365-4A59-AB86-8991307946E7}"/>
              </a:ext>
            </a:extLst>
          </p:cNvPr>
          <p:cNvSpPr txBox="1"/>
          <p:nvPr/>
        </p:nvSpPr>
        <p:spPr>
          <a:xfrm>
            <a:off x="1016000" y="4191000"/>
            <a:ext cx="10414000" cy="762000"/>
          </a:xfrm>
          <a:prstGeom prst="rect">
            <a:avLst/>
          </a:prstGeom>
          <a:noFill/>
        </p:spPr>
        <p:txBody>
          <a:bodyPr vertOverflow="overflow" vert="horz" wrap="square" rtlCol="0" anchor="t">
            <a:noAutofit/>
          </a:bodyPr>
          <a:lstStyle/>
          <a:p>
            <a:pPr algn="l"/>
            <a:r>
              <a:rPr lang="zh-CN" altLang="en-US" sz="2200" dirty="0">
                <a:solidFill>
                  <a:srgbClr val="5C3A21"/>
                </a:solidFill>
              </a:rPr>
              <a:t>让宇树机器人从单个「演示设备」变成批控制「可交付场景员工」的任务操作系统</a:t>
            </a:r>
            <a:endParaRPr lang="en-US" sz="2200" dirty="0">
              <a:solidFill>
                <a:srgbClr val="5C3A21"/>
              </a:solidFill>
            </a:endParaRPr>
          </a:p>
        </p:txBody>
      </p:sp>
      <p:sp>
        <p:nvSpPr>
          <p:cNvPr id="7" name="TextBox 6">
            <a:extLst>
              <a:ext uri="{FF2B5EF4-FFF2-40B4-BE49-F238E27FC236}">
                <a16:creationId xmlns:a16="http://schemas.microsoft.com/office/drawing/2014/main" id="{8AFD97AF-6E66-4519-81FD-A15502D8C0F6}"/>
              </a:ext>
            </a:extLst>
          </p:cNvPr>
          <p:cNvSpPr txBox="1"/>
          <p:nvPr/>
        </p:nvSpPr>
        <p:spPr>
          <a:xfrm>
            <a:off x="1016000" y="5588000"/>
            <a:ext cx="8890000" cy="381000"/>
          </a:xfrm>
          <a:prstGeom prst="rect">
            <a:avLst/>
          </a:prstGeom>
          <a:noFill/>
        </p:spPr>
        <p:txBody>
          <a:bodyPr vertOverflow="overflow" vert="horz" wrap="square" rtlCol="0" anchor="t">
            <a:noAutofit/>
          </a:bodyPr>
          <a:lstStyle/>
          <a:p>
            <a:pPr algn="l"/>
            <a:r>
              <a:rPr lang="zh-CN" altLang="en-US" sz="1600" i="1">
                <a:solidFill>
                  <a:srgbClr val="8B6F47"/>
                </a:solidFill>
              </a:rPr>
              <a:t>硬件是身体  </a:t>
            </a:r>
            <a:r>
              <a:rPr lang="en-US" altLang="zh-CN" sz="1600" i="1">
                <a:solidFill>
                  <a:srgbClr val="8B6F47"/>
                </a:solidFill>
              </a:rPr>
              <a:t>·  </a:t>
            </a:r>
            <a:r>
              <a:rPr lang="en-US" sz="1600" i="1">
                <a:solidFill>
                  <a:srgbClr val="8B6F47"/>
                </a:solidFill>
              </a:rPr>
              <a:t>Task OS </a:t>
            </a:r>
            <a:r>
              <a:rPr lang="zh-CN" altLang="en-US" sz="1600" i="1">
                <a:solidFill>
                  <a:srgbClr val="8B6F47"/>
                </a:solidFill>
              </a:rPr>
              <a:t>是上岗能力</a:t>
            </a:r>
            <a:endParaRPr lang="en-US" sz="1600" i="1">
              <a:solidFill>
                <a:srgbClr val="8B6F47"/>
              </a:solidFill>
            </a:endParaRPr>
          </a:p>
        </p:txBody>
      </p:sp>
      <p:sp>
        <p:nvSpPr>
          <p:cNvPr id="8" name="TextBox 7">
            <a:extLst>
              <a:ext uri="{FF2B5EF4-FFF2-40B4-BE49-F238E27FC236}">
                <a16:creationId xmlns:a16="http://schemas.microsoft.com/office/drawing/2014/main" id="{0BBB4AEB-F8BC-4FDD-A4FD-AE82E665D513}"/>
              </a:ext>
            </a:extLst>
          </p:cNvPr>
          <p:cNvSpPr txBox="1"/>
          <p:nvPr/>
        </p:nvSpPr>
        <p:spPr>
          <a:xfrm>
            <a:off x="10414000" y="6286500"/>
            <a:ext cx="1016000" cy="254000"/>
          </a:xfrm>
          <a:prstGeom prst="rect">
            <a:avLst/>
          </a:prstGeom>
          <a:noFill/>
        </p:spPr>
        <p:txBody>
          <a:bodyPr vertOverflow="overflow" vert="horz" wrap="square" rtlCol="0" anchor="t">
            <a:noAutofit/>
          </a:bodyPr>
          <a:lstStyle/>
          <a:p>
            <a:pPr algn="l"/>
            <a:r>
              <a:rPr lang="en-US" sz="1100">
                <a:solidFill>
                  <a:srgbClr val="8B6F47"/>
                </a:solidFill>
              </a:rPr>
              <a:t>01 / 08</a:t>
            </a:r>
          </a:p>
        </p:txBody>
      </p:sp>
    </p:spTree>
    <p:extLst>
      <p:ext uri="{BB962C8B-B14F-4D97-AF65-F5344CB8AC3E}">
        <p14:creationId xmlns:p14="http://schemas.microsoft.com/office/powerpoint/2010/main" val="22263146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F5D63AC-4349-4E3E-AB9B-8C5F9614B256}"/>
              </a:ext>
            </a:extLst>
          </p:cNvPr>
          <p:cNvSpPr/>
          <p:nvPr/>
        </p:nvSpPr>
        <p:spPr>
          <a:xfrm>
            <a:off x="1016000" y="635000"/>
            <a:ext cx="508000" cy="38100"/>
          </a:xfrm>
          <a:prstGeom prst="rect">
            <a:avLst/>
          </a:prstGeom>
          <a:solidFill>
            <a:srgbClr val="C8553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708DFB8D-E68D-4878-9E2B-E1AA164DD7EA}"/>
              </a:ext>
            </a:extLst>
          </p:cNvPr>
          <p:cNvSpPr txBox="1"/>
          <p:nvPr/>
        </p:nvSpPr>
        <p:spPr>
          <a:xfrm>
            <a:off x="1016000" y="787400"/>
            <a:ext cx="5080000" cy="254000"/>
          </a:xfrm>
          <a:prstGeom prst="rect">
            <a:avLst/>
          </a:prstGeom>
          <a:noFill/>
        </p:spPr>
        <p:txBody>
          <a:bodyPr vertOverflow="overflow" vert="horz" wrap="square" rtlCol="0" anchor="t">
            <a:noAutofit/>
          </a:bodyPr>
          <a:lstStyle/>
          <a:p>
            <a:pPr algn="l"/>
            <a:r>
              <a:rPr lang="pt-BR" sz="1200" b="1" dirty="0">
                <a:solidFill>
                  <a:srgbClr val="C8553D"/>
                </a:solidFill>
              </a:rPr>
              <a:t>0 2   ·   </a:t>
            </a:r>
            <a:r>
              <a:rPr lang="zh-CN" altLang="en-US" sz="1200" b="1" dirty="0">
                <a:solidFill>
                  <a:srgbClr val="C8553D"/>
                </a:solidFill>
              </a:rPr>
              <a:t>痛 点 分 析 </a:t>
            </a:r>
            <a:endParaRPr lang="en-US" sz="1200" b="1" dirty="0">
              <a:solidFill>
                <a:srgbClr val="C8553D"/>
              </a:solidFill>
            </a:endParaRPr>
          </a:p>
        </p:txBody>
      </p:sp>
      <p:sp>
        <p:nvSpPr>
          <p:cNvPr id="5" name="TextBox 4">
            <a:extLst>
              <a:ext uri="{FF2B5EF4-FFF2-40B4-BE49-F238E27FC236}">
                <a16:creationId xmlns:a16="http://schemas.microsoft.com/office/drawing/2014/main" id="{D457BD7A-7B47-482E-8D15-6414DD284840}"/>
              </a:ext>
            </a:extLst>
          </p:cNvPr>
          <p:cNvSpPr txBox="1"/>
          <p:nvPr/>
        </p:nvSpPr>
        <p:spPr>
          <a:xfrm>
            <a:off x="1016000" y="1143000"/>
            <a:ext cx="10414000" cy="762000"/>
          </a:xfrm>
          <a:prstGeom prst="rect">
            <a:avLst/>
          </a:prstGeom>
          <a:noFill/>
        </p:spPr>
        <p:txBody>
          <a:bodyPr vertOverflow="overflow" vert="horz" wrap="square" rtlCol="0" anchor="t">
            <a:noAutofit/>
          </a:bodyPr>
          <a:lstStyle/>
          <a:p>
            <a:pPr algn="l"/>
            <a:r>
              <a:rPr lang="zh-CN" altLang="en-US" sz="3200" b="1" dirty="0">
                <a:solidFill>
                  <a:srgbClr val="2B1810"/>
                </a:solidFill>
              </a:rPr>
              <a:t>机器人从 出厂到实际生产，中间缺一层 </a:t>
            </a:r>
            <a:r>
              <a:rPr lang="en-US" sz="3200" b="1" dirty="0">
                <a:solidFill>
                  <a:srgbClr val="2B1810"/>
                </a:solidFill>
              </a:rPr>
              <a:t>Task OS</a:t>
            </a:r>
          </a:p>
        </p:txBody>
      </p:sp>
      <p:sp>
        <p:nvSpPr>
          <p:cNvPr id="6" name="TextBox 5">
            <a:extLst>
              <a:ext uri="{FF2B5EF4-FFF2-40B4-BE49-F238E27FC236}">
                <a16:creationId xmlns:a16="http://schemas.microsoft.com/office/drawing/2014/main" id="{7269CD87-6C5A-4BAB-BC16-F499DA1B5B3E}"/>
              </a:ext>
            </a:extLst>
          </p:cNvPr>
          <p:cNvSpPr txBox="1"/>
          <p:nvPr/>
        </p:nvSpPr>
        <p:spPr>
          <a:xfrm>
            <a:off x="1016000" y="1968500"/>
            <a:ext cx="10414000" cy="381000"/>
          </a:xfrm>
          <a:prstGeom prst="rect">
            <a:avLst/>
          </a:prstGeom>
          <a:noFill/>
        </p:spPr>
        <p:txBody>
          <a:bodyPr vertOverflow="overflow" vert="horz" wrap="square" rtlCol="0" anchor="t">
            <a:noAutofit/>
          </a:bodyPr>
          <a:lstStyle/>
          <a:p>
            <a:pPr algn="l"/>
            <a:r>
              <a:rPr lang="zh-CN" altLang="en-US" sz="1700" i="1">
                <a:solidFill>
                  <a:srgbClr val="5C3A21"/>
                </a:solidFill>
              </a:rPr>
              <a:t>机器人不是不能动，而是很难长期、稳定、低人力地完成真实任务。</a:t>
            </a:r>
            <a:endParaRPr lang="en-US" sz="1700" i="1">
              <a:solidFill>
                <a:srgbClr val="5C3A21"/>
              </a:solidFill>
            </a:endParaRPr>
          </a:p>
        </p:txBody>
      </p:sp>
      <p:sp>
        <p:nvSpPr>
          <p:cNvPr id="7" name="Rectangle 6">
            <a:extLst>
              <a:ext uri="{FF2B5EF4-FFF2-40B4-BE49-F238E27FC236}">
                <a16:creationId xmlns:a16="http://schemas.microsoft.com/office/drawing/2014/main" id="{C4D7570D-B37C-4C7B-AE60-6FA38A01DD55}"/>
              </a:ext>
            </a:extLst>
          </p:cNvPr>
          <p:cNvSpPr/>
          <p:nvPr/>
        </p:nvSpPr>
        <p:spPr>
          <a:xfrm>
            <a:off x="1016000" y="2730500"/>
            <a:ext cx="4953000" cy="1524000"/>
          </a:xfrm>
          <a:prstGeom prst="rect">
            <a:avLst/>
          </a:prstGeom>
          <a:solidFill>
            <a:srgbClr val="EFE4D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Rectangle 7">
            <a:extLst>
              <a:ext uri="{FF2B5EF4-FFF2-40B4-BE49-F238E27FC236}">
                <a16:creationId xmlns:a16="http://schemas.microsoft.com/office/drawing/2014/main" id="{AF738388-D0D1-4FDF-A60D-630C9B3DF329}"/>
              </a:ext>
            </a:extLst>
          </p:cNvPr>
          <p:cNvSpPr/>
          <p:nvPr/>
        </p:nvSpPr>
        <p:spPr>
          <a:xfrm>
            <a:off x="1016000" y="2730500"/>
            <a:ext cx="50800" cy="1524000"/>
          </a:xfrm>
          <a:prstGeom prst="rect">
            <a:avLst/>
          </a:prstGeom>
          <a:solidFill>
            <a:srgbClr val="C8553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TextBox 8">
            <a:extLst>
              <a:ext uri="{FF2B5EF4-FFF2-40B4-BE49-F238E27FC236}">
                <a16:creationId xmlns:a16="http://schemas.microsoft.com/office/drawing/2014/main" id="{7FFFF711-9260-41EC-9844-38655925E111}"/>
              </a:ext>
            </a:extLst>
          </p:cNvPr>
          <p:cNvSpPr txBox="1"/>
          <p:nvPr/>
        </p:nvSpPr>
        <p:spPr>
          <a:xfrm>
            <a:off x="1295400" y="2959100"/>
            <a:ext cx="4445000" cy="406400"/>
          </a:xfrm>
          <a:prstGeom prst="rect">
            <a:avLst/>
          </a:prstGeom>
          <a:noFill/>
        </p:spPr>
        <p:txBody>
          <a:bodyPr vertOverflow="overflow" vert="horz" wrap="square" rtlCol="0" anchor="t">
            <a:noAutofit/>
          </a:bodyPr>
          <a:lstStyle/>
          <a:p>
            <a:pPr algn="l"/>
            <a:r>
              <a:rPr lang="zh-CN" altLang="en-US" sz="1900" b="1">
                <a:solidFill>
                  <a:srgbClr val="2B1810"/>
                </a:solidFill>
              </a:rPr>
              <a:t>看得见，但不会做事</a:t>
            </a:r>
            <a:endParaRPr lang="en-US" sz="1900" b="1">
              <a:solidFill>
                <a:srgbClr val="2B1810"/>
              </a:solidFill>
            </a:endParaRPr>
          </a:p>
        </p:txBody>
      </p:sp>
      <p:sp>
        <p:nvSpPr>
          <p:cNvPr id="10" name="TextBox 9">
            <a:extLst>
              <a:ext uri="{FF2B5EF4-FFF2-40B4-BE49-F238E27FC236}">
                <a16:creationId xmlns:a16="http://schemas.microsoft.com/office/drawing/2014/main" id="{C3131E9C-BCAC-4255-8A50-57E0DF9D58E9}"/>
              </a:ext>
            </a:extLst>
          </p:cNvPr>
          <p:cNvSpPr txBox="1"/>
          <p:nvPr/>
        </p:nvSpPr>
        <p:spPr>
          <a:xfrm>
            <a:off x="1295400" y="3467100"/>
            <a:ext cx="4445000" cy="635000"/>
          </a:xfrm>
          <a:prstGeom prst="rect">
            <a:avLst/>
          </a:prstGeom>
          <a:noFill/>
        </p:spPr>
        <p:txBody>
          <a:bodyPr vertOverflow="overflow" vert="horz" wrap="square" rtlCol="0" anchor="t">
            <a:noAutofit/>
          </a:bodyPr>
          <a:lstStyle/>
          <a:p>
            <a:pPr algn="l"/>
            <a:r>
              <a:rPr lang="zh-CN" altLang="en-US" sz="1500">
                <a:solidFill>
                  <a:srgbClr val="5C3A21"/>
                </a:solidFill>
              </a:rPr>
              <a:t>看见画面，却无法稳定变成任务流程</a:t>
            </a:r>
            <a:endParaRPr lang="en-US" sz="1500">
              <a:solidFill>
                <a:srgbClr val="5C3A21"/>
              </a:solidFill>
            </a:endParaRPr>
          </a:p>
        </p:txBody>
      </p:sp>
      <p:sp>
        <p:nvSpPr>
          <p:cNvPr id="11" name="Rectangle 10">
            <a:extLst>
              <a:ext uri="{FF2B5EF4-FFF2-40B4-BE49-F238E27FC236}">
                <a16:creationId xmlns:a16="http://schemas.microsoft.com/office/drawing/2014/main" id="{9F2BA1B5-1E40-41CC-9319-B21E5D76E343}"/>
              </a:ext>
            </a:extLst>
          </p:cNvPr>
          <p:cNvSpPr/>
          <p:nvPr/>
        </p:nvSpPr>
        <p:spPr>
          <a:xfrm>
            <a:off x="6350000" y="2730500"/>
            <a:ext cx="4953000" cy="1524000"/>
          </a:xfrm>
          <a:prstGeom prst="rect">
            <a:avLst/>
          </a:prstGeom>
          <a:solidFill>
            <a:srgbClr val="EFE4D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Rectangle 11">
            <a:extLst>
              <a:ext uri="{FF2B5EF4-FFF2-40B4-BE49-F238E27FC236}">
                <a16:creationId xmlns:a16="http://schemas.microsoft.com/office/drawing/2014/main" id="{7B2CCC97-4526-4295-8DB0-41684AB7BEBA}"/>
              </a:ext>
            </a:extLst>
          </p:cNvPr>
          <p:cNvSpPr/>
          <p:nvPr/>
        </p:nvSpPr>
        <p:spPr>
          <a:xfrm>
            <a:off x="6350000" y="2730500"/>
            <a:ext cx="50800" cy="1524000"/>
          </a:xfrm>
          <a:prstGeom prst="rect">
            <a:avLst/>
          </a:prstGeom>
          <a:solidFill>
            <a:srgbClr val="C8553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TextBox 12">
            <a:extLst>
              <a:ext uri="{FF2B5EF4-FFF2-40B4-BE49-F238E27FC236}">
                <a16:creationId xmlns:a16="http://schemas.microsoft.com/office/drawing/2014/main" id="{081B5C9D-F640-49FF-B149-392C2F52642A}"/>
              </a:ext>
            </a:extLst>
          </p:cNvPr>
          <p:cNvSpPr txBox="1"/>
          <p:nvPr/>
        </p:nvSpPr>
        <p:spPr>
          <a:xfrm>
            <a:off x="6629400" y="2959100"/>
            <a:ext cx="4445000" cy="406400"/>
          </a:xfrm>
          <a:prstGeom prst="rect">
            <a:avLst/>
          </a:prstGeom>
          <a:noFill/>
        </p:spPr>
        <p:txBody>
          <a:bodyPr vertOverflow="overflow" vert="horz" wrap="square" rtlCol="0" anchor="t">
            <a:noAutofit/>
          </a:bodyPr>
          <a:lstStyle/>
          <a:p>
            <a:pPr algn="l"/>
            <a:r>
              <a:rPr lang="zh-CN" altLang="en-US" sz="1900" b="1">
                <a:solidFill>
                  <a:srgbClr val="2B1810"/>
                </a:solidFill>
              </a:rPr>
              <a:t>听得懂，但记不住</a:t>
            </a:r>
            <a:endParaRPr lang="en-US" sz="1900" b="1">
              <a:solidFill>
                <a:srgbClr val="2B1810"/>
              </a:solidFill>
            </a:endParaRPr>
          </a:p>
        </p:txBody>
      </p:sp>
      <p:sp>
        <p:nvSpPr>
          <p:cNvPr id="14" name="TextBox 13">
            <a:extLst>
              <a:ext uri="{FF2B5EF4-FFF2-40B4-BE49-F238E27FC236}">
                <a16:creationId xmlns:a16="http://schemas.microsoft.com/office/drawing/2014/main" id="{581AFBFE-DBAF-48C8-ABF0-4F206580B00A}"/>
              </a:ext>
            </a:extLst>
          </p:cNvPr>
          <p:cNvSpPr txBox="1"/>
          <p:nvPr/>
        </p:nvSpPr>
        <p:spPr>
          <a:xfrm>
            <a:off x="6629400" y="3467100"/>
            <a:ext cx="4445000" cy="635000"/>
          </a:xfrm>
          <a:prstGeom prst="rect">
            <a:avLst/>
          </a:prstGeom>
          <a:noFill/>
        </p:spPr>
        <p:txBody>
          <a:bodyPr vertOverflow="overflow" vert="horz" wrap="square" rtlCol="0" anchor="t">
            <a:noAutofit/>
          </a:bodyPr>
          <a:lstStyle/>
          <a:p>
            <a:pPr algn="l"/>
            <a:r>
              <a:rPr lang="zh-CN" altLang="en-US" sz="1500">
                <a:solidFill>
                  <a:srgbClr val="5C3A21"/>
                </a:solidFill>
              </a:rPr>
              <a:t>听懂单句，缺乏长期记忆与场景延续</a:t>
            </a:r>
            <a:endParaRPr lang="en-US" sz="1500">
              <a:solidFill>
                <a:srgbClr val="5C3A21"/>
              </a:solidFill>
            </a:endParaRPr>
          </a:p>
        </p:txBody>
      </p:sp>
      <p:sp>
        <p:nvSpPr>
          <p:cNvPr id="15" name="Rectangle 14">
            <a:extLst>
              <a:ext uri="{FF2B5EF4-FFF2-40B4-BE49-F238E27FC236}">
                <a16:creationId xmlns:a16="http://schemas.microsoft.com/office/drawing/2014/main" id="{5603527F-F76D-41B4-BE27-E0C0B3BE1AE4}"/>
              </a:ext>
            </a:extLst>
          </p:cNvPr>
          <p:cNvSpPr/>
          <p:nvPr/>
        </p:nvSpPr>
        <p:spPr>
          <a:xfrm>
            <a:off x="1016000" y="4508500"/>
            <a:ext cx="4953000" cy="1524000"/>
          </a:xfrm>
          <a:prstGeom prst="rect">
            <a:avLst/>
          </a:prstGeom>
          <a:solidFill>
            <a:srgbClr val="EFE4D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Rectangle 15">
            <a:extLst>
              <a:ext uri="{FF2B5EF4-FFF2-40B4-BE49-F238E27FC236}">
                <a16:creationId xmlns:a16="http://schemas.microsoft.com/office/drawing/2014/main" id="{BF83AD85-AC6A-478B-A4C1-6996D2D34782}"/>
              </a:ext>
            </a:extLst>
          </p:cNvPr>
          <p:cNvSpPr/>
          <p:nvPr/>
        </p:nvSpPr>
        <p:spPr>
          <a:xfrm>
            <a:off x="1016000" y="4508500"/>
            <a:ext cx="50800" cy="1524000"/>
          </a:xfrm>
          <a:prstGeom prst="rect">
            <a:avLst/>
          </a:prstGeom>
          <a:solidFill>
            <a:srgbClr val="C8553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TextBox 16">
            <a:extLst>
              <a:ext uri="{FF2B5EF4-FFF2-40B4-BE49-F238E27FC236}">
                <a16:creationId xmlns:a16="http://schemas.microsoft.com/office/drawing/2014/main" id="{1F503B32-4585-43AE-A529-F158690E5075}"/>
              </a:ext>
            </a:extLst>
          </p:cNvPr>
          <p:cNvSpPr txBox="1"/>
          <p:nvPr/>
        </p:nvSpPr>
        <p:spPr>
          <a:xfrm>
            <a:off x="1295400" y="4737100"/>
            <a:ext cx="4445000" cy="406400"/>
          </a:xfrm>
          <a:prstGeom prst="rect">
            <a:avLst/>
          </a:prstGeom>
          <a:noFill/>
        </p:spPr>
        <p:txBody>
          <a:bodyPr vertOverflow="overflow" vert="horz" wrap="square" rtlCol="0" anchor="t">
            <a:noAutofit/>
          </a:bodyPr>
          <a:lstStyle/>
          <a:p>
            <a:pPr algn="l"/>
            <a:r>
              <a:rPr lang="zh-CN" altLang="en-US" sz="1900" b="1" dirty="0">
                <a:solidFill>
                  <a:srgbClr val="2B1810"/>
                </a:solidFill>
              </a:rPr>
              <a:t>能走能跳舞，但接不进现实业务</a:t>
            </a:r>
            <a:endParaRPr lang="en-US" sz="1900" b="1" dirty="0">
              <a:solidFill>
                <a:srgbClr val="2B1810"/>
              </a:solidFill>
            </a:endParaRPr>
          </a:p>
        </p:txBody>
      </p:sp>
      <p:sp>
        <p:nvSpPr>
          <p:cNvPr id="18" name="TextBox 17">
            <a:extLst>
              <a:ext uri="{FF2B5EF4-FFF2-40B4-BE49-F238E27FC236}">
                <a16:creationId xmlns:a16="http://schemas.microsoft.com/office/drawing/2014/main" id="{A1163E96-5C44-4AE1-8CE8-3F4D46484412}"/>
              </a:ext>
            </a:extLst>
          </p:cNvPr>
          <p:cNvSpPr txBox="1"/>
          <p:nvPr/>
        </p:nvSpPr>
        <p:spPr>
          <a:xfrm>
            <a:off x="1295400" y="5245100"/>
            <a:ext cx="4445000" cy="635000"/>
          </a:xfrm>
          <a:prstGeom prst="rect">
            <a:avLst/>
          </a:prstGeom>
          <a:noFill/>
        </p:spPr>
        <p:txBody>
          <a:bodyPr vertOverflow="overflow" vert="horz" wrap="square" rtlCol="0" anchor="t">
            <a:noAutofit/>
          </a:bodyPr>
          <a:lstStyle/>
          <a:p>
            <a:pPr algn="l"/>
            <a:r>
              <a:rPr lang="zh-CN" altLang="en-US" sz="1500">
                <a:solidFill>
                  <a:srgbClr val="5C3A21"/>
                </a:solidFill>
              </a:rPr>
              <a:t>无法接入工单、地图、数据库、</a:t>
            </a:r>
            <a:r>
              <a:rPr lang="en-US" altLang="zh-CN" sz="1500">
                <a:solidFill>
                  <a:srgbClr val="5C3A21"/>
                </a:solidFill>
              </a:rPr>
              <a:t>IoT</a:t>
            </a:r>
            <a:r>
              <a:rPr lang="zh-CN" altLang="en-US" sz="1500">
                <a:solidFill>
                  <a:srgbClr val="5C3A21"/>
                </a:solidFill>
              </a:rPr>
              <a:t>、知识库</a:t>
            </a:r>
            <a:endParaRPr lang="en-US" sz="1500">
              <a:solidFill>
                <a:srgbClr val="5C3A21"/>
              </a:solidFill>
            </a:endParaRPr>
          </a:p>
        </p:txBody>
      </p:sp>
      <p:sp>
        <p:nvSpPr>
          <p:cNvPr id="19" name="Rectangle 18">
            <a:extLst>
              <a:ext uri="{FF2B5EF4-FFF2-40B4-BE49-F238E27FC236}">
                <a16:creationId xmlns:a16="http://schemas.microsoft.com/office/drawing/2014/main" id="{E523FFA9-71D5-44B0-879C-6D035A5E321E}"/>
              </a:ext>
            </a:extLst>
          </p:cNvPr>
          <p:cNvSpPr/>
          <p:nvPr/>
        </p:nvSpPr>
        <p:spPr>
          <a:xfrm>
            <a:off x="6350000" y="4508500"/>
            <a:ext cx="4953000" cy="1524000"/>
          </a:xfrm>
          <a:prstGeom prst="rect">
            <a:avLst/>
          </a:prstGeom>
          <a:solidFill>
            <a:srgbClr val="EFE4D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0" name="Rectangle 19">
            <a:extLst>
              <a:ext uri="{FF2B5EF4-FFF2-40B4-BE49-F238E27FC236}">
                <a16:creationId xmlns:a16="http://schemas.microsoft.com/office/drawing/2014/main" id="{AF0E665F-B85A-451E-BC77-46BC331355C6}"/>
              </a:ext>
            </a:extLst>
          </p:cNvPr>
          <p:cNvSpPr/>
          <p:nvPr/>
        </p:nvSpPr>
        <p:spPr>
          <a:xfrm>
            <a:off x="6350000" y="4508500"/>
            <a:ext cx="50800" cy="1524000"/>
          </a:xfrm>
          <a:prstGeom prst="rect">
            <a:avLst/>
          </a:prstGeom>
          <a:solidFill>
            <a:srgbClr val="C8553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1" name="TextBox 20">
            <a:extLst>
              <a:ext uri="{FF2B5EF4-FFF2-40B4-BE49-F238E27FC236}">
                <a16:creationId xmlns:a16="http://schemas.microsoft.com/office/drawing/2014/main" id="{E6EA2817-C267-4860-8DE6-376E16277663}"/>
              </a:ext>
            </a:extLst>
          </p:cNvPr>
          <p:cNvSpPr txBox="1"/>
          <p:nvPr/>
        </p:nvSpPr>
        <p:spPr>
          <a:xfrm>
            <a:off x="6629400" y="4737100"/>
            <a:ext cx="4445000" cy="406400"/>
          </a:xfrm>
          <a:prstGeom prst="rect">
            <a:avLst/>
          </a:prstGeom>
          <a:noFill/>
        </p:spPr>
        <p:txBody>
          <a:bodyPr vertOverflow="overflow" vert="horz" wrap="square" rtlCol="0" anchor="t">
            <a:noAutofit/>
          </a:bodyPr>
          <a:lstStyle/>
          <a:p>
            <a:pPr algn="l"/>
            <a:r>
              <a:rPr lang="zh-CN" altLang="en-US" sz="1900" b="1" dirty="0">
                <a:solidFill>
                  <a:srgbClr val="2B1810"/>
                </a:solidFill>
              </a:rPr>
              <a:t>无法批量调度机器人团队</a:t>
            </a:r>
            <a:endParaRPr lang="en-US" sz="1900" b="1" dirty="0">
              <a:solidFill>
                <a:srgbClr val="2B1810"/>
              </a:solidFill>
            </a:endParaRPr>
          </a:p>
        </p:txBody>
      </p:sp>
      <p:sp>
        <p:nvSpPr>
          <p:cNvPr id="22" name="TextBox 21">
            <a:extLst>
              <a:ext uri="{FF2B5EF4-FFF2-40B4-BE49-F238E27FC236}">
                <a16:creationId xmlns:a16="http://schemas.microsoft.com/office/drawing/2014/main" id="{F0BB99F8-BF72-44AB-A75F-9ADECE27376A}"/>
              </a:ext>
            </a:extLst>
          </p:cNvPr>
          <p:cNvSpPr txBox="1"/>
          <p:nvPr/>
        </p:nvSpPr>
        <p:spPr>
          <a:xfrm>
            <a:off x="6629400" y="5245100"/>
            <a:ext cx="4445000" cy="635000"/>
          </a:xfrm>
          <a:prstGeom prst="rect">
            <a:avLst/>
          </a:prstGeom>
          <a:noFill/>
        </p:spPr>
        <p:txBody>
          <a:bodyPr vertOverflow="overflow" vert="horz" wrap="square" rtlCol="0" anchor="t">
            <a:noAutofit/>
          </a:bodyPr>
          <a:lstStyle/>
          <a:p>
            <a:pPr algn="l"/>
            <a:r>
              <a:rPr lang="zh-CN" altLang="en-US" sz="1500" dirty="0">
                <a:solidFill>
                  <a:srgbClr val="5C3A21"/>
                </a:solidFill>
              </a:rPr>
              <a:t>无法实现机器人“蜂群”式统一调度管理机器人节点</a:t>
            </a:r>
            <a:endParaRPr lang="en-US" sz="1500" dirty="0">
              <a:solidFill>
                <a:srgbClr val="5C3A21"/>
              </a:solidFill>
            </a:endParaRPr>
          </a:p>
        </p:txBody>
      </p:sp>
      <p:sp>
        <p:nvSpPr>
          <p:cNvPr id="23" name="TextBox 22">
            <a:extLst>
              <a:ext uri="{FF2B5EF4-FFF2-40B4-BE49-F238E27FC236}">
                <a16:creationId xmlns:a16="http://schemas.microsoft.com/office/drawing/2014/main" id="{375C8A04-A40B-4431-AAED-F2D51F992FAA}"/>
              </a:ext>
            </a:extLst>
          </p:cNvPr>
          <p:cNvSpPr txBox="1"/>
          <p:nvPr/>
        </p:nvSpPr>
        <p:spPr>
          <a:xfrm>
            <a:off x="1016000" y="6286500"/>
            <a:ext cx="10414000" cy="317500"/>
          </a:xfrm>
          <a:prstGeom prst="rect">
            <a:avLst/>
          </a:prstGeom>
          <a:noFill/>
        </p:spPr>
        <p:txBody>
          <a:bodyPr vertOverflow="overflow" vert="horz" wrap="square" rtlCol="0" anchor="t">
            <a:noAutofit/>
          </a:bodyPr>
          <a:lstStyle/>
          <a:p>
            <a:pPr algn="l"/>
            <a:r>
              <a:rPr lang="zh-CN" altLang="en-US" sz="1500" b="1" dirty="0">
                <a:solidFill>
                  <a:srgbClr val="C8553D"/>
                </a:solidFill>
              </a:rPr>
              <a:t>客户要的不是一个「会动、会回答」的机器人，而是一个能上岗的「场景员工」</a:t>
            </a:r>
            <a:endParaRPr lang="en-US" sz="1500" b="1" dirty="0">
              <a:solidFill>
                <a:srgbClr val="C8553D"/>
              </a:solidFill>
            </a:endParaRPr>
          </a:p>
        </p:txBody>
      </p:sp>
      <p:sp>
        <p:nvSpPr>
          <p:cNvPr id="24" name="TextBox 23">
            <a:extLst>
              <a:ext uri="{FF2B5EF4-FFF2-40B4-BE49-F238E27FC236}">
                <a16:creationId xmlns:a16="http://schemas.microsoft.com/office/drawing/2014/main" id="{965E581F-D826-4922-B7EE-B4F19500B5AF}"/>
              </a:ext>
            </a:extLst>
          </p:cNvPr>
          <p:cNvSpPr txBox="1"/>
          <p:nvPr/>
        </p:nvSpPr>
        <p:spPr>
          <a:xfrm>
            <a:off x="10414000" y="6286500"/>
            <a:ext cx="1016000" cy="254000"/>
          </a:xfrm>
          <a:prstGeom prst="rect">
            <a:avLst/>
          </a:prstGeom>
          <a:noFill/>
        </p:spPr>
        <p:txBody>
          <a:bodyPr vertOverflow="overflow" vert="horz" wrap="square" rtlCol="0" anchor="t">
            <a:noAutofit/>
          </a:bodyPr>
          <a:lstStyle/>
          <a:p>
            <a:pPr algn="l"/>
            <a:r>
              <a:rPr lang="en-US" sz="1100">
                <a:solidFill>
                  <a:srgbClr val="8B6F47"/>
                </a:solidFill>
              </a:rPr>
              <a:t>02 / 08</a:t>
            </a:r>
          </a:p>
        </p:txBody>
      </p:sp>
    </p:spTree>
    <p:extLst>
      <p:ext uri="{BB962C8B-B14F-4D97-AF65-F5344CB8AC3E}">
        <p14:creationId xmlns:p14="http://schemas.microsoft.com/office/powerpoint/2010/main" val="29114631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492403F-63A5-4B59-BB61-38D3D446EF48}"/>
              </a:ext>
            </a:extLst>
          </p:cNvPr>
          <p:cNvSpPr/>
          <p:nvPr/>
        </p:nvSpPr>
        <p:spPr>
          <a:xfrm>
            <a:off x="1016000" y="635000"/>
            <a:ext cx="508000" cy="38100"/>
          </a:xfrm>
          <a:prstGeom prst="rect">
            <a:avLst/>
          </a:prstGeom>
          <a:solidFill>
            <a:srgbClr val="C8553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ED890C1D-BC6C-4CE4-89C4-C620559AFF7C}"/>
              </a:ext>
            </a:extLst>
          </p:cNvPr>
          <p:cNvSpPr txBox="1"/>
          <p:nvPr/>
        </p:nvSpPr>
        <p:spPr>
          <a:xfrm>
            <a:off x="1016000" y="787400"/>
            <a:ext cx="5080000" cy="254000"/>
          </a:xfrm>
          <a:prstGeom prst="rect">
            <a:avLst/>
          </a:prstGeom>
          <a:noFill/>
        </p:spPr>
        <p:txBody>
          <a:bodyPr vertOverflow="overflow" vert="horz" wrap="square" rtlCol="0" anchor="t">
            <a:noAutofit/>
          </a:bodyPr>
          <a:lstStyle/>
          <a:p>
            <a:pPr algn="l"/>
            <a:r>
              <a:rPr lang="pt-BR" sz="1200" b="1" dirty="0">
                <a:solidFill>
                  <a:srgbClr val="C8553D"/>
                </a:solidFill>
              </a:rPr>
              <a:t>0 3   </a:t>
            </a:r>
            <a:r>
              <a:rPr lang="zh-CN" altLang="en-US" sz="1200" b="1" dirty="0">
                <a:solidFill>
                  <a:srgbClr val="C8553D"/>
                </a:solidFill>
              </a:rPr>
              <a:t>产 品 设 计 功 能 特 点</a:t>
            </a:r>
            <a:endParaRPr lang="en-US" sz="1200" b="1" dirty="0">
              <a:solidFill>
                <a:srgbClr val="C8553D"/>
              </a:solidFill>
            </a:endParaRPr>
          </a:p>
        </p:txBody>
      </p:sp>
      <p:sp>
        <p:nvSpPr>
          <p:cNvPr id="5" name="TextBox 4">
            <a:extLst>
              <a:ext uri="{FF2B5EF4-FFF2-40B4-BE49-F238E27FC236}">
                <a16:creationId xmlns:a16="http://schemas.microsoft.com/office/drawing/2014/main" id="{42CB5E52-D584-43A3-A0FF-418F535D5D32}"/>
              </a:ext>
            </a:extLst>
          </p:cNvPr>
          <p:cNvSpPr txBox="1"/>
          <p:nvPr/>
        </p:nvSpPr>
        <p:spPr>
          <a:xfrm>
            <a:off x="1016000" y="1143000"/>
            <a:ext cx="10414000" cy="635000"/>
          </a:xfrm>
          <a:prstGeom prst="rect">
            <a:avLst/>
          </a:prstGeom>
          <a:noFill/>
        </p:spPr>
        <p:txBody>
          <a:bodyPr vertOverflow="overflow" vert="horz" wrap="square" rtlCol="0" anchor="t">
            <a:noAutofit/>
          </a:bodyPr>
          <a:lstStyle/>
          <a:p>
            <a:pPr algn="l"/>
            <a:r>
              <a:rPr lang="zh-CN" altLang="en-US" sz="3200" b="1">
                <a:solidFill>
                  <a:srgbClr val="2B1810"/>
                </a:solidFill>
              </a:rPr>
              <a:t>把任务、记忆、工具、安全、协作连成闭环</a:t>
            </a:r>
            <a:endParaRPr lang="en-US" sz="3200" b="1">
              <a:solidFill>
                <a:srgbClr val="2B1810"/>
              </a:solidFill>
            </a:endParaRPr>
          </a:p>
        </p:txBody>
      </p:sp>
      <p:sp>
        <p:nvSpPr>
          <p:cNvPr id="6" name="TextBox 5">
            <a:extLst>
              <a:ext uri="{FF2B5EF4-FFF2-40B4-BE49-F238E27FC236}">
                <a16:creationId xmlns:a16="http://schemas.microsoft.com/office/drawing/2014/main" id="{AF4C4998-4A6F-41B9-87C2-7F02D0D7703A}"/>
              </a:ext>
            </a:extLst>
          </p:cNvPr>
          <p:cNvSpPr txBox="1"/>
          <p:nvPr/>
        </p:nvSpPr>
        <p:spPr>
          <a:xfrm>
            <a:off x="1016000" y="1905000"/>
            <a:ext cx="10414000" cy="355600"/>
          </a:xfrm>
          <a:prstGeom prst="rect">
            <a:avLst/>
          </a:prstGeom>
          <a:noFill/>
        </p:spPr>
        <p:txBody>
          <a:bodyPr vertOverflow="overflow" vert="horz" wrap="square" rtlCol="0" anchor="t">
            <a:noAutofit/>
          </a:bodyPr>
          <a:lstStyle/>
          <a:p>
            <a:pPr algn="l"/>
            <a:r>
              <a:rPr lang="en-US" altLang="zh-CN" sz="1500" i="1" dirty="0">
                <a:solidFill>
                  <a:srgbClr val="5C3A21"/>
                </a:solidFill>
              </a:rPr>
              <a:t>Harness </a:t>
            </a:r>
            <a:r>
              <a:rPr lang="zh-CN" altLang="en-US" sz="1500" i="1" dirty="0">
                <a:solidFill>
                  <a:srgbClr val="5C3A21"/>
                </a:solidFill>
              </a:rPr>
              <a:t>任务编排外壳 </a:t>
            </a:r>
            <a:r>
              <a:rPr lang="en-US" altLang="zh-CN" sz="1500" i="1" dirty="0">
                <a:solidFill>
                  <a:srgbClr val="5C3A21"/>
                </a:solidFill>
              </a:rPr>
              <a:t>+ </a:t>
            </a:r>
            <a:r>
              <a:rPr lang="zh-CN" altLang="en-US" sz="1500" i="1" dirty="0">
                <a:solidFill>
                  <a:srgbClr val="5C3A21"/>
                </a:solidFill>
              </a:rPr>
              <a:t>五个关键模块，让机器人具备真实可交付的上岗能力</a:t>
            </a:r>
            <a:endParaRPr lang="en-US" sz="1500" i="1" dirty="0">
              <a:solidFill>
                <a:srgbClr val="5C3A21"/>
              </a:solidFill>
            </a:endParaRPr>
          </a:p>
        </p:txBody>
      </p:sp>
      <p:sp>
        <p:nvSpPr>
          <p:cNvPr id="7" name="Rectangle 6">
            <a:extLst>
              <a:ext uri="{FF2B5EF4-FFF2-40B4-BE49-F238E27FC236}">
                <a16:creationId xmlns:a16="http://schemas.microsoft.com/office/drawing/2014/main" id="{DB8804D6-CDB1-4E78-9560-90A4F8129F76}"/>
              </a:ext>
            </a:extLst>
          </p:cNvPr>
          <p:cNvSpPr/>
          <p:nvPr/>
        </p:nvSpPr>
        <p:spPr>
          <a:xfrm>
            <a:off x="1016000" y="2476500"/>
            <a:ext cx="3251200" cy="1841500"/>
          </a:xfrm>
          <a:prstGeom prst="rect">
            <a:avLst/>
          </a:prstGeom>
          <a:solidFill>
            <a:srgbClr val="EFE4D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Oval 7">
            <a:extLst>
              <a:ext uri="{FF2B5EF4-FFF2-40B4-BE49-F238E27FC236}">
                <a16:creationId xmlns:a16="http://schemas.microsoft.com/office/drawing/2014/main" id="{2CD1DBAE-C251-4A1F-B20B-C5AD91C14D4C}"/>
              </a:ext>
            </a:extLst>
          </p:cNvPr>
          <p:cNvSpPr/>
          <p:nvPr/>
        </p:nvSpPr>
        <p:spPr>
          <a:xfrm>
            <a:off x="1244600" y="2705100"/>
            <a:ext cx="406400" cy="406400"/>
          </a:xfrm>
          <a:prstGeom prst="ellipse">
            <a:avLst/>
          </a:prstGeom>
          <a:solidFill>
            <a:srgbClr val="C8553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200" b="1">
                <a:solidFill>
                  <a:srgbClr val="FFFFFF"/>
                </a:solidFill>
              </a:rPr>
              <a:t>01</a:t>
            </a:r>
          </a:p>
        </p:txBody>
      </p:sp>
      <p:sp>
        <p:nvSpPr>
          <p:cNvPr id="9" name="TextBox 8">
            <a:extLst>
              <a:ext uri="{FF2B5EF4-FFF2-40B4-BE49-F238E27FC236}">
                <a16:creationId xmlns:a16="http://schemas.microsoft.com/office/drawing/2014/main" id="{6298723F-EA33-4B0B-B045-1BB1FE1A94B4}"/>
              </a:ext>
            </a:extLst>
          </p:cNvPr>
          <p:cNvSpPr txBox="1"/>
          <p:nvPr/>
        </p:nvSpPr>
        <p:spPr>
          <a:xfrm>
            <a:off x="1244600" y="3238500"/>
            <a:ext cx="2794000" cy="381000"/>
          </a:xfrm>
          <a:prstGeom prst="rect">
            <a:avLst/>
          </a:prstGeom>
          <a:noFill/>
        </p:spPr>
        <p:txBody>
          <a:bodyPr vertOverflow="overflow" vert="horz" wrap="square" rtlCol="0" anchor="t">
            <a:noAutofit/>
          </a:bodyPr>
          <a:lstStyle/>
          <a:p>
            <a:pPr algn="l"/>
            <a:r>
              <a:rPr lang="en-US" sz="1600" b="1">
                <a:solidFill>
                  <a:srgbClr val="2B1810"/>
                </a:solidFill>
              </a:rPr>
              <a:t>Harness </a:t>
            </a:r>
            <a:r>
              <a:rPr lang="zh-CN" altLang="en-US" sz="1600" b="1">
                <a:solidFill>
                  <a:srgbClr val="2B1810"/>
                </a:solidFill>
              </a:rPr>
              <a:t>任务编排</a:t>
            </a:r>
            <a:endParaRPr lang="en-US" sz="1600" b="1">
              <a:solidFill>
                <a:srgbClr val="2B1810"/>
              </a:solidFill>
            </a:endParaRPr>
          </a:p>
        </p:txBody>
      </p:sp>
      <p:sp>
        <p:nvSpPr>
          <p:cNvPr id="10" name="TextBox 9">
            <a:extLst>
              <a:ext uri="{FF2B5EF4-FFF2-40B4-BE49-F238E27FC236}">
                <a16:creationId xmlns:a16="http://schemas.microsoft.com/office/drawing/2014/main" id="{3D5D98C4-F5FE-48BB-A8C1-5CEB59F59451}"/>
              </a:ext>
            </a:extLst>
          </p:cNvPr>
          <p:cNvSpPr txBox="1"/>
          <p:nvPr/>
        </p:nvSpPr>
        <p:spPr>
          <a:xfrm>
            <a:off x="1165873" y="3584340"/>
            <a:ext cx="3067008" cy="635000"/>
          </a:xfrm>
          <a:prstGeom prst="rect">
            <a:avLst/>
          </a:prstGeom>
          <a:noFill/>
        </p:spPr>
        <p:txBody>
          <a:bodyPr vertOverflow="overflow" vert="horz" wrap="square" rtlCol="0" anchor="t">
            <a:noAutofit/>
          </a:bodyPr>
          <a:lstStyle/>
          <a:p>
            <a:pPr algn="l"/>
            <a:r>
              <a:rPr lang="zh-CN" altLang="en-US" sz="1400" dirty="0">
                <a:solidFill>
                  <a:srgbClr val="5C3A21"/>
                </a:solidFill>
              </a:rPr>
              <a:t>把模型输出转成可执行、可追踪、可回滚的任务，结合</a:t>
            </a:r>
            <a:r>
              <a:rPr lang="en-US" altLang="zh-CN" sz="1400" dirty="0">
                <a:solidFill>
                  <a:srgbClr val="5C3A21"/>
                </a:solidFill>
              </a:rPr>
              <a:t>Swarm</a:t>
            </a:r>
            <a:r>
              <a:rPr lang="zh-CN" altLang="en-US" sz="1400" dirty="0">
                <a:solidFill>
                  <a:srgbClr val="5C3A21"/>
                </a:solidFill>
              </a:rPr>
              <a:t>层等</a:t>
            </a:r>
            <a:r>
              <a:rPr lang="en-US" altLang="zh-CN" sz="1400" dirty="0">
                <a:solidFill>
                  <a:srgbClr val="5C3A21"/>
                </a:solidFill>
              </a:rPr>
              <a:t>remote bridge, </a:t>
            </a:r>
            <a:r>
              <a:rPr lang="zh-CN" altLang="en-US" sz="1400" dirty="0">
                <a:solidFill>
                  <a:srgbClr val="5C3A21"/>
                </a:solidFill>
              </a:rPr>
              <a:t>实现批量调度和执行。</a:t>
            </a:r>
            <a:endParaRPr lang="en-US" sz="1400" dirty="0">
              <a:solidFill>
                <a:srgbClr val="5C3A21"/>
              </a:solidFill>
            </a:endParaRPr>
          </a:p>
        </p:txBody>
      </p:sp>
      <p:sp>
        <p:nvSpPr>
          <p:cNvPr id="11" name="Rectangle 10">
            <a:extLst>
              <a:ext uri="{FF2B5EF4-FFF2-40B4-BE49-F238E27FC236}">
                <a16:creationId xmlns:a16="http://schemas.microsoft.com/office/drawing/2014/main" id="{B8BCB95B-4498-4BBC-9E13-3482A13091F0}"/>
              </a:ext>
            </a:extLst>
          </p:cNvPr>
          <p:cNvSpPr/>
          <p:nvPr/>
        </p:nvSpPr>
        <p:spPr>
          <a:xfrm>
            <a:off x="4470400" y="2476500"/>
            <a:ext cx="3251200" cy="1841500"/>
          </a:xfrm>
          <a:prstGeom prst="rect">
            <a:avLst/>
          </a:prstGeom>
          <a:solidFill>
            <a:srgbClr val="EFE4D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Oval 11">
            <a:extLst>
              <a:ext uri="{FF2B5EF4-FFF2-40B4-BE49-F238E27FC236}">
                <a16:creationId xmlns:a16="http://schemas.microsoft.com/office/drawing/2014/main" id="{72C90B1D-D5B7-4B4C-9EFF-9D1D1C5F1605}"/>
              </a:ext>
            </a:extLst>
          </p:cNvPr>
          <p:cNvSpPr/>
          <p:nvPr/>
        </p:nvSpPr>
        <p:spPr>
          <a:xfrm>
            <a:off x="4699000" y="2705100"/>
            <a:ext cx="406400" cy="406400"/>
          </a:xfrm>
          <a:prstGeom prst="ellipse">
            <a:avLst/>
          </a:prstGeom>
          <a:solidFill>
            <a:srgbClr val="C8553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200" b="1">
                <a:solidFill>
                  <a:srgbClr val="FFFFFF"/>
                </a:solidFill>
              </a:rPr>
              <a:t>02</a:t>
            </a:r>
          </a:p>
        </p:txBody>
      </p:sp>
      <p:sp>
        <p:nvSpPr>
          <p:cNvPr id="13" name="TextBox 12">
            <a:extLst>
              <a:ext uri="{FF2B5EF4-FFF2-40B4-BE49-F238E27FC236}">
                <a16:creationId xmlns:a16="http://schemas.microsoft.com/office/drawing/2014/main" id="{1A167177-DF99-4238-9202-2C3D6E35F570}"/>
              </a:ext>
            </a:extLst>
          </p:cNvPr>
          <p:cNvSpPr txBox="1"/>
          <p:nvPr/>
        </p:nvSpPr>
        <p:spPr>
          <a:xfrm>
            <a:off x="4446009" y="3111500"/>
            <a:ext cx="3377191" cy="381000"/>
          </a:xfrm>
          <a:prstGeom prst="rect">
            <a:avLst/>
          </a:prstGeom>
          <a:noFill/>
        </p:spPr>
        <p:txBody>
          <a:bodyPr vertOverflow="overflow" vert="horz" wrap="square" rtlCol="0" anchor="t">
            <a:noAutofit/>
          </a:bodyPr>
          <a:lstStyle/>
          <a:p>
            <a:pPr algn="l"/>
            <a:r>
              <a:rPr lang="en-US" sz="1600" b="1" dirty="0">
                <a:solidFill>
                  <a:srgbClr val="2B1810"/>
                </a:solidFill>
              </a:rPr>
              <a:t>Scene </a:t>
            </a:r>
            <a:r>
              <a:rPr lang="en-US" sz="1600" b="1" dirty="0" err="1">
                <a:solidFill>
                  <a:srgbClr val="2B1810"/>
                </a:solidFill>
              </a:rPr>
              <a:t>Memory+S</a:t>
            </a:r>
            <a:r>
              <a:rPr lang="en-US" altLang="zh-CN" sz="1600" b="1" dirty="0" err="1">
                <a:solidFill>
                  <a:srgbClr val="2B1810"/>
                </a:solidFill>
              </a:rPr>
              <a:t>kills</a:t>
            </a:r>
            <a:r>
              <a:rPr lang="en-US" sz="1600" b="1" dirty="0">
                <a:solidFill>
                  <a:srgbClr val="2B1810"/>
                </a:solidFill>
              </a:rPr>
              <a:t> </a:t>
            </a:r>
            <a:r>
              <a:rPr lang="zh-CN" altLang="en-US" sz="1600" b="1" dirty="0">
                <a:solidFill>
                  <a:srgbClr val="2B1810"/>
                </a:solidFill>
              </a:rPr>
              <a:t>场景记忆</a:t>
            </a:r>
            <a:r>
              <a:rPr lang="en-US" altLang="zh-CN" sz="1600" b="1" dirty="0">
                <a:solidFill>
                  <a:srgbClr val="2B1810"/>
                </a:solidFill>
              </a:rPr>
              <a:t>+</a:t>
            </a:r>
            <a:r>
              <a:rPr lang="zh-CN" altLang="en-US" sz="1600" b="1" dirty="0">
                <a:solidFill>
                  <a:srgbClr val="2B1810"/>
                </a:solidFill>
              </a:rPr>
              <a:t>技能</a:t>
            </a:r>
            <a:endParaRPr lang="en-US" sz="1600" b="1" dirty="0">
              <a:solidFill>
                <a:srgbClr val="2B1810"/>
              </a:solidFill>
            </a:endParaRPr>
          </a:p>
        </p:txBody>
      </p:sp>
      <p:sp>
        <p:nvSpPr>
          <p:cNvPr id="14" name="TextBox 13">
            <a:extLst>
              <a:ext uri="{FF2B5EF4-FFF2-40B4-BE49-F238E27FC236}">
                <a16:creationId xmlns:a16="http://schemas.microsoft.com/office/drawing/2014/main" id="{979219B8-44C7-41B0-80E1-C37844F4763D}"/>
              </a:ext>
            </a:extLst>
          </p:cNvPr>
          <p:cNvSpPr txBox="1"/>
          <p:nvPr/>
        </p:nvSpPr>
        <p:spPr>
          <a:xfrm>
            <a:off x="4699000" y="3467100"/>
            <a:ext cx="2794000" cy="635000"/>
          </a:xfrm>
          <a:prstGeom prst="rect">
            <a:avLst/>
          </a:prstGeom>
          <a:noFill/>
        </p:spPr>
        <p:txBody>
          <a:bodyPr vertOverflow="overflow" vert="horz" wrap="square" rtlCol="0" anchor="t">
            <a:noAutofit/>
          </a:bodyPr>
          <a:lstStyle/>
          <a:p>
            <a:pPr algn="l"/>
            <a:r>
              <a:rPr lang="zh-CN" altLang="en-US" sz="1400" dirty="0">
                <a:solidFill>
                  <a:srgbClr val="5C3A21"/>
                </a:solidFill>
              </a:rPr>
              <a:t>开发可复用场景技能。</a:t>
            </a:r>
            <a:r>
              <a:rPr lang="en-US" altLang="zh-CN" sz="1400" dirty="0">
                <a:solidFill>
                  <a:srgbClr val="5C3A21"/>
                </a:solidFill>
              </a:rPr>
              <a:t>auto dream</a:t>
            </a:r>
            <a:r>
              <a:rPr lang="zh-CN" altLang="en-US" sz="1400" dirty="0">
                <a:solidFill>
                  <a:srgbClr val="5C3A21"/>
                </a:solidFill>
              </a:rPr>
              <a:t>，自动把多</a:t>
            </a:r>
            <a:r>
              <a:rPr lang="en-US" altLang="zh-CN" sz="1400" dirty="0">
                <a:solidFill>
                  <a:srgbClr val="5C3A21"/>
                </a:solidFill>
              </a:rPr>
              <a:t>agent</a:t>
            </a:r>
            <a:r>
              <a:rPr lang="zh-CN" altLang="en-US" sz="1400" dirty="0">
                <a:solidFill>
                  <a:srgbClr val="5C3A21"/>
                </a:solidFill>
              </a:rPr>
              <a:t>的每日工作精炼整理，实现自我提升</a:t>
            </a:r>
            <a:endParaRPr lang="en-US" sz="1400" dirty="0">
              <a:solidFill>
                <a:srgbClr val="5C3A21"/>
              </a:solidFill>
            </a:endParaRPr>
          </a:p>
        </p:txBody>
      </p:sp>
      <p:sp>
        <p:nvSpPr>
          <p:cNvPr id="15" name="Rectangle 14">
            <a:extLst>
              <a:ext uri="{FF2B5EF4-FFF2-40B4-BE49-F238E27FC236}">
                <a16:creationId xmlns:a16="http://schemas.microsoft.com/office/drawing/2014/main" id="{9014ACD6-74D7-4BDC-A6D0-4E4FAA13721E}"/>
              </a:ext>
            </a:extLst>
          </p:cNvPr>
          <p:cNvSpPr/>
          <p:nvPr/>
        </p:nvSpPr>
        <p:spPr>
          <a:xfrm>
            <a:off x="7924800" y="2476500"/>
            <a:ext cx="3251200" cy="1841500"/>
          </a:xfrm>
          <a:prstGeom prst="rect">
            <a:avLst/>
          </a:prstGeom>
          <a:solidFill>
            <a:srgbClr val="EFE4D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Oval 15">
            <a:extLst>
              <a:ext uri="{FF2B5EF4-FFF2-40B4-BE49-F238E27FC236}">
                <a16:creationId xmlns:a16="http://schemas.microsoft.com/office/drawing/2014/main" id="{648D0585-A667-421D-8654-3F5A35E8ABF8}"/>
              </a:ext>
            </a:extLst>
          </p:cNvPr>
          <p:cNvSpPr/>
          <p:nvPr/>
        </p:nvSpPr>
        <p:spPr>
          <a:xfrm>
            <a:off x="8153400" y="2705100"/>
            <a:ext cx="406400" cy="406400"/>
          </a:xfrm>
          <a:prstGeom prst="ellipse">
            <a:avLst/>
          </a:prstGeom>
          <a:solidFill>
            <a:srgbClr val="C8553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200" b="1">
                <a:solidFill>
                  <a:srgbClr val="FFFFFF"/>
                </a:solidFill>
              </a:rPr>
              <a:t>03</a:t>
            </a:r>
          </a:p>
        </p:txBody>
      </p:sp>
      <p:sp>
        <p:nvSpPr>
          <p:cNvPr id="17" name="TextBox 16">
            <a:extLst>
              <a:ext uri="{FF2B5EF4-FFF2-40B4-BE49-F238E27FC236}">
                <a16:creationId xmlns:a16="http://schemas.microsoft.com/office/drawing/2014/main" id="{C0877E36-A7F4-49F9-9DBA-F94116DE3959}"/>
              </a:ext>
            </a:extLst>
          </p:cNvPr>
          <p:cNvSpPr txBox="1"/>
          <p:nvPr/>
        </p:nvSpPr>
        <p:spPr>
          <a:xfrm>
            <a:off x="8153400" y="3238500"/>
            <a:ext cx="2794000" cy="381000"/>
          </a:xfrm>
          <a:prstGeom prst="rect">
            <a:avLst/>
          </a:prstGeom>
          <a:noFill/>
        </p:spPr>
        <p:txBody>
          <a:bodyPr vertOverflow="overflow" vert="horz" wrap="square" rtlCol="0" anchor="t">
            <a:noAutofit/>
          </a:bodyPr>
          <a:lstStyle/>
          <a:p>
            <a:pPr algn="l"/>
            <a:r>
              <a:rPr lang="en-US" sz="1600" b="1">
                <a:solidFill>
                  <a:srgbClr val="2B1810"/>
                </a:solidFill>
              </a:rPr>
              <a:t>Multi-Agent </a:t>
            </a:r>
            <a:r>
              <a:rPr lang="zh-CN" altLang="en-US" sz="1600" b="1">
                <a:solidFill>
                  <a:srgbClr val="2B1810"/>
                </a:solidFill>
              </a:rPr>
              <a:t>协作</a:t>
            </a:r>
            <a:endParaRPr lang="en-US" sz="1600" b="1">
              <a:solidFill>
                <a:srgbClr val="2B1810"/>
              </a:solidFill>
            </a:endParaRPr>
          </a:p>
        </p:txBody>
      </p:sp>
      <p:sp>
        <p:nvSpPr>
          <p:cNvPr id="18" name="TextBox 17">
            <a:extLst>
              <a:ext uri="{FF2B5EF4-FFF2-40B4-BE49-F238E27FC236}">
                <a16:creationId xmlns:a16="http://schemas.microsoft.com/office/drawing/2014/main" id="{D0490740-6E66-4C01-AB31-212C5D5B48C9}"/>
              </a:ext>
            </a:extLst>
          </p:cNvPr>
          <p:cNvSpPr txBox="1"/>
          <p:nvPr/>
        </p:nvSpPr>
        <p:spPr>
          <a:xfrm>
            <a:off x="8153400" y="3517900"/>
            <a:ext cx="2794000" cy="635000"/>
          </a:xfrm>
          <a:prstGeom prst="rect">
            <a:avLst/>
          </a:prstGeom>
          <a:noFill/>
        </p:spPr>
        <p:txBody>
          <a:bodyPr vertOverflow="overflow" vert="horz" wrap="square" rtlCol="0" anchor="t">
            <a:noAutofit/>
          </a:bodyPr>
          <a:lstStyle/>
          <a:p>
            <a:pPr algn="l"/>
            <a:r>
              <a:rPr lang="zh-CN" altLang="en-US" sz="1400" dirty="0">
                <a:solidFill>
                  <a:srgbClr val="5C3A21"/>
                </a:solidFill>
              </a:rPr>
              <a:t>感知</a:t>
            </a:r>
            <a:r>
              <a:rPr lang="en-US" altLang="zh-CN" sz="1400" dirty="0">
                <a:solidFill>
                  <a:srgbClr val="5C3A21"/>
                </a:solidFill>
              </a:rPr>
              <a:t>/</a:t>
            </a:r>
            <a:r>
              <a:rPr lang="zh-CN" altLang="en-US" sz="1400" dirty="0">
                <a:solidFill>
                  <a:srgbClr val="5C3A21"/>
                </a:solidFill>
              </a:rPr>
              <a:t>计划</a:t>
            </a:r>
            <a:r>
              <a:rPr lang="en-US" altLang="zh-CN" sz="1400" dirty="0">
                <a:solidFill>
                  <a:srgbClr val="5C3A21"/>
                </a:solidFill>
              </a:rPr>
              <a:t>/</a:t>
            </a:r>
            <a:r>
              <a:rPr lang="zh-CN" altLang="en-US" sz="1400" dirty="0">
                <a:solidFill>
                  <a:srgbClr val="5C3A21"/>
                </a:solidFill>
              </a:rPr>
              <a:t>安全</a:t>
            </a:r>
            <a:r>
              <a:rPr lang="en-US" altLang="zh-CN" sz="1400" dirty="0">
                <a:solidFill>
                  <a:srgbClr val="5C3A21"/>
                </a:solidFill>
              </a:rPr>
              <a:t>/</a:t>
            </a:r>
            <a:r>
              <a:rPr lang="zh-CN" altLang="en-US" sz="1400" dirty="0">
                <a:solidFill>
                  <a:srgbClr val="5C3A21"/>
                </a:solidFill>
              </a:rPr>
              <a:t>工具</a:t>
            </a:r>
            <a:r>
              <a:rPr lang="en-US" altLang="zh-CN" sz="1400" dirty="0">
                <a:solidFill>
                  <a:srgbClr val="5C3A21"/>
                </a:solidFill>
              </a:rPr>
              <a:t>/</a:t>
            </a:r>
            <a:r>
              <a:rPr lang="zh-CN" altLang="en-US" sz="1400" dirty="0">
                <a:solidFill>
                  <a:srgbClr val="5C3A21"/>
                </a:solidFill>
              </a:rPr>
              <a:t>对话</a:t>
            </a:r>
            <a:r>
              <a:rPr lang="en-US" altLang="zh-CN" sz="1400" dirty="0">
                <a:solidFill>
                  <a:srgbClr val="5C3A21"/>
                </a:solidFill>
              </a:rPr>
              <a:t>/</a:t>
            </a:r>
            <a:r>
              <a:rPr lang="zh-CN" altLang="en-US" sz="1400" dirty="0">
                <a:solidFill>
                  <a:srgbClr val="5C3A21"/>
                </a:solidFill>
              </a:rPr>
              <a:t>审计并行分工，解决单模型脆弱、难审核的问题。</a:t>
            </a:r>
            <a:endParaRPr lang="en-US" sz="1400" dirty="0">
              <a:solidFill>
                <a:srgbClr val="5C3A21"/>
              </a:solidFill>
            </a:endParaRPr>
          </a:p>
        </p:txBody>
      </p:sp>
      <p:sp>
        <p:nvSpPr>
          <p:cNvPr id="19" name="Rectangle 18">
            <a:extLst>
              <a:ext uri="{FF2B5EF4-FFF2-40B4-BE49-F238E27FC236}">
                <a16:creationId xmlns:a16="http://schemas.microsoft.com/office/drawing/2014/main" id="{66CCBC83-62F8-4403-B382-50DB1197AF15}"/>
              </a:ext>
            </a:extLst>
          </p:cNvPr>
          <p:cNvSpPr/>
          <p:nvPr/>
        </p:nvSpPr>
        <p:spPr>
          <a:xfrm>
            <a:off x="1016000" y="4521200"/>
            <a:ext cx="3251200" cy="1841500"/>
          </a:xfrm>
          <a:prstGeom prst="rect">
            <a:avLst/>
          </a:prstGeom>
          <a:solidFill>
            <a:srgbClr val="EFE4D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0" name="Oval 19">
            <a:extLst>
              <a:ext uri="{FF2B5EF4-FFF2-40B4-BE49-F238E27FC236}">
                <a16:creationId xmlns:a16="http://schemas.microsoft.com/office/drawing/2014/main" id="{32B2AD1C-7BC0-480C-BFE1-A81FA942A31E}"/>
              </a:ext>
            </a:extLst>
          </p:cNvPr>
          <p:cNvSpPr/>
          <p:nvPr/>
        </p:nvSpPr>
        <p:spPr>
          <a:xfrm>
            <a:off x="1244600" y="4749800"/>
            <a:ext cx="406400" cy="406400"/>
          </a:xfrm>
          <a:prstGeom prst="ellipse">
            <a:avLst/>
          </a:prstGeom>
          <a:solidFill>
            <a:srgbClr val="C8553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200" b="1">
                <a:solidFill>
                  <a:srgbClr val="FFFFFF"/>
                </a:solidFill>
              </a:rPr>
              <a:t>04</a:t>
            </a:r>
          </a:p>
        </p:txBody>
      </p:sp>
      <p:sp>
        <p:nvSpPr>
          <p:cNvPr id="21" name="TextBox 20">
            <a:extLst>
              <a:ext uri="{FF2B5EF4-FFF2-40B4-BE49-F238E27FC236}">
                <a16:creationId xmlns:a16="http://schemas.microsoft.com/office/drawing/2014/main" id="{CA090210-5DE1-4DDE-BF34-8FB664AE35A2}"/>
              </a:ext>
            </a:extLst>
          </p:cNvPr>
          <p:cNvSpPr txBox="1"/>
          <p:nvPr/>
        </p:nvSpPr>
        <p:spPr>
          <a:xfrm>
            <a:off x="1244600" y="5283200"/>
            <a:ext cx="2794000" cy="381000"/>
          </a:xfrm>
          <a:prstGeom prst="rect">
            <a:avLst/>
          </a:prstGeom>
          <a:noFill/>
        </p:spPr>
        <p:txBody>
          <a:bodyPr vertOverflow="overflow" vert="horz" wrap="square" rtlCol="0" anchor="t">
            <a:noAutofit/>
          </a:bodyPr>
          <a:lstStyle/>
          <a:p>
            <a:pPr algn="l"/>
            <a:r>
              <a:rPr lang="en-US" sz="1600" b="1" dirty="0">
                <a:solidFill>
                  <a:srgbClr val="2B1810"/>
                </a:solidFill>
              </a:rPr>
              <a:t>Realtime </a:t>
            </a:r>
            <a:r>
              <a:rPr lang="zh-CN" altLang="en-US" sz="1600" b="1" dirty="0">
                <a:solidFill>
                  <a:srgbClr val="2B1810"/>
                </a:solidFill>
              </a:rPr>
              <a:t>实时语音</a:t>
            </a:r>
            <a:endParaRPr lang="en-US" sz="1600" b="1" dirty="0">
              <a:solidFill>
                <a:srgbClr val="2B1810"/>
              </a:solidFill>
            </a:endParaRPr>
          </a:p>
        </p:txBody>
      </p:sp>
      <p:sp>
        <p:nvSpPr>
          <p:cNvPr id="22" name="TextBox 21">
            <a:extLst>
              <a:ext uri="{FF2B5EF4-FFF2-40B4-BE49-F238E27FC236}">
                <a16:creationId xmlns:a16="http://schemas.microsoft.com/office/drawing/2014/main" id="{221624B0-14E7-4479-A159-F0DBB6C0C78C}"/>
              </a:ext>
            </a:extLst>
          </p:cNvPr>
          <p:cNvSpPr txBox="1"/>
          <p:nvPr/>
        </p:nvSpPr>
        <p:spPr>
          <a:xfrm>
            <a:off x="1244600" y="5629040"/>
            <a:ext cx="2794000" cy="635000"/>
          </a:xfrm>
          <a:prstGeom prst="rect">
            <a:avLst/>
          </a:prstGeom>
          <a:noFill/>
        </p:spPr>
        <p:txBody>
          <a:bodyPr vertOverflow="overflow" vert="horz" wrap="square" rtlCol="0" anchor="t">
            <a:noAutofit/>
          </a:bodyPr>
          <a:lstStyle/>
          <a:p>
            <a:pPr algn="l"/>
            <a:r>
              <a:rPr lang="zh-CN" altLang="en-US" sz="1400" dirty="0">
                <a:solidFill>
                  <a:srgbClr val="5C3A21"/>
                </a:solidFill>
              </a:rPr>
              <a:t>低延迟、可打断、可工具调用的对话，未来升级视觉</a:t>
            </a:r>
            <a:r>
              <a:rPr lang="en-US" altLang="zh-CN" sz="1400" dirty="0">
                <a:solidFill>
                  <a:srgbClr val="5C3A21"/>
                </a:solidFill>
              </a:rPr>
              <a:t>Realtime</a:t>
            </a:r>
            <a:r>
              <a:rPr lang="zh-CN" altLang="en-US" sz="1400" dirty="0">
                <a:solidFill>
                  <a:srgbClr val="5C3A21"/>
                </a:solidFill>
              </a:rPr>
              <a:t>模型，处理任务更精确。</a:t>
            </a:r>
            <a:endParaRPr lang="en-US" sz="1400" dirty="0">
              <a:solidFill>
                <a:srgbClr val="5C3A21"/>
              </a:solidFill>
            </a:endParaRPr>
          </a:p>
        </p:txBody>
      </p:sp>
      <p:sp>
        <p:nvSpPr>
          <p:cNvPr id="23" name="Rectangle 22">
            <a:extLst>
              <a:ext uri="{FF2B5EF4-FFF2-40B4-BE49-F238E27FC236}">
                <a16:creationId xmlns:a16="http://schemas.microsoft.com/office/drawing/2014/main" id="{8A1E747B-7C35-4C37-A7CA-6B21A1A458F4}"/>
              </a:ext>
            </a:extLst>
          </p:cNvPr>
          <p:cNvSpPr/>
          <p:nvPr/>
        </p:nvSpPr>
        <p:spPr>
          <a:xfrm>
            <a:off x="4470400" y="4521200"/>
            <a:ext cx="3251200" cy="1841500"/>
          </a:xfrm>
          <a:prstGeom prst="rect">
            <a:avLst/>
          </a:prstGeom>
          <a:solidFill>
            <a:srgbClr val="EFE4D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4" name="Oval 23">
            <a:extLst>
              <a:ext uri="{FF2B5EF4-FFF2-40B4-BE49-F238E27FC236}">
                <a16:creationId xmlns:a16="http://schemas.microsoft.com/office/drawing/2014/main" id="{EA987BF4-AF8D-4A97-8627-31D8A7CFA5E1}"/>
              </a:ext>
            </a:extLst>
          </p:cNvPr>
          <p:cNvSpPr/>
          <p:nvPr/>
        </p:nvSpPr>
        <p:spPr>
          <a:xfrm>
            <a:off x="4699000" y="4749800"/>
            <a:ext cx="406400" cy="406400"/>
          </a:xfrm>
          <a:prstGeom prst="ellipse">
            <a:avLst/>
          </a:prstGeom>
          <a:solidFill>
            <a:srgbClr val="C8553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200" b="1">
                <a:solidFill>
                  <a:srgbClr val="FFFFFF"/>
                </a:solidFill>
              </a:rPr>
              <a:t>05</a:t>
            </a:r>
          </a:p>
        </p:txBody>
      </p:sp>
      <p:sp>
        <p:nvSpPr>
          <p:cNvPr id="25" name="TextBox 24">
            <a:extLst>
              <a:ext uri="{FF2B5EF4-FFF2-40B4-BE49-F238E27FC236}">
                <a16:creationId xmlns:a16="http://schemas.microsoft.com/office/drawing/2014/main" id="{81F6D229-5523-4E89-854D-2FE248305961}"/>
              </a:ext>
            </a:extLst>
          </p:cNvPr>
          <p:cNvSpPr txBox="1"/>
          <p:nvPr/>
        </p:nvSpPr>
        <p:spPr>
          <a:xfrm>
            <a:off x="4699000" y="5283200"/>
            <a:ext cx="2794000" cy="381000"/>
          </a:xfrm>
          <a:prstGeom prst="rect">
            <a:avLst/>
          </a:prstGeom>
          <a:noFill/>
        </p:spPr>
        <p:txBody>
          <a:bodyPr vertOverflow="overflow" vert="horz" wrap="square" rtlCol="0" anchor="t">
            <a:noAutofit/>
          </a:bodyPr>
          <a:lstStyle/>
          <a:p>
            <a:pPr algn="l"/>
            <a:r>
              <a:rPr lang="en-US" sz="1600" b="1">
                <a:solidFill>
                  <a:srgbClr val="2B1810"/>
                </a:solidFill>
              </a:rPr>
              <a:t>MCP </a:t>
            </a:r>
            <a:r>
              <a:rPr lang="zh-CN" altLang="en-US" sz="1600" b="1">
                <a:solidFill>
                  <a:srgbClr val="2B1810"/>
                </a:solidFill>
              </a:rPr>
              <a:t>企业连接器</a:t>
            </a:r>
            <a:endParaRPr lang="en-US" sz="1600" b="1">
              <a:solidFill>
                <a:srgbClr val="2B1810"/>
              </a:solidFill>
            </a:endParaRPr>
          </a:p>
        </p:txBody>
      </p:sp>
      <p:sp>
        <p:nvSpPr>
          <p:cNvPr id="26" name="TextBox 25">
            <a:extLst>
              <a:ext uri="{FF2B5EF4-FFF2-40B4-BE49-F238E27FC236}">
                <a16:creationId xmlns:a16="http://schemas.microsoft.com/office/drawing/2014/main" id="{0D688C95-14DA-48AC-AEC7-F0FAAB75D514}"/>
              </a:ext>
            </a:extLst>
          </p:cNvPr>
          <p:cNvSpPr txBox="1"/>
          <p:nvPr/>
        </p:nvSpPr>
        <p:spPr>
          <a:xfrm>
            <a:off x="4699000" y="5689600"/>
            <a:ext cx="2794000" cy="635000"/>
          </a:xfrm>
          <a:prstGeom prst="rect">
            <a:avLst/>
          </a:prstGeom>
          <a:noFill/>
        </p:spPr>
        <p:txBody>
          <a:bodyPr vertOverflow="overflow" vert="horz" wrap="square" rtlCol="0" anchor="t">
            <a:noAutofit/>
          </a:bodyPr>
          <a:lstStyle/>
          <a:p>
            <a:pPr algn="l"/>
            <a:r>
              <a:rPr lang="zh-CN" altLang="en-US" sz="1400">
                <a:solidFill>
                  <a:srgbClr val="5C3A21"/>
                </a:solidFill>
              </a:rPr>
              <a:t>接入工单、地图、数据库、</a:t>
            </a:r>
            <a:r>
              <a:rPr lang="en-US" altLang="zh-CN" sz="1400">
                <a:solidFill>
                  <a:srgbClr val="5C3A21"/>
                </a:solidFill>
              </a:rPr>
              <a:t>IoT</a:t>
            </a:r>
            <a:r>
              <a:rPr lang="zh-CN" altLang="en-US" sz="1400">
                <a:solidFill>
                  <a:srgbClr val="5C3A21"/>
                </a:solidFill>
              </a:rPr>
              <a:t>、知识库</a:t>
            </a:r>
            <a:endParaRPr lang="en-US" sz="1400">
              <a:solidFill>
                <a:srgbClr val="5C3A21"/>
              </a:solidFill>
            </a:endParaRPr>
          </a:p>
        </p:txBody>
      </p:sp>
      <p:sp>
        <p:nvSpPr>
          <p:cNvPr id="27" name="Rectangle 26">
            <a:extLst>
              <a:ext uri="{FF2B5EF4-FFF2-40B4-BE49-F238E27FC236}">
                <a16:creationId xmlns:a16="http://schemas.microsoft.com/office/drawing/2014/main" id="{CD588EE3-0A37-4EB4-B1AC-E593A9EBF209}"/>
              </a:ext>
            </a:extLst>
          </p:cNvPr>
          <p:cNvSpPr/>
          <p:nvPr/>
        </p:nvSpPr>
        <p:spPr>
          <a:xfrm>
            <a:off x="7924800" y="4521200"/>
            <a:ext cx="3251200" cy="1841500"/>
          </a:xfrm>
          <a:prstGeom prst="rect">
            <a:avLst/>
          </a:prstGeom>
          <a:solidFill>
            <a:srgbClr val="EFE4D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8" name="Oval 27">
            <a:extLst>
              <a:ext uri="{FF2B5EF4-FFF2-40B4-BE49-F238E27FC236}">
                <a16:creationId xmlns:a16="http://schemas.microsoft.com/office/drawing/2014/main" id="{7504B6E0-218D-413E-8EAD-31BA66970940}"/>
              </a:ext>
            </a:extLst>
          </p:cNvPr>
          <p:cNvSpPr/>
          <p:nvPr/>
        </p:nvSpPr>
        <p:spPr>
          <a:xfrm>
            <a:off x="8153400" y="4749800"/>
            <a:ext cx="406400" cy="406400"/>
          </a:xfrm>
          <a:prstGeom prst="ellipse">
            <a:avLst/>
          </a:prstGeom>
          <a:solidFill>
            <a:srgbClr val="C8553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200" b="1">
                <a:solidFill>
                  <a:srgbClr val="FFFFFF"/>
                </a:solidFill>
              </a:rPr>
              <a:t>06</a:t>
            </a:r>
          </a:p>
        </p:txBody>
      </p:sp>
      <p:sp>
        <p:nvSpPr>
          <p:cNvPr id="29" name="TextBox 28">
            <a:extLst>
              <a:ext uri="{FF2B5EF4-FFF2-40B4-BE49-F238E27FC236}">
                <a16:creationId xmlns:a16="http://schemas.microsoft.com/office/drawing/2014/main" id="{8A01C375-8BC9-4DDE-A785-094A0CDB84E2}"/>
              </a:ext>
            </a:extLst>
          </p:cNvPr>
          <p:cNvSpPr txBox="1"/>
          <p:nvPr/>
        </p:nvSpPr>
        <p:spPr>
          <a:xfrm>
            <a:off x="8153400" y="5283200"/>
            <a:ext cx="2794000" cy="381000"/>
          </a:xfrm>
          <a:prstGeom prst="rect">
            <a:avLst/>
          </a:prstGeom>
          <a:noFill/>
        </p:spPr>
        <p:txBody>
          <a:bodyPr vertOverflow="overflow" vert="horz" wrap="square" rtlCol="0" anchor="t">
            <a:noAutofit/>
          </a:bodyPr>
          <a:lstStyle/>
          <a:p>
            <a:pPr algn="l"/>
            <a:r>
              <a:rPr lang="en-US" sz="1600" b="1">
                <a:solidFill>
                  <a:srgbClr val="2B1810"/>
                </a:solidFill>
              </a:rPr>
              <a:t>Safety + Trace</a:t>
            </a:r>
          </a:p>
        </p:txBody>
      </p:sp>
      <p:sp>
        <p:nvSpPr>
          <p:cNvPr id="30" name="TextBox 29">
            <a:extLst>
              <a:ext uri="{FF2B5EF4-FFF2-40B4-BE49-F238E27FC236}">
                <a16:creationId xmlns:a16="http://schemas.microsoft.com/office/drawing/2014/main" id="{4C3787C9-C991-454C-ADC4-C24C6C0AA21A}"/>
              </a:ext>
            </a:extLst>
          </p:cNvPr>
          <p:cNvSpPr txBox="1"/>
          <p:nvPr/>
        </p:nvSpPr>
        <p:spPr>
          <a:xfrm>
            <a:off x="8153400" y="5689600"/>
            <a:ext cx="2794000" cy="635000"/>
          </a:xfrm>
          <a:prstGeom prst="rect">
            <a:avLst/>
          </a:prstGeom>
          <a:noFill/>
        </p:spPr>
        <p:txBody>
          <a:bodyPr vertOverflow="overflow" vert="horz" wrap="square" rtlCol="0" anchor="t">
            <a:noAutofit/>
          </a:bodyPr>
          <a:lstStyle/>
          <a:p>
            <a:pPr algn="l"/>
            <a:r>
              <a:rPr lang="zh-CN" altLang="en-US" sz="1400">
                <a:solidFill>
                  <a:srgbClr val="5C3A21"/>
                </a:solidFill>
              </a:rPr>
              <a:t>规则、安全门、审计日志、可回放</a:t>
            </a:r>
            <a:endParaRPr lang="en-US" sz="1400">
              <a:solidFill>
                <a:srgbClr val="5C3A21"/>
              </a:solidFill>
            </a:endParaRPr>
          </a:p>
        </p:txBody>
      </p:sp>
      <p:sp>
        <p:nvSpPr>
          <p:cNvPr id="32" name="TextBox 31">
            <a:extLst>
              <a:ext uri="{FF2B5EF4-FFF2-40B4-BE49-F238E27FC236}">
                <a16:creationId xmlns:a16="http://schemas.microsoft.com/office/drawing/2014/main" id="{EA0349D0-EE17-44D6-89D6-2997F5A62A0B}"/>
              </a:ext>
            </a:extLst>
          </p:cNvPr>
          <p:cNvSpPr txBox="1"/>
          <p:nvPr/>
        </p:nvSpPr>
        <p:spPr>
          <a:xfrm>
            <a:off x="10414000" y="6324600"/>
            <a:ext cx="1016000" cy="254000"/>
          </a:xfrm>
          <a:prstGeom prst="rect">
            <a:avLst/>
          </a:prstGeom>
          <a:noFill/>
        </p:spPr>
        <p:txBody>
          <a:bodyPr vertOverflow="overflow" vert="horz" wrap="square" rtlCol="0" anchor="t">
            <a:noAutofit/>
          </a:bodyPr>
          <a:lstStyle/>
          <a:p>
            <a:pPr algn="l"/>
            <a:r>
              <a:rPr lang="en-US" sz="1100">
                <a:solidFill>
                  <a:srgbClr val="8B6F47"/>
                </a:solidFill>
              </a:rPr>
              <a:t>03 / 08</a:t>
            </a:r>
          </a:p>
        </p:txBody>
      </p:sp>
    </p:spTree>
    <p:extLst>
      <p:ext uri="{BB962C8B-B14F-4D97-AF65-F5344CB8AC3E}">
        <p14:creationId xmlns:p14="http://schemas.microsoft.com/office/powerpoint/2010/main" val="8438870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47AB975-5916-49D9-A3E8-3AF062F9B34F}"/>
              </a:ext>
            </a:extLst>
          </p:cNvPr>
          <p:cNvSpPr/>
          <p:nvPr/>
        </p:nvSpPr>
        <p:spPr>
          <a:xfrm>
            <a:off x="1016000" y="635000"/>
            <a:ext cx="508000" cy="38100"/>
          </a:xfrm>
          <a:prstGeom prst="rect">
            <a:avLst/>
          </a:prstGeom>
          <a:solidFill>
            <a:srgbClr val="C8553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2590080C-7626-4A45-864C-37A87E78CB0D}"/>
              </a:ext>
            </a:extLst>
          </p:cNvPr>
          <p:cNvSpPr txBox="1"/>
          <p:nvPr/>
        </p:nvSpPr>
        <p:spPr>
          <a:xfrm>
            <a:off x="1016000" y="787400"/>
            <a:ext cx="5080000" cy="254000"/>
          </a:xfrm>
          <a:prstGeom prst="rect">
            <a:avLst/>
          </a:prstGeom>
          <a:noFill/>
        </p:spPr>
        <p:txBody>
          <a:bodyPr vertOverflow="overflow" vert="horz" wrap="square" rtlCol="0" anchor="t">
            <a:noAutofit/>
          </a:bodyPr>
          <a:lstStyle/>
          <a:p>
            <a:pPr algn="l"/>
            <a:r>
              <a:rPr lang="pt-BR" sz="1200" b="1" dirty="0">
                <a:solidFill>
                  <a:srgbClr val="C8553D"/>
                </a:solidFill>
              </a:rPr>
              <a:t>0 4   ·   </a:t>
            </a:r>
            <a:r>
              <a:rPr lang="zh-CN" altLang="en-US" sz="1200" b="1" dirty="0">
                <a:solidFill>
                  <a:srgbClr val="C8553D"/>
                </a:solidFill>
              </a:rPr>
              <a:t>架 构 展 示</a:t>
            </a:r>
            <a:endParaRPr lang="en-US" sz="1200" b="1" dirty="0">
              <a:solidFill>
                <a:srgbClr val="C8553D"/>
              </a:solidFill>
            </a:endParaRPr>
          </a:p>
        </p:txBody>
      </p:sp>
      <p:sp>
        <p:nvSpPr>
          <p:cNvPr id="5" name="TextBox 4">
            <a:extLst>
              <a:ext uri="{FF2B5EF4-FFF2-40B4-BE49-F238E27FC236}">
                <a16:creationId xmlns:a16="http://schemas.microsoft.com/office/drawing/2014/main" id="{5F29690F-8082-44C8-B329-EEEF30C066FF}"/>
              </a:ext>
            </a:extLst>
          </p:cNvPr>
          <p:cNvSpPr txBox="1"/>
          <p:nvPr/>
        </p:nvSpPr>
        <p:spPr>
          <a:xfrm>
            <a:off x="1016000" y="1143000"/>
            <a:ext cx="10414000" cy="635000"/>
          </a:xfrm>
          <a:prstGeom prst="rect">
            <a:avLst/>
          </a:prstGeom>
          <a:noFill/>
        </p:spPr>
        <p:txBody>
          <a:bodyPr vertOverflow="overflow" vert="horz" wrap="square" rtlCol="0" anchor="t">
            <a:noAutofit/>
          </a:bodyPr>
          <a:lstStyle/>
          <a:p>
            <a:pPr algn="l"/>
            <a:r>
              <a:rPr lang="zh-CN" altLang="en-US" sz="2800" b="1" dirty="0">
                <a:solidFill>
                  <a:srgbClr val="2B1810"/>
                </a:solidFill>
              </a:rPr>
              <a:t>即插即用的：</a:t>
            </a:r>
            <a:br>
              <a:rPr lang="en-US" altLang="zh-CN" sz="2800" b="1" dirty="0">
                <a:solidFill>
                  <a:srgbClr val="2B1810"/>
                </a:solidFill>
              </a:rPr>
            </a:br>
            <a:r>
              <a:rPr lang="zh-CN" altLang="en-US" sz="2800" b="1" dirty="0">
                <a:solidFill>
                  <a:srgbClr val="2B1810"/>
                </a:solidFill>
              </a:rPr>
              <a:t>快脑 </a:t>
            </a:r>
            <a:r>
              <a:rPr lang="en-US" altLang="zh-CN" sz="2800" b="1" dirty="0">
                <a:solidFill>
                  <a:srgbClr val="2B1810"/>
                </a:solidFill>
              </a:rPr>
              <a:t>+ </a:t>
            </a:r>
            <a:r>
              <a:rPr lang="zh-CN" altLang="en-US" sz="2800" b="1" dirty="0">
                <a:solidFill>
                  <a:srgbClr val="2B1810"/>
                </a:solidFill>
              </a:rPr>
              <a:t>慢脑 </a:t>
            </a:r>
            <a:r>
              <a:rPr lang="en-US" altLang="zh-CN" sz="2800" b="1" dirty="0">
                <a:solidFill>
                  <a:srgbClr val="2B1810"/>
                </a:solidFill>
              </a:rPr>
              <a:t>+ </a:t>
            </a:r>
            <a:r>
              <a:rPr lang="zh-CN" altLang="en-US" sz="2800" b="1" dirty="0">
                <a:solidFill>
                  <a:srgbClr val="2B1810"/>
                </a:solidFill>
              </a:rPr>
              <a:t>安全网关：可运行、可审计的任务 </a:t>
            </a:r>
            <a:r>
              <a:rPr lang="en-US" altLang="zh-CN" sz="2800" b="1" dirty="0">
                <a:solidFill>
                  <a:srgbClr val="2B1810"/>
                </a:solidFill>
              </a:rPr>
              <a:t>Runtime</a:t>
            </a:r>
            <a:endParaRPr lang="en-US" sz="2800" b="1" dirty="0">
              <a:solidFill>
                <a:srgbClr val="2B1810"/>
              </a:solidFill>
            </a:endParaRPr>
          </a:p>
        </p:txBody>
      </p:sp>
      <p:sp>
        <p:nvSpPr>
          <p:cNvPr id="17" name="Rectangle 16">
            <a:extLst>
              <a:ext uri="{FF2B5EF4-FFF2-40B4-BE49-F238E27FC236}">
                <a16:creationId xmlns:a16="http://schemas.microsoft.com/office/drawing/2014/main" id="{E746F2D4-5C2B-4093-A341-C1BA442199B2}"/>
              </a:ext>
            </a:extLst>
          </p:cNvPr>
          <p:cNvSpPr/>
          <p:nvPr/>
        </p:nvSpPr>
        <p:spPr>
          <a:xfrm>
            <a:off x="9652000" y="2222500"/>
            <a:ext cx="2032000" cy="3683000"/>
          </a:xfrm>
          <a:prstGeom prst="rect">
            <a:avLst/>
          </a:prstGeom>
          <a:solidFill>
            <a:srgbClr val="EFE4D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TextBox 17">
            <a:extLst>
              <a:ext uri="{FF2B5EF4-FFF2-40B4-BE49-F238E27FC236}">
                <a16:creationId xmlns:a16="http://schemas.microsoft.com/office/drawing/2014/main" id="{62C5F64F-EDED-45B9-98B6-BA178972DCCA}"/>
              </a:ext>
            </a:extLst>
          </p:cNvPr>
          <p:cNvSpPr txBox="1"/>
          <p:nvPr/>
        </p:nvSpPr>
        <p:spPr>
          <a:xfrm>
            <a:off x="9829800" y="2425700"/>
            <a:ext cx="1676400" cy="279400"/>
          </a:xfrm>
          <a:prstGeom prst="rect">
            <a:avLst/>
          </a:prstGeom>
          <a:noFill/>
        </p:spPr>
        <p:txBody>
          <a:bodyPr vertOverflow="overflow" vert="horz" wrap="square" rtlCol="0" anchor="t">
            <a:noAutofit/>
          </a:bodyPr>
          <a:lstStyle/>
          <a:p>
            <a:pPr algn="l"/>
            <a:r>
              <a:rPr lang="zh-CN" altLang="en-US" sz="1300" b="1">
                <a:solidFill>
                  <a:srgbClr val="C8553D"/>
                </a:solidFill>
              </a:rPr>
              <a:t>关键约束</a:t>
            </a:r>
            <a:endParaRPr lang="en-US" sz="1300" b="1">
              <a:solidFill>
                <a:srgbClr val="C8553D"/>
              </a:solidFill>
            </a:endParaRPr>
          </a:p>
        </p:txBody>
      </p:sp>
      <p:sp>
        <p:nvSpPr>
          <p:cNvPr id="19" name="TextBox 18">
            <a:extLst>
              <a:ext uri="{FF2B5EF4-FFF2-40B4-BE49-F238E27FC236}">
                <a16:creationId xmlns:a16="http://schemas.microsoft.com/office/drawing/2014/main" id="{AA151605-287B-433E-8356-ADCE864444A2}"/>
              </a:ext>
            </a:extLst>
          </p:cNvPr>
          <p:cNvSpPr txBox="1"/>
          <p:nvPr/>
        </p:nvSpPr>
        <p:spPr>
          <a:xfrm>
            <a:off x="9829800" y="2781300"/>
            <a:ext cx="1676400" cy="3048000"/>
          </a:xfrm>
          <a:prstGeom prst="rect">
            <a:avLst/>
          </a:prstGeom>
          <a:noFill/>
        </p:spPr>
        <p:txBody>
          <a:bodyPr vertOverflow="overflow" vert="horz" wrap="square" rtlCol="0" anchor="t">
            <a:noAutofit/>
          </a:bodyPr>
          <a:lstStyle/>
          <a:p>
            <a:pPr algn="l"/>
            <a:r>
              <a:rPr lang="zh-CN" altLang="en-US" sz="1300">
                <a:solidFill>
                  <a:srgbClr val="2B1810"/>
                </a:solidFill>
              </a:rPr>
              <a:t>慢脑只出建议，
所有动作执行权回到快脑
所有运动工具必须经过安全网关
即使 </a:t>
            </a:r>
            <a:r>
              <a:rPr lang="en-US" altLang="zh-CN" sz="1300">
                <a:solidFill>
                  <a:srgbClr val="2B1810"/>
                </a:solidFill>
              </a:rPr>
              <a:t>LLM </a:t>
            </a:r>
            <a:r>
              <a:rPr lang="zh-CN" altLang="en-US" sz="1300">
                <a:solidFill>
                  <a:srgbClr val="2B1810"/>
                </a:solidFill>
              </a:rPr>
              <a:t>失败，
安全栈仍能独立工作</a:t>
            </a:r>
            <a:endParaRPr lang="en-US" sz="1300">
              <a:solidFill>
                <a:srgbClr val="2B1810"/>
              </a:solidFill>
            </a:endParaRPr>
          </a:p>
        </p:txBody>
      </p:sp>
      <p:sp>
        <p:nvSpPr>
          <p:cNvPr id="20" name="TextBox 19">
            <a:extLst>
              <a:ext uri="{FF2B5EF4-FFF2-40B4-BE49-F238E27FC236}">
                <a16:creationId xmlns:a16="http://schemas.microsoft.com/office/drawing/2014/main" id="{D3776AFD-D6EA-4D2A-A097-926398B77D77}"/>
              </a:ext>
            </a:extLst>
          </p:cNvPr>
          <p:cNvSpPr txBox="1"/>
          <p:nvPr/>
        </p:nvSpPr>
        <p:spPr>
          <a:xfrm>
            <a:off x="10414000" y="6324600"/>
            <a:ext cx="1016000" cy="254000"/>
          </a:xfrm>
          <a:prstGeom prst="rect">
            <a:avLst/>
          </a:prstGeom>
          <a:noFill/>
        </p:spPr>
        <p:txBody>
          <a:bodyPr vertOverflow="overflow" vert="horz" wrap="square" rtlCol="0" anchor="t">
            <a:noAutofit/>
          </a:bodyPr>
          <a:lstStyle/>
          <a:p>
            <a:pPr algn="l"/>
            <a:r>
              <a:rPr lang="en-US" sz="1100">
                <a:solidFill>
                  <a:srgbClr val="8B6F47"/>
                </a:solidFill>
              </a:rPr>
              <a:t>04 / 08</a:t>
            </a:r>
          </a:p>
        </p:txBody>
      </p:sp>
      <p:pic>
        <p:nvPicPr>
          <p:cNvPr id="23" name="Picture 22">
            <a:extLst>
              <a:ext uri="{FF2B5EF4-FFF2-40B4-BE49-F238E27FC236}">
                <a16:creationId xmlns:a16="http://schemas.microsoft.com/office/drawing/2014/main" id="{9F263B40-CD0C-BEDD-8AD0-1FEDF124CC7C}"/>
              </a:ext>
            </a:extLst>
          </p:cNvPr>
          <p:cNvPicPr>
            <a:picLocks noChangeAspect="1"/>
          </p:cNvPicPr>
          <p:nvPr/>
        </p:nvPicPr>
        <p:blipFill>
          <a:blip r:embed="rId2"/>
          <a:stretch>
            <a:fillRect/>
          </a:stretch>
        </p:blipFill>
        <p:spPr>
          <a:xfrm>
            <a:off x="1016000" y="2161413"/>
            <a:ext cx="8096376" cy="4290187"/>
          </a:xfrm>
          <a:prstGeom prst="rect">
            <a:avLst/>
          </a:prstGeom>
        </p:spPr>
      </p:pic>
    </p:spTree>
    <p:extLst>
      <p:ext uri="{BB962C8B-B14F-4D97-AF65-F5344CB8AC3E}">
        <p14:creationId xmlns:p14="http://schemas.microsoft.com/office/powerpoint/2010/main" val="2745774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F4F9D65-C433-4787-946A-B415D1635CD8}"/>
              </a:ext>
            </a:extLst>
          </p:cNvPr>
          <p:cNvSpPr/>
          <p:nvPr/>
        </p:nvSpPr>
        <p:spPr>
          <a:xfrm>
            <a:off x="1016000" y="635000"/>
            <a:ext cx="508000" cy="38100"/>
          </a:xfrm>
          <a:prstGeom prst="rect">
            <a:avLst/>
          </a:prstGeom>
          <a:solidFill>
            <a:srgbClr val="C8553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D8FC9430-0703-4BAE-841A-F240CA1843D2}"/>
              </a:ext>
            </a:extLst>
          </p:cNvPr>
          <p:cNvSpPr txBox="1"/>
          <p:nvPr/>
        </p:nvSpPr>
        <p:spPr>
          <a:xfrm>
            <a:off x="1016000" y="787400"/>
            <a:ext cx="5080000" cy="254000"/>
          </a:xfrm>
          <a:prstGeom prst="rect">
            <a:avLst/>
          </a:prstGeom>
          <a:noFill/>
        </p:spPr>
        <p:txBody>
          <a:bodyPr vertOverflow="overflow" vert="horz" wrap="square" rtlCol="0" anchor="t">
            <a:noAutofit/>
          </a:bodyPr>
          <a:lstStyle/>
          <a:p>
            <a:pPr algn="l"/>
            <a:r>
              <a:rPr lang="pt-BR" sz="1200" b="1" dirty="0">
                <a:solidFill>
                  <a:srgbClr val="C8553D"/>
                </a:solidFill>
              </a:rPr>
              <a:t>0 5   ·   </a:t>
            </a:r>
            <a:r>
              <a:rPr lang="zh-CN" altLang="en-US" sz="1200" b="1" dirty="0">
                <a:solidFill>
                  <a:srgbClr val="C8553D"/>
                </a:solidFill>
              </a:rPr>
              <a:t>商 业 模 式 </a:t>
            </a:r>
            <a:endParaRPr lang="en-US" sz="1200" b="1" dirty="0">
              <a:solidFill>
                <a:srgbClr val="C8553D"/>
              </a:solidFill>
            </a:endParaRPr>
          </a:p>
        </p:txBody>
      </p:sp>
      <p:sp>
        <p:nvSpPr>
          <p:cNvPr id="5" name="TextBox 4">
            <a:extLst>
              <a:ext uri="{FF2B5EF4-FFF2-40B4-BE49-F238E27FC236}">
                <a16:creationId xmlns:a16="http://schemas.microsoft.com/office/drawing/2014/main" id="{6C984003-22F3-4255-BD41-F108FFD2C705}"/>
              </a:ext>
            </a:extLst>
          </p:cNvPr>
          <p:cNvSpPr txBox="1"/>
          <p:nvPr/>
        </p:nvSpPr>
        <p:spPr>
          <a:xfrm>
            <a:off x="1016000" y="1143000"/>
            <a:ext cx="10414000" cy="635000"/>
          </a:xfrm>
          <a:prstGeom prst="rect">
            <a:avLst/>
          </a:prstGeom>
          <a:noFill/>
        </p:spPr>
        <p:txBody>
          <a:bodyPr vertOverflow="overflow" vert="horz" wrap="square" rtlCol="0" anchor="t">
            <a:noAutofit/>
          </a:bodyPr>
          <a:lstStyle/>
          <a:p>
            <a:pPr algn="l"/>
            <a:r>
              <a:rPr lang="zh-CN" altLang="en-US" sz="3200" b="1">
                <a:solidFill>
                  <a:srgbClr val="2B1810"/>
                </a:solidFill>
              </a:rPr>
              <a:t>从 </a:t>
            </a:r>
            <a:r>
              <a:rPr lang="en-US" sz="3200" b="1">
                <a:solidFill>
                  <a:srgbClr val="2B1810"/>
                </a:solidFill>
              </a:rPr>
              <a:t>Paid Pilot </a:t>
            </a:r>
            <a:r>
              <a:rPr lang="zh-CN" altLang="en-US" sz="3200" b="1">
                <a:solidFill>
                  <a:srgbClr val="2B1810"/>
                </a:solidFill>
              </a:rPr>
              <a:t>到 </a:t>
            </a:r>
            <a:r>
              <a:rPr lang="en-US" sz="3200" b="1">
                <a:solidFill>
                  <a:srgbClr val="2B1810"/>
                </a:solidFill>
              </a:rPr>
              <a:t>Workflow Marketplace</a:t>
            </a:r>
          </a:p>
        </p:txBody>
      </p:sp>
      <p:sp>
        <p:nvSpPr>
          <p:cNvPr id="6" name="TextBox 5">
            <a:extLst>
              <a:ext uri="{FF2B5EF4-FFF2-40B4-BE49-F238E27FC236}">
                <a16:creationId xmlns:a16="http://schemas.microsoft.com/office/drawing/2014/main" id="{9016BF26-DF88-432A-B654-72D42D445659}"/>
              </a:ext>
            </a:extLst>
          </p:cNvPr>
          <p:cNvSpPr txBox="1"/>
          <p:nvPr/>
        </p:nvSpPr>
        <p:spPr>
          <a:xfrm>
            <a:off x="1016000" y="1879600"/>
            <a:ext cx="10414000" cy="355600"/>
          </a:xfrm>
          <a:prstGeom prst="rect">
            <a:avLst/>
          </a:prstGeom>
          <a:noFill/>
        </p:spPr>
        <p:txBody>
          <a:bodyPr vertOverflow="overflow" vert="horz" wrap="square" rtlCol="0" anchor="t">
            <a:noAutofit/>
          </a:bodyPr>
          <a:lstStyle/>
          <a:p>
            <a:pPr algn="l"/>
            <a:r>
              <a:rPr lang="zh-CN" altLang="en-US" sz="1500" i="1" dirty="0">
                <a:solidFill>
                  <a:srgbClr val="5C3A21"/>
                </a:solidFill>
              </a:rPr>
              <a:t>最核心的商业模式我认为是和宇树生态圈建立自己的机器人开发生态圈</a:t>
            </a:r>
            <a:endParaRPr lang="en-US" sz="1500" i="1" dirty="0">
              <a:solidFill>
                <a:srgbClr val="5C3A21"/>
              </a:solidFill>
            </a:endParaRPr>
          </a:p>
        </p:txBody>
      </p:sp>
      <p:sp>
        <p:nvSpPr>
          <p:cNvPr id="12" name="Rectangle 11">
            <a:extLst>
              <a:ext uri="{FF2B5EF4-FFF2-40B4-BE49-F238E27FC236}">
                <a16:creationId xmlns:a16="http://schemas.microsoft.com/office/drawing/2014/main" id="{B4558AA8-9F00-40F2-AF8E-CB932E50C66D}"/>
              </a:ext>
            </a:extLst>
          </p:cNvPr>
          <p:cNvSpPr/>
          <p:nvPr/>
        </p:nvSpPr>
        <p:spPr>
          <a:xfrm>
            <a:off x="2110066" y="2476500"/>
            <a:ext cx="2540000" cy="2095500"/>
          </a:xfrm>
          <a:prstGeom prst="rect">
            <a:avLst/>
          </a:prstGeom>
          <a:solidFill>
            <a:srgbClr val="D9775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TextBox 12">
            <a:extLst>
              <a:ext uri="{FF2B5EF4-FFF2-40B4-BE49-F238E27FC236}">
                <a16:creationId xmlns:a16="http://schemas.microsoft.com/office/drawing/2014/main" id="{23B5A774-FE54-4CA9-95CA-108DA6E13341}"/>
              </a:ext>
            </a:extLst>
          </p:cNvPr>
          <p:cNvSpPr txBox="1"/>
          <p:nvPr/>
        </p:nvSpPr>
        <p:spPr>
          <a:xfrm>
            <a:off x="2338666" y="2679700"/>
            <a:ext cx="2082800" cy="381000"/>
          </a:xfrm>
          <a:prstGeom prst="rect">
            <a:avLst/>
          </a:prstGeom>
          <a:noFill/>
        </p:spPr>
        <p:txBody>
          <a:bodyPr vertOverflow="overflow" vert="horz" wrap="square" rtlCol="0" anchor="t">
            <a:noAutofit/>
          </a:bodyPr>
          <a:lstStyle/>
          <a:p>
            <a:pPr algn="l"/>
            <a:r>
              <a:rPr lang="en-US" sz="2200" b="1">
                <a:solidFill>
                  <a:srgbClr val="FFFFFF"/>
                </a:solidFill>
              </a:rPr>
              <a:t>P1</a:t>
            </a:r>
          </a:p>
        </p:txBody>
      </p:sp>
      <p:sp>
        <p:nvSpPr>
          <p:cNvPr id="14" name="TextBox 13">
            <a:extLst>
              <a:ext uri="{FF2B5EF4-FFF2-40B4-BE49-F238E27FC236}">
                <a16:creationId xmlns:a16="http://schemas.microsoft.com/office/drawing/2014/main" id="{8AD26418-302A-42C7-B5AA-EEBCDDE676A3}"/>
              </a:ext>
            </a:extLst>
          </p:cNvPr>
          <p:cNvSpPr txBox="1"/>
          <p:nvPr/>
        </p:nvSpPr>
        <p:spPr>
          <a:xfrm>
            <a:off x="2338666" y="3136900"/>
            <a:ext cx="2082800" cy="355600"/>
          </a:xfrm>
          <a:prstGeom prst="rect">
            <a:avLst/>
          </a:prstGeom>
          <a:noFill/>
        </p:spPr>
        <p:txBody>
          <a:bodyPr vertOverflow="overflow" vert="horz" wrap="square" rtlCol="0" anchor="t">
            <a:noAutofit/>
          </a:bodyPr>
          <a:lstStyle/>
          <a:p>
            <a:pPr algn="l"/>
            <a:r>
              <a:rPr lang="zh-CN" altLang="en-US" sz="1700" b="1">
                <a:solidFill>
                  <a:srgbClr val="FFFFFF"/>
                </a:solidFill>
              </a:rPr>
              <a:t>垂直 </a:t>
            </a:r>
            <a:r>
              <a:rPr lang="en-US" sz="1700" b="1">
                <a:solidFill>
                  <a:srgbClr val="FFFFFF"/>
                </a:solidFill>
              </a:rPr>
              <a:t>Paid Pilot</a:t>
            </a:r>
          </a:p>
        </p:txBody>
      </p:sp>
      <p:sp>
        <p:nvSpPr>
          <p:cNvPr id="15" name="TextBox 14">
            <a:extLst>
              <a:ext uri="{FF2B5EF4-FFF2-40B4-BE49-F238E27FC236}">
                <a16:creationId xmlns:a16="http://schemas.microsoft.com/office/drawing/2014/main" id="{C3247DE2-17B2-43D7-BC70-87D215B338AB}"/>
              </a:ext>
            </a:extLst>
          </p:cNvPr>
          <p:cNvSpPr txBox="1"/>
          <p:nvPr/>
        </p:nvSpPr>
        <p:spPr>
          <a:xfrm>
            <a:off x="2338666" y="3594100"/>
            <a:ext cx="2082800" cy="889000"/>
          </a:xfrm>
          <a:prstGeom prst="rect">
            <a:avLst/>
          </a:prstGeom>
          <a:noFill/>
        </p:spPr>
        <p:txBody>
          <a:bodyPr vertOverflow="overflow" vert="horz" wrap="square" rtlCol="0" anchor="t">
            <a:noAutofit/>
          </a:bodyPr>
          <a:lstStyle/>
          <a:p>
            <a:pPr algn="l"/>
            <a:r>
              <a:rPr lang="zh-CN" altLang="en-US" sz="1300">
                <a:solidFill>
                  <a:srgbClr val="FFFFFF"/>
                </a:solidFill>
              </a:rPr>
              <a:t>机房</a:t>
            </a:r>
            <a:r>
              <a:rPr lang="en-US" altLang="zh-CN" sz="1300">
                <a:solidFill>
                  <a:srgbClr val="FFFFFF"/>
                </a:solidFill>
              </a:rPr>
              <a:t>/</a:t>
            </a:r>
            <a:r>
              <a:rPr lang="zh-CN" altLang="en-US" sz="1300">
                <a:solidFill>
                  <a:srgbClr val="FFFFFF"/>
                </a:solidFill>
              </a:rPr>
              <a:t>园区</a:t>
            </a:r>
            <a:r>
              <a:rPr lang="en-US" altLang="zh-CN" sz="1300">
                <a:solidFill>
                  <a:srgbClr val="FFFFFF"/>
                </a:solidFill>
              </a:rPr>
              <a:t>/</a:t>
            </a:r>
            <a:r>
              <a:rPr lang="zh-CN" altLang="en-US" sz="1300">
                <a:solidFill>
                  <a:srgbClr val="FFFFFF"/>
                </a:solidFill>
              </a:rPr>
              <a:t>工业巡检：拿到真实 </a:t>
            </a:r>
            <a:r>
              <a:rPr lang="en-US" altLang="zh-CN" sz="1300">
                <a:solidFill>
                  <a:srgbClr val="FFFFFF"/>
                </a:solidFill>
              </a:rPr>
              <a:t>SOP </a:t>
            </a:r>
            <a:r>
              <a:rPr lang="zh-CN" altLang="en-US" sz="1300">
                <a:solidFill>
                  <a:srgbClr val="FFFFFF"/>
                </a:solidFill>
              </a:rPr>
              <a:t>与异常数据</a:t>
            </a:r>
            <a:endParaRPr lang="en-US" sz="1300">
              <a:solidFill>
                <a:srgbClr val="FFFFFF"/>
              </a:solidFill>
            </a:endParaRPr>
          </a:p>
        </p:txBody>
      </p:sp>
      <p:sp>
        <p:nvSpPr>
          <p:cNvPr id="16" name="Arrow: Right 15">
            <a:extLst>
              <a:ext uri="{FF2B5EF4-FFF2-40B4-BE49-F238E27FC236}">
                <a16:creationId xmlns:a16="http://schemas.microsoft.com/office/drawing/2014/main" id="{CDABF8B8-6B99-4800-914C-2B284D868D96}"/>
              </a:ext>
            </a:extLst>
          </p:cNvPr>
          <p:cNvSpPr/>
          <p:nvPr/>
        </p:nvSpPr>
        <p:spPr>
          <a:xfrm>
            <a:off x="4624666" y="3422650"/>
            <a:ext cx="177800" cy="203200"/>
          </a:xfrm>
          <a:prstGeom prst="rightArrow">
            <a:avLst/>
          </a:prstGeom>
          <a:solidFill>
            <a:srgbClr val="8B6F4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Rectangle 16">
            <a:extLst>
              <a:ext uri="{FF2B5EF4-FFF2-40B4-BE49-F238E27FC236}">
                <a16:creationId xmlns:a16="http://schemas.microsoft.com/office/drawing/2014/main" id="{7EAADD23-E1DA-4EDA-810B-B5F3A3A3ABBF}"/>
              </a:ext>
            </a:extLst>
          </p:cNvPr>
          <p:cNvSpPr/>
          <p:nvPr/>
        </p:nvSpPr>
        <p:spPr>
          <a:xfrm>
            <a:off x="4802466" y="2476500"/>
            <a:ext cx="2540000" cy="2095500"/>
          </a:xfrm>
          <a:prstGeom prst="rect">
            <a:avLst/>
          </a:prstGeom>
          <a:solidFill>
            <a:srgbClr val="C8553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TextBox 17">
            <a:extLst>
              <a:ext uri="{FF2B5EF4-FFF2-40B4-BE49-F238E27FC236}">
                <a16:creationId xmlns:a16="http://schemas.microsoft.com/office/drawing/2014/main" id="{FD46852D-913F-47D3-8DED-5FCB074813AD}"/>
              </a:ext>
            </a:extLst>
          </p:cNvPr>
          <p:cNvSpPr txBox="1"/>
          <p:nvPr/>
        </p:nvSpPr>
        <p:spPr>
          <a:xfrm>
            <a:off x="5031066" y="2679700"/>
            <a:ext cx="2082800" cy="381000"/>
          </a:xfrm>
          <a:prstGeom prst="rect">
            <a:avLst/>
          </a:prstGeom>
          <a:noFill/>
        </p:spPr>
        <p:txBody>
          <a:bodyPr vertOverflow="overflow" vert="horz" wrap="square" rtlCol="0" anchor="t">
            <a:noAutofit/>
          </a:bodyPr>
          <a:lstStyle/>
          <a:p>
            <a:pPr algn="l"/>
            <a:r>
              <a:rPr lang="en-US" sz="2200" b="1">
                <a:solidFill>
                  <a:srgbClr val="FFFFFF"/>
                </a:solidFill>
              </a:rPr>
              <a:t>P2</a:t>
            </a:r>
          </a:p>
        </p:txBody>
      </p:sp>
      <p:sp>
        <p:nvSpPr>
          <p:cNvPr id="19" name="TextBox 18">
            <a:extLst>
              <a:ext uri="{FF2B5EF4-FFF2-40B4-BE49-F238E27FC236}">
                <a16:creationId xmlns:a16="http://schemas.microsoft.com/office/drawing/2014/main" id="{09CD5FA0-9275-4B29-A597-13179F20CEA5}"/>
              </a:ext>
            </a:extLst>
          </p:cNvPr>
          <p:cNvSpPr txBox="1"/>
          <p:nvPr/>
        </p:nvSpPr>
        <p:spPr>
          <a:xfrm>
            <a:off x="5031066" y="3136900"/>
            <a:ext cx="2082800" cy="355600"/>
          </a:xfrm>
          <a:prstGeom prst="rect">
            <a:avLst/>
          </a:prstGeom>
          <a:noFill/>
        </p:spPr>
        <p:txBody>
          <a:bodyPr vertOverflow="overflow" vert="horz" wrap="square" rtlCol="0" anchor="t">
            <a:noAutofit/>
          </a:bodyPr>
          <a:lstStyle/>
          <a:p>
            <a:pPr algn="l"/>
            <a:r>
              <a:rPr lang="en-US" sz="1700" b="1">
                <a:solidFill>
                  <a:srgbClr val="FFFFFF"/>
                </a:solidFill>
              </a:rPr>
              <a:t>RobotOps </a:t>
            </a:r>
            <a:r>
              <a:rPr lang="zh-CN" altLang="en-US" sz="1700" b="1">
                <a:solidFill>
                  <a:srgbClr val="FFFFFF"/>
                </a:solidFill>
              </a:rPr>
              <a:t>平台</a:t>
            </a:r>
            <a:endParaRPr lang="en-US" sz="1700" b="1">
              <a:solidFill>
                <a:srgbClr val="FFFFFF"/>
              </a:solidFill>
            </a:endParaRPr>
          </a:p>
        </p:txBody>
      </p:sp>
      <p:sp>
        <p:nvSpPr>
          <p:cNvPr id="20" name="TextBox 19">
            <a:extLst>
              <a:ext uri="{FF2B5EF4-FFF2-40B4-BE49-F238E27FC236}">
                <a16:creationId xmlns:a16="http://schemas.microsoft.com/office/drawing/2014/main" id="{D6BA4203-D7CA-4620-96B1-CA5A3037B850}"/>
              </a:ext>
            </a:extLst>
          </p:cNvPr>
          <p:cNvSpPr txBox="1"/>
          <p:nvPr/>
        </p:nvSpPr>
        <p:spPr>
          <a:xfrm>
            <a:off x="5031066" y="3594100"/>
            <a:ext cx="2082800" cy="889000"/>
          </a:xfrm>
          <a:prstGeom prst="rect">
            <a:avLst/>
          </a:prstGeom>
          <a:noFill/>
        </p:spPr>
        <p:txBody>
          <a:bodyPr vertOverflow="overflow" vert="horz" wrap="square" rtlCol="0" anchor="t">
            <a:noAutofit/>
          </a:bodyPr>
          <a:lstStyle/>
          <a:p>
            <a:pPr algn="l"/>
            <a:r>
              <a:rPr lang="en-US" sz="1300">
                <a:solidFill>
                  <a:srgbClr val="FFFFFF"/>
                </a:solidFill>
              </a:rPr>
              <a:t>Runtime + Site License + Fleet Dashboard </a:t>
            </a:r>
            <a:r>
              <a:rPr lang="zh-CN" altLang="en-US" sz="1300">
                <a:solidFill>
                  <a:srgbClr val="FFFFFF"/>
                </a:solidFill>
              </a:rPr>
              <a:t>订阅</a:t>
            </a:r>
            <a:endParaRPr lang="en-US" sz="1300">
              <a:solidFill>
                <a:srgbClr val="FFFFFF"/>
              </a:solidFill>
            </a:endParaRPr>
          </a:p>
        </p:txBody>
      </p:sp>
      <p:sp>
        <p:nvSpPr>
          <p:cNvPr id="21" name="Arrow: Right 20">
            <a:extLst>
              <a:ext uri="{FF2B5EF4-FFF2-40B4-BE49-F238E27FC236}">
                <a16:creationId xmlns:a16="http://schemas.microsoft.com/office/drawing/2014/main" id="{D26F9B05-F34B-4C50-914F-8BC96D2CD9AF}"/>
              </a:ext>
            </a:extLst>
          </p:cNvPr>
          <p:cNvSpPr/>
          <p:nvPr/>
        </p:nvSpPr>
        <p:spPr>
          <a:xfrm>
            <a:off x="7317066" y="3422650"/>
            <a:ext cx="177800" cy="203200"/>
          </a:xfrm>
          <a:prstGeom prst="rightArrow">
            <a:avLst/>
          </a:prstGeom>
          <a:solidFill>
            <a:srgbClr val="8B6F4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Rectangle 21">
            <a:extLst>
              <a:ext uri="{FF2B5EF4-FFF2-40B4-BE49-F238E27FC236}">
                <a16:creationId xmlns:a16="http://schemas.microsoft.com/office/drawing/2014/main" id="{12F9625A-2C73-42CB-A0A2-922AE5C384C5}"/>
              </a:ext>
            </a:extLst>
          </p:cNvPr>
          <p:cNvSpPr/>
          <p:nvPr/>
        </p:nvSpPr>
        <p:spPr>
          <a:xfrm>
            <a:off x="7494866" y="2476500"/>
            <a:ext cx="2540000" cy="2095500"/>
          </a:xfrm>
          <a:prstGeom prst="rect">
            <a:avLst/>
          </a:prstGeom>
          <a:solidFill>
            <a:srgbClr val="8B3A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3" name="TextBox 22">
            <a:extLst>
              <a:ext uri="{FF2B5EF4-FFF2-40B4-BE49-F238E27FC236}">
                <a16:creationId xmlns:a16="http://schemas.microsoft.com/office/drawing/2014/main" id="{6B391E5D-F6A4-4FCD-A612-D293699FB2D8}"/>
              </a:ext>
            </a:extLst>
          </p:cNvPr>
          <p:cNvSpPr txBox="1"/>
          <p:nvPr/>
        </p:nvSpPr>
        <p:spPr>
          <a:xfrm>
            <a:off x="7723466" y="2679700"/>
            <a:ext cx="2082800" cy="381000"/>
          </a:xfrm>
          <a:prstGeom prst="rect">
            <a:avLst/>
          </a:prstGeom>
          <a:noFill/>
        </p:spPr>
        <p:txBody>
          <a:bodyPr vertOverflow="overflow" vert="horz" wrap="square" rtlCol="0" anchor="t">
            <a:noAutofit/>
          </a:bodyPr>
          <a:lstStyle/>
          <a:p>
            <a:pPr algn="l"/>
            <a:r>
              <a:rPr lang="en-US" sz="2200" b="1">
                <a:solidFill>
                  <a:srgbClr val="FFFFFF"/>
                </a:solidFill>
              </a:rPr>
              <a:t>P3</a:t>
            </a:r>
          </a:p>
        </p:txBody>
      </p:sp>
      <p:sp>
        <p:nvSpPr>
          <p:cNvPr id="24" name="TextBox 23">
            <a:extLst>
              <a:ext uri="{FF2B5EF4-FFF2-40B4-BE49-F238E27FC236}">
                <a16:creationId xmlns:a16="http://schemas.microsoft.com/office/drawing/2014/main" id="{A1D31F4B-7B0D-4102-8B2C-243CF769FC82}"/>
              </a:ext>
            </a:extLst>
          </p:cNvPr>
          <p:cNvSpPr txBox="1"/>
          <p:nvPr/>
        </p:nvSpPr>
        <p:spPr>
          <a:xfrm>
            <a:off x="7723466" y="3136900"/>
            <a:ext cx="2082800" cy="355600"/>
          </a:xfrm>
          <a:prstGeom prst="rect">
            <a:avLst/>
          </a:prstGeom>
          <a:noFill/>
        </p:spPr>
        <p:txBody>
          <a:bodyPr vertOverflow="overflow" vert="horz" wrap="square" rtlCol="0" anchor="t">
            <a:noAutofit/>
          </a:bodyPr>
          <a:lstStyle/>
          <a:p>
            <a:pPr algn="l"/>
            <a:r>
              <a:rPr lang="zh-CN" altLang="en-US" sz="1700" b="1" dirty="0">
                <a:solidFill>
                  <a:srgbClr val="FFFFFF"/>
                </a:solidFill>
              </a:rPr>
              <a:t>机器人技能生态</a:t>
            </a:r>
            <a:endParaRPr lang="en-US" sz="1700" b="1" dirty="0">
              <a:solidFill>
                <a:srgbClr val="FFFFFF"/>
              </a:solidFill>
            </a:endParaRPr>
          </a:p>
        </p:txBody>
      </p:sp>
      <p:sp>
        <p:nvSpPr>
          <p:cNvPr id="25" name="TextBox 24">
            <a:extLst>
              <a:ext uri="{FF2B5EF4-FFF2-40B4-BE49-F238E27FC236}">
                <a16:creationId xmlns:a16="http://schemas.microsoft.com/office/drawing/2014/main" id="{3125924D-657C-4E8C-9B55-4B07F818D78E}"/>
              </a:ext>
            </a:extLst>
          </p:cNvPr>
          <p:cNvSpPr txBox="1"/>
          <p:nvPr/>
        </p:nvSpPr>
        <p:spPr>
          <a:xfrm>
            <a:off x="7723466" y="3594100"/>
            <a:ext cx="2082800" cy="889000"/>
          </a:xfrm>
          <a:prstGeom prst="rect">
            <a:avLst/>
          </a:prstGeom>
          <a:noFill/>
        </p:spPr>
        <p:txBody>
          <a:bodyPr vertOverflow="overflow" vert="horz" wrap="square" rtlCol="0" anchor="t">
            <a:noAutofit/>
          </a:bodyPr>
          <a:lstStyle/>
          <a:p>
            <a:pPr algn="l"/>
            <a:r>
              <a:rPr lang="en-US" sz="1300">
                <a:solidFill>
                  <a:srgbClr val="FFFFFF"/>
                </a:solidFill>
              </a:rPr>
              <a:t>Marketplace + </a:t>
            </a:r>
            <a:r>
              <a:rPr lang="zh-CN" altLang="en-US" sz="1300">
                <a:solidFill>
                  <a:srgbClr val="FFFFFF"/>
                </a:solidFill>
              </a:rPr>
              <a:t>第三方 </a:t>
            </a:r>
            <a:r>
              <a:rPr lang="en-US" sz="1300">
                <a:solidFill>
                  <a:srgbClr val="FFFFFF"/>
                </a:solidFill>
              </a:rPr>
              <a:t>Agent + Connector </a:t>
            </a:r>
            <a:r>
              <a:rPr lang="zh-CN" altLang="en-US" sz="1300">
                <a:solidFill>
                  <a:srgbClr val="FFFFFF"/>
                </a:solidFill>
              </a:rPr>
              <a:t>认证</a:t>
            </a:r>
            <a:endParaRPr lang="en-US" sz="1300">
              <a:solidFill>
                <a:srgbClr val="FFFFFF"/>
              </a:solidFill>
            </a:endParaRPr>
          </a:p>
        </p:txBody>
      </p:sp>
      <p:sp>
        <p:nvSpPr>
          <p:cNvPr id="26" name="TextBox 25">
            <a:extLst>
              <a:ext uri="{FF2B5EF4-FFF2-40B4-BE49-F238E27FC236}">
                <a16:creationId xmlns:a16="http://schemas.microsoft.com/office/drawing/2014/main" id="{EBC4DA53-691D-49DF-86C4-FAC42FC46130}"/>
              </a:ext>
            </a:extLst>
          </p:cNvPr>
          <p:cNvSpPr txBox="1"/>
          <p:nvPr/>
        </p:nvSpPr>
        <p:spPr>
          <a:xfrm>
            <a:off x="1016000" y="4927600"/>
            <a:ext cx="2540000" cy="279400"/>
          </a:xfrm>
          <a:prstGeom prst="rect">
            <a:avLst/>
          </a:prstGeom>
          <a:noFill/>
        </p:spPr>
        <p:txBody>
          <a:bodyPr vertOverflow="overflow" vert="horz" wrap="square" rtlCol="0" anchor="t">
            <a:noAutofit/>
          </a:bodyPr>
          <a:lstStyle/>
          <a:p>
            <a:pPr algn="l"/>
            <a:r>
              <a:rPr lang="zh-CN" altLang="en-US" sz="1300" b="1">
                <a:solidFill>
                  <a:srgbClr val="C8553D"/>
                </a:solidFill>
              </a:rPr>
              <a:t>收费单元</a:t>
            </a:r>
            <a:endParaRPr lang="en-US" sz="1300" b="1">
              <a:solidFill>
                <a:srgbClr val="C8553D"/>
              </a:solidFill>
            </a:endParaRPr>
          </a:p>
        </p:txBody>
      </p:sp>
      <p:sp>
        <p:nvSpPr>
          <p:cNvPr id="27" name="Oval 26">
            <a:extLst>
              <a:ext uri="{FF2B5EF4-FFF2-40B4-BE49-F238E27FC236}">
                <a16:creationId xmlns:a16="http://schemas.microsoft.com/office/drawing/2014/main" id="{06392162-0858-4409-A60B-7A294B2E0871}"/>
              </a:ext>
            </a:extLst>
          </p:cNvPr>
          <p:cNvSpPr/>
          <p:nvPr/>
        </p:nvSpPr>
        <p:spPr>
          <a:xfrm>
            <a:off x="1016000" y="5422900"/>
            <a:ext cx="101600" cy="101600"/>
          </a:xfrm>
          <a:prstGeom prst="ellipse">
            <a:avLst/>
          </a:prstGeom>
          <a:solidFill>
            <a:srgbClr val="C8553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8" name="TextBox 27">
            <a:extLst>
              <a:ext uri="{FF2B5EF4-FFF2-40B4-BE49-F238E27FC236}">
                <a16:creationId xmlns:a16="http://schemas.microsoft.com/office/drawing/2014/main" id="{A622E2D9-6424-40E5-9C3C-5DF7F4F35017}"/>
              </a:ext>
            </a:extLst>
          </p:cNvPr>
          <p:cNvSpPr txBox="1"/>
          <p:nvPr/>
        </p:nvSpPr>
        <p:spPr>
          <a:xfrm>
            <a:off x="1270000" y="5334000"/>
            <a:ext cx="10160000" cy="279400"/>
          </a:xfrm>
          <a:prstGeom prst="rect">
            <a:avLst/>
          </a:prstGeom>
          <a:noFill/>
        </p:spPr>
        <p:txBody>
          <a:bodyPr vertOverflow="overflow" vert="horz" wrap="square" rtlCol="0" anchor="t">
            <a:noAutofit/>
          </a:bodyPr>
          <a:lstStyle/>
          <a:p>
            <a:pPr algn="l"/>
            <a:r>
              <a:rPr lang="en-US" sz="1400" dirty="0">
                <a:solidFill>
                  <a:srgbClr val="2B1810"/>
                </a:solidFill>
              </a:rPr>
              <a:t>Pilot Fee · </a:t>
            </a:r>
            <a:r>
              <a:rPr lang="zh-CN" altLang="en-US" sz="1400" dirty="0">
                <a:solidFill>
                  <a:srgbClr val="2B1810"/>
                </a:solidFill>
              </a:rPr>
              <a:t>帮客户把机器人跑通一个 </a:t>
            </a:r>
            <a:r>
              <a:rPr lang="en-US" sz="1400" dirty="0">
                <a:solidFill>
                  <a:srgbClr val="2B1810"/>
                </a:solidFill>
              </a:rPr>
              <a:t>SOP</a:t>
            </a:r>
          </a:p>
        </p:txBody>
      </p:sp>
      <p:sp>
        <p:nvSpPr>
          <p:cNvPr id="29" name="Oval 28">
            <a:extLst>
              <a:ext uri="{FF2B5EF4-FFF2-40B4-BE49-F238E27FC236}">
                <a16:creationId xmlns:a16="http://schemas.microsoft.com/office/drawing/2014/main" id="{45ECE3BE-279E-4D74-8666-D82F5725F174}"/>
              </a:ext>
            </a:extLst>
          </p:cNvPr>
          <p:cNvSpPr/>
          <p:nvPr/>
        </p:nvSpPr>
        <p:spPr>
          <a:xfrm>
            <a:off x="1016000" y="5740400"/>
            <a:ext cx="101600" cy="101600"/>
          </a:xfrm>
          <a:prstGeom prst="ellipse">
            <a:avLst/>
          </a:prstGeom>
          <a:solidFill>
            <a:srgbClr val="C8553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0" name="TextBox 29">
            <a:extLst>
              <a:ext uri="{FF2B5EF4-FFF2-40B4-BE49-F238E27FC236}">
                <a16:creationId xmlns:a16="http://schemas.microsoft.com/office/drawing/2014/main" id="{B3464C2E-B52C-49A5-AA04-EFEF5224C8DC}"/>
              </a:ext>
            </a:extLst>
          </p:cNvPr>
          <p:cNvSpPr txBox="1"/>
          <p:nvPr/>
        </p:nvSpPr>
        <p:spPr>
          <a:xfrm>
            <a:off x="1270000" y="5651500"/>
            <a:ext cx="10160000" cy="279400"/>
          </a:xfrm>
          <a:prstGeom prst="rect">
            <a:avLst/>
          </a:prstGeom>
          <a:noFill/>
        </p:spPr>
        <p:txBody>
          <a:bodyPr vertOverflow="overflow" vert="horz" wrap="square" rtlCol="0" anchor="t">
            <a:noAutofit/>
          </a:bodyPr>
          <a:lstStyle/>
          <a:p>
            <a:pPr algn="l"/>
            <a:r>
              <a:rPr lang="en-US" sz="1400">
                <a:solidFill>
                  <a:srgbClr val="2B1810"/>
                </a:solidFill>
              </a:rPr>
              <a:t>Runtime License · </a:t>
            </a:r>
            <a:r>
              <a:rPr lang="zh-CN" altLang="en-US" sz="1400">
                <a:solidFill>
                  <a:srgbClr val="2B1810"/>
                </a:solidFill>
              </a:rPr>
              <a:t>按机器人 </a:t>
            </a:r>
            <a:r>
              <a:rPr lang="en-US" altLang="zh-CN" sz="1400">
                <a:solidFill>
                  <a:srgbClr val="2B1810"/>
                </a:solidFill>
              </a:rPr>
              <a:t>/ </a:t>
            </a:r>
            <a:r>
              <a:rPr lang="zh-CN" altLang="en-US" sz="1400">
                <a:solidFill>
                  <a:srgbClr val="2B1810"/>
                </a:solidFill>
              </a:rPr>
              <a:t>场地 </a:t>
            </a:r>
            <a:r>
              <a:rPr lang="en-US" altLang="zh-CN" sz="1400">
                <a:solidFill>
                  <a:srgbClr val="2B1810"/>
                </a:solidFill>
              </a:rPr>
              <a:t>/ </a:t>
            </a:r>
            <a:r>
              <a:rPr lang="zh-CN" altLang="en-US" sz="1400">
                <a:solidFill>
                  <a:srgbClr val="2B1810"/>
                </a:solidFill>
              </a:rPr>
              <a:t>连接器订阅</a:t>
            </a:r>
            <a:endParaRPr lang="en-US" sz="1400">
              <a:solidFill>
                <a:srgbClr val="2B1810"/>
              </a:solidFill>
            </a:endParaRPr>
          </a:p>
        </p:txBody>
      </p:sp>
      <p:sp>
        <p:nvSpPr>
          <p:cNvPr id="31" name="Oval 30">
            <a:extLst>
              <a:ext uri="{FF2B5EF4-FFF2-40B4-BE49-F238E27FC236}">
                <a16:creationId xmlns:a16="http://schemas.microsoft.com/office/drawing/2014/main" id="{3F31F520-AA57-4AE1-845C-E0ADBE288E35}"/>
              </a:ext>
            </a:extLst>
          </p:cNvPr>
          <p:cNvSpPr/>
          <p:nvPr/>
        </p:nvSpPr>
        <p:spPr>
          <a:xfrm>
            <a:off x="1016000" y="6057900"/>
            <a:ext cx="101600" cy="101600"/>
          </a:xfrm>
          <a:prstGeom prst="ellipse">
            <a:avLst/>
          </a:prstGeom>
          <a:solidFill>
            <a:srgbClr val="C8553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2" name="TextBox 31">
            <a:extLst>
              <a:ext uri="{FF2B5EF4-FFF2-40B4-BE49-F238E27FC236}">
                <a16:creationId xmlns:a16="http://schemas.microsoft.com/office/drawing/2014/main" id="{81B2179A-3721-4B6A-A92E-4ACAEFA88F89}"/>
              </a:ext>
            </a:extLst>
          </p:cNvPr>
          <p:cNvSpPr txBox="1"/>
          <p:nvPr/>
        </p:nvSpPr>
        <p:spPr>
          <a:xfrm>
            <a:off x="1270000" y="5969000"/>
            <a:ext cx="10160000" cy="279400"/>
          </a:xfrm>
          <a:prstGeom prst="rect">
            <a:avLst/>
          </a:prstGeom>
          <a:noFill/>
        </p:spPr>
        <p:txBody>
          <a:bodyPr vertOverflow="overflow" vert="horz" wrap="square" rtlCol="0" anchor="t">
            <a:noAutofit/>
          </a:bodyPr>
          <a:lstStyle/>
          <a:p>
            <a:pPr algn="l"/>
            <a:r>
              <a:rPr lang="en-US" sz="1400">
                <a:solidFill>
                  <a:srgbClr val="2B1810"/>
                </a:solidFill>
              </a:rPr>
              <a:t>Connector Pack &amp; Safety Module · </a:t>
            </a:r>
            <a:r>
              <a:rPr lang="zh-CN" altLang="en-US" sz="1400">
                <a:solidFill>
                  <a:srgbClr val="2B1810"/>
                </a:solidFill>
              </a:rPr>
              <a:t>工单 </a:t>
            </a:r>
            <a:r>
              <a:rPr lang="en-US" altLang="zh-CN" sz="1400">
                <a:solidFill>
                  <a:srgbClr val="2B1810"/>
                </a:solidFill>
              </a:rPr>
              <a:t>/ </a:t>
            </a:r>
            <a:r>
              <a:rPr lang="zh-CN" altLang="en-US" sz="1400">
                <a:solidFill>
                  <a:srgbClr val="2B1810"/>
                </a:solidFill>
              </a:rPr>
              <a:t>地图 </a:t>
            </a:r>
            <a:r>
              <a:rPr lang="en-US" altLang="zh-CN" sz="1400">
                <a:solidFill>
                  <a:srgbClr val="2B1810"/>
                </a:solidFill>
              </a:rPr>
              <a:t>/ </a:t>
            </a:r>
            <a:r>
              <a:rPr lang="en-US" sz="1400">
                <a:solidFill>
                  <a:srgbClr val="2B1810"/>
                </a:solidFill>
              </a:rPr>
              <a:t>IoT / </a:t>
            </a:r>
            <a:r>
              <a:rPr lang="zh-CN" altLang="en-US" sz="1400">
                <a:solidFill>
                  <a:srgbClr val="2B1810"/>
                </a:solidFill>
              </a:rPr>
              <a:t>审计</a:t>
            </a:r>
            <a:endParaRPr lang="en-US" sz="1400">
              <a:solidFill>
                <a:srgbClr val="2B1810"/>
              </a:solidFill>
            </a:endParaRPr>
          </a:p>
        </p:txBody>
      </p:sp>
      <p:sp>
        <p:nvSpPr>
          <p:cNvPr id="33" name="Oval 32">
            <a:extLst>
              <a:ext uri="{FF2B5EF4-FFF2-40B4-BE49-F238E27FC236}">
                <a16:creationId xmlns:a16="http://schemas.microsoft.com/office/drawing/2014/main" id="{D0F6114F-02DD-4919-BC41-6704294BE971}"/>
              </a:ext>
            </a:extLst>
          </p:cNvPr>
          <p:cNvSpPr/>
          <p:nvPr/>
        </p:nvSpPr>
        <p:spPr>
          <a:xfrm>
            <a:off x="1016000" y="6375400"/>
            <a:ext cx="101600" cy="101600"/>
          </a:xfrm>
          <a:prstGeom prst="ellipse">
            <a:avLst/>
          </a:prstGeom>
          <a:solidFill>
            <a:srgbClr val="C8553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4" name="TextBox 33">
            <a:extLst>
              <a:ext uri="{FF2B5EF4-FFF2-40B4-BE49-F238E27FC236}">
                <a16:creationId xmlns:a16="http://schemas.microsoft.com/office/drawing/2014/main" id="{1EE046EA-9D4E-4004-8397-911963DEC07D}"/>
              </a:ext>
            </a:extLst>
          </p:cNvPr>
          <p:cNvSpPr txBox="1"/>
          <p:nvPr/>
        </p:nvSpPr>
        <p:spPr>
          <a:xfrm>
            <a:off x="1270000" y="6286500"/>
            <a:ext cx="10160000" cy="279400"/>
          </a:xfrm>
          <a:prstGeom prst="rect">
            <a:avLst/>
          </a:prstGeom>
          <a:noFill/>
        </p:spPr>
        <p:txBody>
          <a:bodyPr vertOverflow="overflow" vert="horz" wrap="square" rtlCol="0" anchor="t">
            <a:noAutofit/>
          </a:bodyPr>
          <a:lstStyle/>
          <a:p>
            <a:pPr algn="l"/>
            <a:r>
              <a:rPr lang="en-US" sz="1400">
                <a:solidFill>
                  <a:srgbClr val="2B1810"/>
                </a:solidFill>
              </a:rPr>
              <a:t>Marketplace Commission · </a:t>
            </a:r>
            <a:r>
              <a:rPr lang="zh-CN" altLang="en-US" sz="1400">
                <a:solidFill>
                  <a:srgbClr val="2B1810"/>
                </a:solidFill>
              </a:rPr>
              <a:t>工作流 </a:t>
            </a:r>
            <a:r>
              <a:rPr lang="en-US" altLang="zh-CN" sz="1400">
                <a:solidFill>
                  <a:srgbClr val="2B1810"/>
                </a:solidFill>
              </a:rPr>
              <a:t>/ </a:t>
            </a:r>
            <a:r>
              <a:rPr lang="en-US" sz="1400">
                <a:solidFill>
                  <a:srgbClr val="2B1810"/>
                </a:solidFill>
              </a:rPr>
              <a:t>Agent / </a:t>
            </a:r>
            <a:r>
              <a:rPr lang="zh-CN" altLang="en-US" sz="1400">
                <a:solidFill>
                  <a:srgbClr val="2B1810"/>
                </a:solidFill>
              </a:rPr>
              <a:t>连接器交易抽成</a:t>
            </a:r>
            <a:endParaRPr lang="en-US" sz="1400">
              <a:solidFill>
                <a:srgbClr val="2B1810"/>
              </a:solidFill>
            </a:endParaRPr>
          </a:p>
        </p:txBody>
      </p:sp>
      <p:sp>
        <p:nvSpPr>
          <p:cNvPr id="35" name="TextBox 34">
            <a:extLst>
              <a:ext uri="{FF2B5EF4-FFF2-40B4-BE49-F238E27FC236}">
                <a16:creationId xmlns:a16="http://schemas.microsoft.com/office/drawing/2014/main" id="{B983E1DF-896B-4A1C-AFBB-586511391CDC}"/>
              </a:ext>
            </a:extLst>
          </p:cNvPr>
          <p:cNvSpPr txBox="1"/>
          <p:nvPr/>
        </p:nvSpPr>
        <p:spPr>
          <a:xfrm>
            <a:off x="10414000" y="6324600"/>
            <a:ext cx="1016000" cy="254000"/>
          </a:xfrm>
          <a:prstGeom prst="rect">
            <a:avLst/>
          </a:prstGeom>
          <a:noFill/>
        </p:spPr>
        <p:txBody>
          <a:bodyPr vertOverflow="overflow" vert="horz" wrap="square" rtlCol="0" anchor="t">
            <a:noAutofit/>
          </a:bodyPr>
          <a:lstStyle/>
          <a:p>
            <a:pPr algn="l"/>
            <a:r>
              <a:rPr lang="en-US" sz="1100">
                <a:solidFill>
                  <a:srgbClr val="8B6F47"/>
                </a:solidFill>
              </a:rPr>
              <a:t>05 / 08</a:t>
            </a:r>
          </a:p>
        </p:txBody>
      </p:sp>
    </p:spTree>
    <p:extLst>
      <p:ext uri="{BB962C8B-B14F-4D97-AF65-F5344CB8AC3E}">
        <p14:creationId xmlns:p14="http://schemas.microsoft.com/office/powerpoint/2010/main" val="37680000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85677-EA46-A7B5-1516-70E0933D99EE}"/>
              </a:ext>
            </a:extLst>
          </p:cNvPr>
          <p:cNvSpPr>
            <a:spLocks noGrp="1"/>
          </p:cNvSpPr>
          <p:nvPr>
            <p:ph type="title"/>
          </p:nvPr>
        </p:nvSpPr>
        <p:spPr>
          <a:xfrm>
            <a:off x="736600" y="1066800"/>
            <a:ext cx="10718800" cy="1117600"/>
          </a:xfrm>
        </p:spPr>
        <p:txBody>
          <a:bodyPr>
            <a:normAutofit/>
          </a:bodyPr>
          <a:lstStyle/>
          <a:p>
            <a:pPr algn="l">
              <a:lnSpc>
                <a:spcPts val="3400"/>
              </a:lnSpc>
              <a:spcAft>
                <a:spcPts val="200"/>
              </a:spcAft>
              <a:buNone/>
            </a:pPr>
            <a:r>
              <a:rPr lang="zh-CN" sz="2800" b="1" dirty="0">
                <a:solidFill>
                  <a:srgbClr val="C8553D"/>
                </a:solidFill>
              </a:rPr>
              <a:t>可复用的 Skills 和场景记忆</a:t>
            </a:r>
            <a:r>
              <a:rPr lang="zh-CN" sz="2800" b="1" dirty="0">
                <a:solidFill>
                  <a:srgbClr val="2B1810"/>
                </a:solidFill>
              </a:rPr>
              <a:t>是未来机器人生态的护城河</a:t>
            </a:r>
          </a:p>
          <a:p>
            <a:pPr algn="l">
              <a:lnSpc>
                <a:spcPts val="2000"/>
              </a:lnSpc>
              <a:buNone/>
            </a:pPr>
            <a:r>
              <a:rPr lang="zh-CN" sz="1600" dirty="0">
                <a:solidFill>
                  <a:srgbClr val="6B5544"/>
                </a:solidFill>
              </a:rPr>
              <a:t>每一次任务沉淀都在为下一次任务、下一台机器人、下一个场景</a:t>
            </a:r>
            <a:r>
              <a:rPr lang="zh-CN" altLang="en-US" sz="1600" dirty="0">
                <a:solidFill>
                  <a:srgbClr val="6B5544"/>
                </a:solidFill>
              </a:rPr>
              <a:t>复盘提升</a:t>
            </a:r>
            <a:r>
              <a:rPr lang="zh-CN" sz="1600" dirty="0">
                <a:solidFill>
                  <a:srgbClr val="6B5544"/>
                </a:solidFill>
              </a:rPr>
              <a:t>。</a:t>
            </a:r>
          </a:p>
        </p:txBody>
      </p:sp>
      <p:sp>
        <p:nvSpPr>
          <p:cNvPr id="3" name="Rectangle 2">
            <a:extLst>
              <a:ext uri="{FF2B5EF4-FFF2-40B4-BE49-F238E27FC236}">
                <a16:creationId xmlns:a16="http://schemas.microsoft.com/office/drawing/2014/main" id="{2C51FB57-3C8C-2A80-8383-35DE2E7C24D9}"/>
              </a:ext>
            </a:extLst>
          </p:cNvPr>
          <p:cNvSpPr/>
          <p:nvPr/>
        </p:nvSpPr>
        <p:spPr>
          <a:xfrm>
            <a:off x="1016000" y="635000"/>
            <a:ext cx="508000" cy="38100"/>
          </a:xfrm>
          <a:prstGeom prst="rect">
            <a:avLst/>
          </a:prstGeom>
          <a:solidFill>
            <a:srgbClr val="C8553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541E4406-A0D2-07CF-96E5-5FDFE99359AF}"/>
              </a:ext>
            </a:extLst>
          </p:cNvPr>
          <p:cNvSpPr txBox="1"/>
          <p:nvPr/>
        </p:nvSpPr>
        <p:spPr>
          <a:xfrm>
            <a:off x="1016000" y="787400"/>
            <a:ext cx="5080000" cy="254000"/>
          </a:xfrm>
          <a:prstGeom prst="rect">
            <a:avLst/>
          </a:prstGeom>
          <a:noFill/>
        </p:spPr>
        <p:txBody>
          <a:bodyPr vertOverflow="overflow" vert="horz" wrap="square" rtlCol="0" anchor="t">
            <a:noAutofit/>
          </a:bodyPr>
          <a:lstStyle/>
          <a:p>
            <a:pPr algn="l"/>
            <a:r>
              <a:rPr lang="en-US" sz="1200" b="1" dirty="0">
                <a:solidFill>
                  <a:srgbClr val="C8553D"/>
                </a:solidFill>
              </a:rPr>
              <a:t>0 6   ·   </a:t>
            </a:r>
            <a:r>
              <a:rPr lang="zh-CN" altLang="en-US" sz="1200" b="1" dirty="0">
                <a:solidFill>
                  <a:srgbClr val="C8553D"/>
                </a:solidFill>
              </a:rPr>
              <a:t>这套框架核心价值</a:t>
            </a:r>
            <a:r>
              <a:rPr lang="en-US" altLang="zh-CN" sz="1200" b="1" dirty="0">
                <a:solidFill>
                  <a:srgbClr val="C8553D"/>
                </a:solidFill>
              </a:rPr>
              <a:t>1</a:t>
            </a:r>
            <a:r>
              <a:rPr lang="zh-CN" altLang="en-US" sz="1200" b="1" dirty="0">
                <a:solidFill>
                  <a:srgbClr val="C8553D"/>
                </a:solidFill>
              </a:rPr>
              <a:t>： 可 复 用 的 机 器 人 场 景 </a:t>
            </a:r>
            <a:r>
              <a:rPr lang="en-US" altLang="zh-CN" sz="1200" b="1" dirty="0">
                <a:solidFill>
                  <a:srgbClr val="C8553D"/>
                </a:solidFill>
              </a:rPr>
              <a:t>Skills </a:t>
            </a:r>
            <a:r>
              <a:rPr lang="zh-CN" altLang="en-US" sz="1200" b="1" dirty="0">
                <a:solidFill>
                  <a:srgbClr val="C8553D"/>
                </a:solidFill>
              </a:rPr>
              <a:t>和 记 忆</a:t>
            </a:r>
            <a:endParaRPr lang="en-US" sz="1200" b="1" dirty="0">
              <a:solidFill>
                <a:srgbClr val="C8553D"/>
              </a:solidFill>
            </a:endParaRPr>
          </a:p>
        </p:txBody>
      </p:sp>
      <p:sp>
        <p:nvSpPr>
          <p:cNvPr id="5" name="Pillar_1_Card">
            <a:extLst>
              <a:ext uri="{FF2B5EF4-FFF2-40B4-BE49-F238E27FC236}">
                <a16:creationId xmlns:a16="http://schemas.microsoft.com/office/drawing/2014/main" id="{7F999B54-19F1-43E6-BC56-0C43F096EA4A}"/>
              </a:ext>
            </a:extLst>
          </p:cNvPr>
          <p:cNvSpPr/>
          <p:nvPr/>
        </p:nvSpPr>
        <p:spPr>
          <a:xfrm>
            <a:off x="457200" y="2476500"/>
            <a:ext cx="3606800" cy="2794000"/>
          </a:xfrm>
          <a:prstGeom prst="roundRect">
            <a:avLst/>
          </a:prstGeom>
          <a:solidFill>
            <a:srgbClr val="FFFFFF"/>
          </a:solidFill>
          <a:ln w="15875" cap="flat" cmpd="sng" algn="ctr">
            <a:solidFill>
              <a:srgbClr val="C8553D"/>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Pillar_1_Bar">
            <a:extLst>
              <a:ext uri="{FF2B5EF4-FFF2-40B4-BE49-F238E27FC236}">
                <a16:creationId xmlns:a16="http://schemas.microsoft.com/office/drawing/2014/main" id="{E15129B3-4D65-4F8D-BC22-F6E0E41758CB}"/>
              </a:ext>
            </a:extLst>
          </p:cNvPr>
          <p:cNvSpPr/>
          <p:nvPr/>
        </p:nvSpPr>
        <p:spPr>
          <a:xfrm>
            <a:off x="457200" y="2476500"/>
            <a:ext cx="3606800" cy="63500"/>
          </a:xfrm>
          <a:prstGeom prst="rect">
            <a:avLst/>
          </a:prstGeom>
          <a:solidFill>
            <a:srgbClr val="C8553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Pillar_1_Badge">
            <a:extLst>
              <a:ext uri="{FF2B5EF4-FFF2-40B4-BE49-F238E27FC236}">
                <a16:creationId xmlns:a16="http://schemas.microsoft.com/office/drawing/2014/main" id="{89F01D13-4E7F-47F1-B3AF-EC6ECE605382}"/>
              </a:ext>
            </a:extLst>
          </p:cNvPr>
          <p:cNvSpPr/>
          <p:nvPr/>
        </p:nvSpPr>
        <p:spPr>
          <a:xfrm>
            <a:off x="685800" y="2705100"/>
            <a:ext cx="457200" cy="457200"/>
          </a:xfrm>
          <a:prstGeom prst="ellipse">
            <a:avLst/>
          </a:prstGeom>
          <a:solidFill>
            <a:srgbClr val="C8553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400" b="1">
                <a:solidFill>
                  <a:srgbClr val="FFFFFF"/>
                </a:solidFill>
              </a:rPr>
              <a:t>01</a:t>
            </a:r>
          </a:p>
        </p:txBody>
      </p:sp>
      <p:sp>
        <p:nvSpPr>
          <p:cNvPr id="8" name="Pillar_1_Title">
            <a:extLst>
              <a:ext uri="{FF2B5EF4-FFF2-40B4-BE49-F238E27FC236}">
                <a16:creationId xmlns:a16="http://schemas.microsoft.com/office/drawing/2014/main" id="{DE3B6BC8-7C60-4A8D-83FE-B569D858A9C6}"/>
              </a:ext>
            </a:extLst>
          </p:cNvPr>
          <p:cNvSpPr txBox="1"/>
          <p:nvPr/>
        </p:nvSpPr>
        <p:spPr>
          <a:xfrm>
            <a:off x="1270000" y="2705100"/>
            <a:ext cx="2590800" cy="304800"/>
          </a:xfrm>
          <a:prstGeom prst="rect">
            <a:avLst/>
          </a:prstGeom>
          <a:noFill/>
        </p:spPr>
        <p:txBody>
          <a:bodyPr vertOverflow="overflow" vert="horz" wrap="square" rtlCol="0" anchor="t">
            <a:noAutofit/>
          </a:bodyPr>
          <a:lstStyle/>
          <a:p>
            <a:pPr algn="l"/>
            <a:r>
              <a:rPr lang="en-US" sz="1700" b="1">
                <a:solidFill>
                  <a:srgbClr val="2B1810"/>
                </a:solidFill>
              </a:rPr>
              <a:t>Skills </a:t>
            </a:r>
            <a:r>
              <a:rPr lang="zh-CN" altLang="en-US" sz="1700" b="1">
                <a:solidFill>
                  <a:srgbClr val="2B1810"/>
                </a:solidFill>
              </a:rPr>
              <a:t>技能资产</a:t>
            </a:r>
            <a:endParaRPr lang="en-US" sz="1700" b="1">
              <a:solidFill>
                <a:srgbClr val="2B1810"/>
              </a:solidFill>
            </a:endParaRPr>
          </a:p>
        </p:txBody>
      </p:sp>
      <p:sp>
        <p:nvSpPr>
          <p:cNvPr id="9" name="Pillar_1_Subtitle">
            <a:extLst>
              <a:ext uri="{FF2B5EF4-FFF2-40B4-BE49-F238E27FC236}">
                <a16:creationId xmlns:a16="http://schemas.microsoft.com/office/drawing/2014/main" id="{1F189203-B106-4FC8-A8F8-C391DB8F3F16}"/>
              </a:ext>
            </a:extLst>
          </p:cNvPr>
          <p:cNvSpPr txBox="1"/>
          <p:nvPr/>
        </p:nvSpPr>
        <p:spPr>
          <a:xfrm>
            <a:off x="1270000" y="3048000"/>
            <a:ext cx="2590800" cy="279400"/>
          </a:xfrm>
          <a:prstGeom prst="rect">
            <a:avLst/>
          </a:prstGeom>
          <a:noFill/>
        </p:spPr>
        <p:txBody>
          <a:bodyPr vertOverflow="overflow" vert="horz" wrap="square" rtlCol="0" anchor="t">
            <a:noAutofit/>
          </a:bodyPr>
          <a:lstStyle/>
          <a:p>
            <a:pPr algn="l"/>
            <a:r>
              <a:rPr lang="zh-CN" altLang="en-US" sz="1200" i="1">
                <a:solidFill>
                  <a:srgbClr val="C8553D"/>
                </a:solidFill>
              </a:rPr>
              <a:t>原子化 </a:t>
            </a:r>
            <a:r>
              <a:rPr lang="en-US" altLang="zh-CN" sz="1200" i="1">
                <a:solidFill>
                  <a:srgbClr val="C8553D"/>
                </a:solidFill>
              </a:rPr>
              <a:t>· </a:t>
            </a:r>
            <a:r>
              <a:rPr lang="zh-CN" altLang="en-US" sz="1200" i="1">
                <a:solidFill>
                  <a:srgbClr val="C8553D"/>
                </a:solidFill>
              </a:rPr>
              <a:t>可调用 </a:t>
            </a:r>
            <a:r>
              <a:rPr lang="en-US" altLang="zh-CN" sz="1200" i="1">
                <a:solidFill>
                  <a:srgbClr val="C8553D"/>
                </a:solidFill>
              </a:rPr>
              <a:t>· </a:t>
            </a:r>
            <a:r>
              <a:rPr lang="zh-CN" altLang="en-US" sz="1200" i="1">
                <a:solidFill>
                  <a:srgbClr val="C8553D"/>
                </a:solidFill>
              </a:rPr>
              <a:t>可组合</a:t>
            </a:r>
            <a:endParaRPr lang="en-US" sz="1200" i="1">
              <a:solidFill>
                <a:srgbClr val="C8553D"/>
              </a:solidFill>
            </a:endParaRPr>
          </a:p>
        </p:txBody>
      </p:sp>
      <p:sp>
        <p:nvSpPr>
          <p:cNvPr id="10" name="Pillar_1_Divider">
            <a:extLst>
              <a:ext uri="{FF2B5EF4-FFF2-40B4-BE49-F238E27FC236}">
                <a16:creationId xmlns:a16="http://schemas.microsoft.com/office/drawing/2014/main" id="{5EE6B70D-14D9-4DEB-8A45-0B68989F8CF6}"/>
              </a:ext>
            </a:extLst>
          </p:cNvPr>
          <p:cNvSpPr/>
          <p:nvPr/>
        </p:nvSpPr>
        <p:spPr>
          <a:xfrm>
            <a:off x="685800" y="3441700"/>
            <a:ext cx="3149600" cy="12700"/>
          </a:xfrm>
          <a:prstGeom prst="rect">
            <a:avLst/>
          </a:prstGeom>
          <a:solidFill>
            <a:srgbClr val="E0D5C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 name="Pillar_1_Bullets">
            <a:extLst>
              <a:ext uri="{FF2B5EF4-FFF2-40B4-BE49-F238E27FC236}">
                <a16:creationId xmlns:a16="http://schemas.microsoft.com/office/drawing/2014/main" id="{80F97518-8D47-4C2F-BBE3-39014F219AB7}"/>
              </a:ext>
            </a:extLst>
          </p:cNvPr>
          <p:cNvSpPr txBox="1"/>
          <p:nvPr/>
        </p:nvSpPr>
        <p:spPr>
          <a:xfrm>
            <a:off x="685800" y="3619500"/>
            <a:ext cx="3149600" cy="1524000"/>
          </a:xfrm>
          <a:prstGeom prst="rect">
            <a:avLst/>
          </a:prstGeom>
          <a:noFill/>
        </p:spPr>
        <p:txBody>
          <a:bodyPr vertOverflow="overflow" vert="horz" wrap="square" rtlCol="0" anchor="t">
            <a:noAutofit/>
          </a:bodyPr>
          <a:lstStyle/>
          <a:p>
            <a:pPr marL="171450" indent="-171450" algn="l">
              <a:lnSpc>
                <a:spcPts val="1700"/>
              </a:lnSpc>
              <a:spcAft>
                <a:spcPts val="500"/>
              </a:spcAft>
              <a:buClr>
                <a:srgbClr val="C8553D"/>
              </a:buClr>
              <a:buFont typeface="Arial"/>
              <a:buChar char="•"/>
            </a:pPr>
            <a:r>
              <a:rPr lang="zh-CN" sz="1200" dirty="0">
                <a:solidFill>
                  <a:srgbClr val="3A2D24"/>
                </a:solidFill>
              </a:rPr>
              <a:t>walk · turn · gesture · inspect</a:t>
            </a:r>
          </a:p>
          <a:p>
            <a:pPr marL="171450" indent="-171450" algn="l">
              <a:lnSpc>
                <a:spcPts val="1700"/>
              </a:lnSpc>
              <a:spcAft>
                <a:spcPts val="500"/>
              </a:spcAft>
              <a:buClr>
                <a:srgbClr val="C8553D"/>
              </a:buClr>
              <a:buFont typeface="Arial"/>
              <a:buChar char="•"/>
            </a:pPr>
            <a:r>
              <a:rPr lang="zh-CN" sz="1200" dirty="0">
                <a:solidFill>
                  <a:srgbClr val="3A2D24"/>
                </a:solidFill>
              </a:rPr>
              <a:t>report · ask_human · trace_write</a:t>
            </a:r>
          </a:p>
          <a:p>
            <a:pPr marL="171450" indent="-171450" algn="l">
              <a:lnSpc>
                <a:spcPts val="1700"/>
              </a:lnSpc>
              <a:spcAft>
                <a:spcPts val="500"/>
              </a:spcAft>
              <a:buClr>
                <a:srgbClr val="C8553D"/>
              </a:buClr>
              <a:buFont typeface="Arial"/>
              <a:buChar char="•"/>
            </a:pPr>
            <a:r>
              <a:rPr lang="zh-CN" sz="1200" dirty="0">
                <a:solidFill>
                  <a:srgbClr val="3A2D24"/>
                </a:solidFill>
              </a:rPr>
              <a:t>经安全网关认证，可被任何任务复用</a:t>
            </a:r>
          </a:p>
        </p:txBody>
      </p:sp>
      <p:sp>
        <p:nvSpPr>
          <p:cNvPr id="12" name="Pillar_2_Card">
            <a:extLst>
              <a:ext uri="{FF2B5EF4-FFF2-40B4-BE49-F238E27FC236}">
                <a16:creationId xmlns:a16="http://schemas.microsoft.com/office/drawing/2014/main" id="{E006F286-431B-4C5D-A6D4-516683A48E68}"/>
              </a:ext>
            </a:extLst>
          </p:cNvPr>
          <p:cNvSpPr/>
          <p:nvPr/>
        </p:nvSpPr>
        <p:spPr>
          <a:xfrm>
            <a:off x="4292600" y="2476500"/>
            <a:ext cx="3606800" cy="2794000"/>
          </a:xfrm>
          <a:prstGeom prst="roundRect">
            <a:avLst/>
          </a:prstGeom>
          <a:solidFill>
            <a:srgbClr val="FFFFFF"/>
          </a:solidFill>
          <a:ln w="15875" cap="flat" cmpd="sng" algn="ctr">
            <a:solidFill>
              <a:srgbClr val="D97757"/>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Pillar_2_Bar">
            <a:extLst>
              <a:ext uri="{FF2B5EF4-FFF2-40B4-BE49-F238E27FC236}">
                <a16:creationId xmlns:a16="http://schemas.microsoft.com/office/drawing/2014/main" id="{F4140261-55FF-49C6-A0E6-7620B70652A7}"/>
              </a:ext>
            </a:extLst>
          </p:cNvPr>
          <p:cNvSpPr/>
          <p:nvPr/>
        </p:nvSpPr>
        <p:spPr>
          <a:xfrm>
            <a:off x="4292600" y="2476500"/>
            <a:ext cx="3606800" cy="63500"/>
          </a:xfrm>
          <a:prstGeom prst="rect">
            <a:avLst/>
          </a:prstGeom>
          <a:solidFill>
            <a:srgbClr val="D9775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Pillar_2_Badge">
            <a:extLst>
              <a:ext uri="{FF2B5EF4-FFF2-40B4-BE49-F238E27FC236}">
                <a16:creationId xmlns:a16="http://schemas.microsoft.com/office/drawing/2014/main" id="{6D61D958-21DA-4B55-B331-F1A42DFD1BF4}"/>
              </a:ext>
            </a:extLst>
          </p:cNvPr>
          <p:cNvSpPr/>
          <p:nvPr/>
        </p:nvSpPr>
        <p:spPr>
          <a:xfrm>
            <a:off x="4521200" y="2705100"/>
            <a:ext cx="457200" cy="457200"/>
          </a:xfrm>
          <a:prstGeom prst="ellipse">
            <a:avLst/>
          </a:prstGeom>
          <a:solidFill>
            <a:srgbClr val="D9775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400" b="1">
                <a:solidFill>
                  <a:srgbClr val="FFFFFF"/>
                </a:solidFill>
              </a:rPr>
              <a:t>02</a:t>
            </a:r>
          </a:p>
        </p:txBody>
      </p:sp>
      <p:sp>
        <p:nvSpPr>
          <p:cNvPr id="15" name="Pillar_2_Title">
            <a:extLst>
              <a:ext uri="{FF2B5EF4-FFF2-40B4-BE49-F238E27FC236}">
                <a16:creationId xmlns:a16="http://schemas.microsoft.com/office/drawing/2014/main" id="{E891DD18-FC12-496A-AABE-92DAD99C0610}"/>
              </a:ext>
            </a:extLst>
          </p:cNvPr>
          <p:cNvSpPr txBox="1"/>
          <p:nvPr/>
        </p:nvSpPr>
        <p:spPr>
          <a:xfrm>
            <a:off x="5105400" y="2705100"/>
            <a:ext cx="2590800" cy="304800"/>
          </a:xfrm>
          <a:prstGeom prst="rect">
            <a:avLst/>
          </a:prstGeom>
          <a:noFill/>
        </p:spPr>
        <p:txBody>
          <a:bodyPr vertOverflow="overflow" vert="horz" wrap="square" rtlCol="0" anchor="t">
            <a:noAutofit/>
          </a:bodyPr>
          <a:lstStyle/>
          <a:p>
            <a:pPr algn="l"/>
            <a:r>
              <a:rPr lang="en-US" sz="1700" b="1">
                <a:solidFill>
                  <a:srgbClr val="2B1810"/>
                </a:solidFill>
              </a:rPr>
              <a:t>Memory </a:t>
            </a:r>
            <a:r>
              <a:rPr lang="zh-CN" altLang="en-US" sz="1700" b="1">
                <a:solidFill>
                  <a:srgbClr val="2B1810"/>
                </a:solidFill>
              </a:rPr>
              <a:t>场景记忆</a:t>
            </a:r>
            <a:endParaRPr lang="en-US" sz="1700" b="1">
              <a:solidFill>
                <a:srgbClr val="2B1810"/>
              </a:solidFill>
            </a:endParaRPr>
          </a:p>
        </p:txBody>
      </p:sp>
      <p:sp>
        <p:nvSpPr>
          <p:cNvPr id="16" name="Pillar_2_Subtitle">
            <a:extLst>
              <a:ext uri="{FF2B5EF4-FFF2-40B4-BE49-F238E27FC236}">
                <a16:creationId xmlns:a16="http://schemas.microsoft.com/office/drawing/2014/main" id="{E3D9BE2F-1E25-49E7-AB10-12C02170120E}"/>
              </a:ext>
            </a:extLst>
          </p:cNvPr>
          <p:cNvSpPr txBox="1"/>
          <p:nvPr/>
        </p:nvSpPr>
        <p:spPr>
          <a:xfrm>
            <a:off x="5105400" y="3048000"/>
            <a:ext cx="2590800" cy="279400"/>
          </a:xfrm>
          <a:prstGeom prst="rect">
            <a:avLst/>
          </a:prstGeom>
          <a:noFill/>
        </p:spPr>
        <p:txBody>
          <a:bodyPr vertOverflow="overflow" vert="horz" wrap="square" rtlCol="0" anchor="t">
            <a:noAutofit/>
          </a:bodyPr>
          <a:lstStyle/>
          <a:p>
            <a:pPr algn="l"/>
            <a:r>
              <a:rPr lang="zh-CN" altLang="en-US" sz="1200" i="1">
                <a:solidFill>
                  <a:srgbClr val="D97757"/>
                </a:solidFill>
              </a:rPr>
              <a:t>可</a:t>
            </a:r>
            <a:r>
              <a:rPr lang="en-US" altLang="zh-CN" sz="1200" i="1">
                <a:solidFill>
                  <a:srgbClr val="D97757"/>
                </a:solidFill>
              </a:rPr>
              <a:t>grep · </a:t>
            </a:r>
            <a:r>
              <a:rPr lang="zh-CN" altLang="en-US" sz="1200" i="1">
                <a:solidFill>
                  <a:srgbClr val="D97757"/>
                </a:solidFill>
              </a:rPr>
              <a:t>可审计 </a:t>
            </a:r>
            <a:r>
              <a:rPr lang="en-US" altLang="zh-CN" sz="1200" i="1">
                <a:solidFill>
                  <a:srgbClr val="D97757"/>
                </a:solidFill>
              </a:rPr>
              <a:t>· </a:t>
            </a:r>
            <a:r>
              <a:rPr lang="zh-CN" altLang="en-US" sz="1200" i="1">
                <a:solidFill>
                  <a:srgbClr val="D97757"/>
                </a:solidFill>
              </a:rPr>
              <a:t>可回滚</a:t>
            </a:r>
            <a:endParaRPr lang="en-US" sz="1200" i="1">
              <a:solidFill>
                <a:srgbClr val="D97757"/>
              </a:solidFill>
            </a:endParaRPr>
          </a:p>
        </p:txBody>
      </p:sp>
      <p:sp>
        <p:nvSpPr>
          <p:cNvPr id="17" name="Pillar_2_Divider">
            <a:extLst>
              <a:ext uri="{FF2B5EF4-FFF2-40B4-BE49-F238E27FC236}">
                <a16:creationId xmlns:a16="http://schemas.microsoft.com/office/drawing/2014/main" id="{EB05D0FB-CDD6-462B-8F10-FC263C767775}"/>
              </a:ext>
            </a:extLst>
          </p:cNvPr>
          <p:cNvSpPr/>
          <p:nvPr/>
        </p:nvSpPr>
        <p:spPr>
          <a:xfrm>
            <a:off x="4521200" y="3441700"/>
            <a:ext cx="3149600" cy="12700"/>
          </a:xfrm>
          <a:prstGeom prst="rect">
            <a:avLst/>
          </a:prstGeom>
          <a:solidFill>
            <a:srgbClr val="E0D5C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Pillar_2_Bullets">
            <a:extLst>
              <a:ext uri="{FF2B5EF4-FFF2-40B4-BE49-F238E27FC236}">
                <a16:creationId xmlns:a16="http://schemas.microsoft.com/office/drawing/2014/main" id="{B1D98C5D-6310-4499-8535-8DC9F2E68321}"/>
              </a:ext>
            </a:extLst>
          </p:cNvPr>
          <p:cNvSpPr txBox="1"/>
          <p:nvPr/>
        </p:nvSpPr>
        <p:spPr>
          <a:xfrm>
            <a:off x="4521200" y="3619500"/>
            <a:ext cx="3149600" cy="1524000"/>
          </a:xfrm>
          <a:prstGeom prst="rect">
            <a:avLst/>
          </a:prstGeom>
          <a:noFill/>
        </p:spPr>
        <p:txBody>
          <a:bodyPr vertOverflow="overflow" vert="horz" wrap="square" rtlCol="0" anchor="t">
            <a:noAutofit/>
          </a:bodyPr>
          <a:lstStyle/>
          <a:p>
            <a:pPr marL="171450" indent="-171450" algn="l">
              <a:lnSpc>
                <a:spcPts val="1700"/>
              </a:lnSpc>
              <a:spcAft>
                <a:spcPts val="500"/>
              </a:spcAft>
              <a:buClr>
                <a:srgbClr val="D97757"/>
              </a:buClr>
              <a:buFont typeface="Arial"/>
              <a:buChar char="•"/>
            </a:pPr>
            <a:r>
              <a:rPr lang="zh-CN" sz="1200" dirty="0">
                <a:solidFill>
                  <a:srgbClr val="3A2D24"/>
                </a:solidFill>
              </a:rPr>
              <a:t>人 · 地点 · 设备 · 异常 · SOP</a:t>
            </a:r>
          </a:p>
          <a:p>
            <a:pPr marL="171450" indent="-171450" algn="l">
              <a:lnSpc>
                <a:spcPts val="1700"/>
              </a:lnSpc>
              <a:spcAft>
                <a:spcPts val="500"/>
              </a:spcAft>
              <a:buClr>
                <a:srgbClr val="D97757"/>
              </a:buClr>
              <a:buFont typeface="Arial"/>
              <a:buChar char="•"/>
            </a:pPr>
            <a:r>
              <a:rPr lang="zh-CN" sz="1200" dirty="0">
                <a:solidFill>
                  <a:srgbClr val="3A2D24"/>
                </a:solidFill>
              </a:rPr>
              <a:t>Phase1 在线写入 / Phase2 离线固化</a:t>
            </a:r>
          </a:p>
          <a:p>
            <a:pPr marL="171450" indent="-171450" algn="l">
              <a:lnSpc>
                <a:spcPts val="1700"/>
              </a:lnSpc>
              <a:spcAft>
                <a:spcPts val="500"/>
              </a:spcAft>
              <a:buClr>
                <a:srgbClr val="D97757"/>
              </a:buClr>
              <a:buFont typeface="Arial"/>
              <a:buChar char="•"/>
            </a:pPr>
            <a:r>
              <a:rPr lang="zh-CN" sz="1200" dirty="0">
                <a:solidFill>
                  <a:srgbClr val="3A2D24"/>
                </a:solidFill>
              </a:rPr>
              <a:t>跨 session、跨机器人、跨场地共享</a:t>
            </a:r>
          </a:p>
        </p:txBody>
      </p:sp>
      <p:sp>
        <p:nvSpPr>
          <p:cNvPr id="19" name="Pillar_3_Card">
            <a:extLst>
              <a:ext uri="{FF2B5EF4-FFF2-40B4-BE49-F238E27FC236}">
                <a16:creationId xmlns:a16="http://schemas.microsoft.com/office/drawing/2014/main" id="{4904BEEC-9F64-4979-A139-1F32859E07D3}"/>
              </a:ext>
            </a:extLst>
          </p:cNvPr>
          <p:cNvSpPr/>
          <p:nvPr/>
        </p:nvSpPr>
        <p:spPr>
          <a:xfrm>
            <a:off x="8128000" y="2476500"/>
            <a:ext cx="3606800" cy="2794000"/>
          </a:xfrm>
          <a:prstGeom prst="roundRect">
            <a:avLst/>
          </a:prstGeom>
          <a:solidFill>
            <a:srgbClr val="FFFFFF"/>
          </a:solidFill>
          <a:ln w="15875" cap="flat" cmpd="sng" algn="ctr">
            <a:solidFill>
              <a:srgbClr val="8B6F47"/>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0" name="Pillar_3_Bar">
            <a:extLst>
              <a:ext uri="{FF2B5EF4-FFF2-40B4-BE49-F238E27FC236}">
                <a16:creationId xmlns:a16="http://schemas.microsoft.com/office/drawing/2014/main" id="{8B1C8B61-698B-4290-A86A-8934D58EC69A}"/>
              </a:ext>
            </a:extLst>
          </p:cNvPr>
          <p:cNvSpPr/>
          <p:nvPr/>
        </p:nvSpPr>
        <p:spPr>
          <a:xfrm>
            <a:off x="8128000" y="2476500"/>
            <a:ext cx="3606800" cy="63500"/>
          </a:xfrm>
          <a:prstGeom prst="rect">
            <a:avLst/>
          </a:prstGeom>
          <a:solidFill>
            <a:srgbClr val="8B6F4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1" name="Pillar_3_Badge">
            <a:extLst>
              <a:ext uri="{FF2B5EF4-FFF2-40B4-BE49-F238E27FC236}">
                <a16:creationId xmlns:a16="http://schemas.microsoft.com/office/drawing/2014/main" id="{B6345893-3298-4086-B195-F288B817B191}"/>
              </a:ext>
            </a:extLst>
          </p:cNvPr>
          <p:cNvSpPr/>
          <p:nvPr/>
        </p:nvSpPr>
        <p:spPr>
          <a:xfrm>
            <a:off x="8356600" y="2705100"/>
            <a:ext cx="457200" cy="457200"/>
          </a:xfrm>
          <a:prstGeom prst="ellipse">
            <a:avLst/>
          </a:prstGeom>
          <a:solidFill>
            <a:srgbClr val="8B6F4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400" b="1">
                <a:solidFill>
                  <a:srgbClr val="FFFFFF"/>
                </a:solidFill>
              </a:rPr>
              <a:t>03</a:t>
            </a:r>
          </a:p>
        </p:txBody>
      </p:sp>
      <p:sp>
        <p:nvSpPr>
          <p:cNvPr id="22" name="Pillar_3_Title">
            <a:extLst>
              <a:ext uri="{FF2B5EF4-FFF2-40B4-BE49-F238E27FC236}">
                <a16:creationId xmlns:a16="http://schemas.microsoft.com/office/drawing/2014/main" id="{99DA1A56-55FD-44CC-93D2-485D859DEF51}"/>
              </a:ext>
            </a:extLst>
          </p:cNvPr>
          <p:cNvSpPr txBox="1"/>
          <p:nvPr/>
        </p:nvSpPr>
        <p:spPr>
          <a:xfrm>
            <a:off x="8940800" y="2705100"/>
            <a:ext cx="2590800" cy="304800"/>
          </a:xfrm>
          <a:prstGeom prst="rect">
            <a:avLst/>
          </a:prstGeom>
          <a:noFill/>
        </p:spPr>
        <p:txBody>
          <a:bodyPr vertOverflow="overflow" vert="horz" wrap="square" rtlCol="0" anchor="t">
            <a:noAutofit/>
          </a:bodyPr>
          <a:lstStyle/>
          <a:p>
            <a:pPr algn="l"/>
            <a:r>
              <a:rPr lang="en-US" sz="1700" b="1">
                <a:solidFill>
                  <a:srgbClr val="2B1810"/>
                </a:solidFill>
              </a:rPr>
              <a:t>Workflow Package</a:t>
            </a:r>
          </a:p>
        </p:txBody>
      </p:sp>
      <p:sp>
        <p:nvSpPr>
          <p:cNvPr id="23" name="Pillar_3_Subtitle">
            <a:extLst>
              <a:ext uri="{FF2B5EF4-FFF2-40B4-BE49-F238E27FC236}">
                <a16:creationId xmlns:a16="http://schemas.microsoft.com/office/drawing/2014/main" id="{5E970CCA-4962-4D83-A7BF-E96B3527FBF3}"/>
              </a:ext>
            </a:extLst>
          </p:cNvPr>
          <p:cNvSpPr txBox="1"/>
          <p:nvPr/>
        </p:nvSpPr>
        <p:spPr>
          <a:xfrm>
            <a:off x="8940800" y="3048000"/>
            <a:ext cx="2590800" cy="279400"/>
          </a:xfrm>
          <a:prstGeom prst="rect">
            <a:avLst/>
          </a:prstGeom>
          <a:noFill/>
        </p:spPr>
        <p:txBody>
          <a:bodyPr vertOverflow="overflow" vert="horz" wrap="square" rtlCol="0" anchor="t">
            <a:noAutofit/>
          </a:bodyPr>
          <a:lstStyle/>
          <a:p>
            <a:pPr algn="l"/>
            <a:r>
              <a:rPr lang="zh-CN" altLang="en-US" sz="1200" i="1">
                <a:solidFill>
                  <a:srgbClr val="8B6F47"/>
                </a:solidFill>
              </a:rPr>
              <a:t>可导出 </a:t>
            </a:r>
            <a:r>
              <a:rPr lang="en-US" altLang="zh-CN" sz="1200" i="1">
                <a:solidFill>
                  <a:srgbClr val="8B6F47"/>
                </a:solidFill>
              </a:rPr>
              <a:t>· </a:t>
            </a:r>
            <a:r>
              <a:rPr lang="zh-CN" altLang="en-US" sz="1200" i="1">
                <a:solidFill>
                  <a:srgbClr val="8B6F47"/>
                </a:solidFill>
              </a:rPr>
              <a:t>可认证 </a:t>
            </a:r>
            <a:r>
              <a:rPr lang="en-US" altLang="zh-CN" sz="1200" i="1">
                <a:solidFill>
                  <a:srgbClr val="8B6F47"/>
                </a:solidFill>
              </a:rPr>
              <a:t>· </a:t>
            </a:r>
            <a:r>
              <a:rPr lang="zh-CN" altLang="en-US" sz="1200" i="1">
                <a:solidFill>
                  <a:srgbClr val="8B6F47"/>
                </a:solidFill>
              </a:rPr>
              <a:t>可交易</a:t>
            </a:r>
            <a:endParaRPr lang="en-US" sz="1200" i="1">
              <a:solidFill>
                <a:srgbClr val="8B6F47"/>
              </a:solidFill>
            </a:endParaRPr>
          </a:p>
        </p:txBody>
      </p:sp>
      <p:sp>
        <p:nvSpPr>
          <p:cNvPr id="24" name="Pillar_3_Divider">
            <a:extLst>
              <a:ext uri="{FF2B5EF4-FFF2-40B4-BE49-F238E27FC236}">
                <a16:creationId xmlns:a16="http://schemas.microsoft.com/office/drawing/2014/main" id="{55B26787-C3E5-4163-9970-D581B25D0B62}"/>
              </a:ext>
            </a:extLst>
          </p:cNvPr>
          <p:cNvSpPr/>
          <p:nvPr/>
        </p:nvSpPr>
        <p:spPr>
          <a:xfrm>
            <a:off x="8356600" y="3441700"/>
            <a:ext cx="3149600" cy="12700"/>
          </a:xfrm>
          <a:prstGeom prst="rect">
            <a:avLst/>
          </a:prstGeom>
          <a:solidFill>
            <a:srgbClr val="E0D5C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5" name="Pillar_3_Bullets">
            <a:extLst>
              <a:ext uri="{FF2B5EF4-FFF2-40B4-BE49-F238E27FC236}">
                <a16:creationId xmlns:a16="http://schemas.microsoft.com/office/drawing/2014/main" id="{67E4802A-4E78-4445-A81F-3F5FF1E7065D}"/>
              </a:ext>
            </a:extLst>
          </p:cNvPr>
          <p:cNvSpPr txBox="1"/>
          <p:nvPr/>
        </p:nvSpPr>
        <p:spPr>
          <a:xfrm>
            <a:off x="8356600" y="3619500"/>
            <a:ext cx="3149600" cy="1524000"/>
          </a:xfrm>
          <a:prstGeom prst="rect">
            <a:avLst/>
          </a:prstGeom>
          <a:noFill/>
        </p:spPr>
        <p:txBody>
          <a:bodyPr vertOverflow="overflow" vert="horz" wrap="square" rtlCol="0" anchor="t">
            <a:noAutofit/>
          </a:bodyPr>
          <a:lstStyle/>
          <a:p>
            <a:pPr marL="171450" indent="-171450" algn="l">
              <a:lnSpc>
                <a:spcPts val="1700"/>
              </a:lnSpc>
              <a:spcAft>
                <a:spcPts val="500"/>
              </a:spcAft>
              <a:buClr>
                <a:srgbClr val="8B6F47"/>
              </a:buClr>
              <a:buFont typeface="Arial"/>
              <a:buChar char="•"/>
            </a:pPr>
            <a:r>
              <a:rPr lang="zh-CN" sz="1200" dirty="0">
                <a:solidFill>
                  <a:srgbClr val="3A2D24"/>
                </a:solidFill>
              </a:rPr>
              <a:t>Skills + Memory + Safety + Evals</a:t>
            </a:r>
          </a:p>
          <a:p>
            <a:pPr marL="171450" indent="-171450" algn="l">
              <a:lnSpc>
                <a:spcPts val="1700"/>
              </a:lnSpc>
              <a:spcAft>
                <a:spcPts val="500"/>
              </a:spcAft>
              <a:buClr>
                <a:srgbClr val="8B6F47"/>
              </a:buClr>
              <a:buFont typeface="Arial"/>
              <a:buChar char="•"/>
            </a:pPr>
            <a:r>
              <a:rPr lang="zh-CN" sz="1200" dirty="0">
                <a:solidFill>
                  <a:srgbClr val="3A2D24"/>
                </a:solidFill>
              </a:rPr>
              <a:t>经仿真、安全评测、试点后上架</a:t>
            </a:r>
          </a:p>
          <a:p>
            <a:pPr marL="171450" indent="-171450" algn="l">
              <a:lnSpc>
                <a:spcPts val="1700"/>
              </a:lnSpc>
              <a:spcAft>
                <a:spcPts val="500"/>
              </a:spcAft>
              <a:buClr>
                <a:srgbClr val="8B6F47"/>
              </a:buClr>
              <a:buFont typeface="Arial"/>
              <a:buChar char="•"/>
            </a:pPr>
            <a:r>
              <a:rPr lang="zh-CN" sz="1200" dirty="0">
                <a:solidFill>
                  <a:srgbClr val="3A2D24"/>
                </a:solidFill>
              </a:rPr>
              <a:t>集成商 · 开发者 · 企业三方流通</a:t>
            </a:r>
          </a:p>
        </p:txBody>
      </p:sp>
      <p:sp>
        <p:nvSpPr>
          <p:cNvPr id="26" name="Flywheel_Label">
            <a:extLst>
              <a:ext uri="{FF2B5EF4-FFF2-40B4-BE49-F238E27FC236}">
                <a16:creationId xmlns:a16="http://schemas.microsoft.com/office/drawing/2014/main" id="{CBD5CB72-0562-4101-B9F0-678B51D28589}"/>
              </a:ext>
            </a:extLst>
          </p:cNvPr>
          <p:cNvSpPr txBox="1"/>
          <p:nvPr/>
        </p:nvSpPr>
        <p:spPr>
          <a:xfrm>
            <a:off x="457200" y="5867400"/>
            <a:ext cx="1244600" cy="279400"/>
          </a:xfrm>
          <a:prstGeom prst="rect">
            <a:avLst/>
          </a:prstGeom>
          <a:noFill/>
        </p:spPr>
        <p:txBody>
          <a:bodyPr vertOverflow="overflow" vert="horz" wrap="none" rtlCol="0" anchor="b" anchorCtr="0">
            <a:noAutofit/>
          </a:bodyPr>
          <a:lstStyle/>
          <a:p>
            <a:pPr algn="l"/>
            <a:r>
              <a:rPr lang="zh-CN" altLang="en-US" sz="1400" b="1">
                <a:solidFill>
                  <a:srgbClr val="2B1810"/>
                </a:solidFill>
              </a:rPr>
              <a:t>数据飞轮</a:t>
            </a:r>
            <a:endParaRPr lang="en-US" sz="1400" b="1">
              <a:solidFill>
                <a:srgbClr val="2B1810"/>
              </a:solidFill>
            </a:endParaRPr>
          </a:p>
        </p:txBody>
      </p:sp>
      <p:sp>
        <p:nvSpPr>
          <p:cNvPr id="27" name="Flywheel_LabelEn">
            <a:extLst>
              <a:ext uri="{FF2B5EF4-FFF2-40B4-BE49-F238E27FC236}">
                <a16:creationId xmlns:a16="http://schemas.microsoft.com/office/drawing/2014/main" id="{F3D33744-7684-450F-A47C-A4C90C77167C}"/>
              </a:ext>
            </a:extLst>
          </p:cNvPr>
          <p:cNvSpPr txBox="1"/>
          <p:nvPr/>
        </p:nvSpPr>
        <p:spPr>
          <a:xfrm>
            <a:off x="457200" y="6146800"/>
            <a:ext cx="1244600" cy="177800"/>
          </a:xfrm>
          <a:prstGeom prst="rect">
            <a:avLst/>
          </a:prstGeom>
          <a:noFill/>
        </p:spPr>
        <p:txBody>
          <a:bodyPr vertOverflow="overflow" vert="horz" wrap="none" rtlCol="0" anchor="t">
            <a:noAutofit/>
          </a:bodyPr>
          <a:lstStyle/>
          <a:p>
            <a:pPr algn="l"/>
            <a:r>
              <a:rPr lang="en-US" sz="900" i="1">
                <a:solidFill>
                  <a:srgbClr val="8B6F47"/>
                </a:solidFill>
              </a:rPr>
              <a:t>Data Flywheel</a:t>
            </a:r>
          </a:p>
        </p:txBody>
      </p:sp>
      <p:sp>
        <p:nvSpPr>
          <p:cNvPr id="28" name="Flywheel_Node_1">
            <a:extLst>
              <a:ext uri="{FF2B5EF4-FFF2-40B4-BE49-F238E27FC236}">
                <a16:creationId xmlns:a16="http://schemas.microsoft.com/office/drawing/2014/main" id="{DB2AA15B-220D-4E2D-A620-35BC562B7CFA}"/>
              </a:ext>
            </a:extLst>
          </p:cNvPr>
          <p:cNvSpPr/>
          <p:nvPr/>
        </p:nvSpPr>
        <p:spPr>
          <a:xfrm>
            <a:off x="1778000" y="5867400"/>
            <a:ext cx="1651000" cy="482600"/>
          </a:xfrm>
          <a:prstGeom prst="roundRect">
            <a:avLst/>
          </a:prstGeom>
          <a:solidFill>
            <a:srgbClr val="C8553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zh-CN" altLang="en-US" sz="1200" b="1">
                <a:solidFill>
                  <a:srgbClr val="FFFFFF"/>
                </a:solidFill>
              </a:rPr>
              <a:t>任务执行</a:t>
            </a:r>
            <a:endParaRPr lang="en-US" sz="1200" b="1">
              <a:solidFill>
                <a:srgbClr val="FFFFFF"/>
              </a:solidFill>
            </a:endParaRPr>
          </a:p>
        </p:txBody>
      </p:sp>
      <p:sp>
        <p:nvSpPr>
          <p:cNvPr id="29" name="Flywheel_Arrow_1">
            <a:extLst>
              <a:ext uri="{FF2B5EF4-FFF2-40B4-BE49-F238E27FC236}">
                <a16:creationId xmlns:a16="http://schemas.microsoft.com/office/drawing/2014/main" id="{28E478FF-9667-4EF4-9A9A-64A4464E1F32}"/>
              </a:ext>
            </a:extLst>
          </p:cNvPr>
          <p:cNvSpPr/>
          <p:nvPr/>
        </p:nvSpPr>
        <p:spPr>
          <a:xfrm>
            <a:off x="3454400" y="5994400"/>
            <a:ext cx="254000" cy="228600"/>
          </a:xfrm>
          <a:prstGeom prst="rightArrow">
            <a:avLst/>
          </a:prstGeom>
          <a:solidFill>
            <a:srgbClr val="8B6F4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0" name="Flywheel_Node_2">
            <a:extLst>
              <a:ext uri="{FF2B5EF4-FFF2-40B4-BE49-F238E27FC236}">
                <a16:creationId xmlns:a16="http://schemas.microsoft.com/office/drawing/2014/main" id="{FD4DBE10-01E7-423C-8A2C-E6C80F732131}"/>
              </a:ext>
            </a:extLst>
          </p:cNvPr>
          <p:cNvSpPr/>
          <p:nvPr/>
        </p:nvSpPr>
        <p:spPr>
          <a:xfrm>
            <a:off x="3708400" y="5867400"/>
            <a:ext cx="1651000" cy="482600"/>
          </a:xfrm>
          <a:prstGeom prst="roundRect">
            <a:avLst/>
          </a:prstGeom>
          <a:solidFill>
            <a:srgbClr val="D9775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zh-CN" altLang="en-US" sz="1200" b="1">
                <a:solidFill>
                  <a:srgbClr val="FFFFFF"/>
                </a:solidFill>
              </a:rPr>
              <a:t>沉淀 </a:t>
            </a:r>
            <a:r>
              <a:rPr lang="en-US" sz="1200" b="1">
                <a:solidFill>
                  <a:srgbClr val="FFFFFF"/>
                </a:solidFill>
              </a:rPr>
              <a:t>Skills · </a:t>
            </a:r>
            <a:r>
              <a:rPr lang="zh-CN" altLang="en-US" sz="1200" b="1">
                <a:solidFill>
                  <a:srgbClr val="FFFFFF"/>
                </a:solidFill>
              </a:rPr>
              <a:t>记忆</a:t>
            </a:r>
            <a:endParaRPr lang="en-US" sz="1200" b="1">
              <a:solidFill>
                <a:srgbClr val="FFFFFF"/>
              </a:solidFill>
            </a:endParaRPr>
          </a:p>
        </p:txBody>
      </p:sp>
      <p:sp>
        <p:nvSpPr>
          <p:cNvPr id="31" name="Flywheel_Arrow_2">
            <a:extLst>
              <a:ext uri="{FF2B5EF4-FFF2-40B4-BE49-F238E27FC236}">
                <a16:creationId xmlns:a16="http://schemas.microsoft.com/office/drawing/2014/main" id="{0AEAB5B2-C6A3-4988-8C07-3F3C4574F026}"/>
              </a:ext>
            </a:extLst>
          </p:cNvPr>
          <p:cNvSpPr/>
          <p:nvPr/>
        </p:nvSpPr>
        <p:spPr>
          <a:xfrm>
            <a:off x="5384800" y="5994400"/>
            <a:ext cx="254000" cy="228600"/>
          </a:xfrm>
          <a:prstGeom prst="rightArrow">
            <a:avLst/>
          </a:prstGeom>
          <a:solidFill>
            <a:srgbClr val="8B6F4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2" name="Flywheel_Node_3">
            <a:extLst>
              <a:ext uri="{FF2B5EF4-FFF2-40B4-BE49-F238E27FC236}">
                <a16:creationId xmlns:a16="http://schemas.microsoft.com/office/drawing/2014/main" id="{19B862CA-E255-4E81-880E-68675AC7DE6F}"/>
              </a:ext>
            </a:extLst>
          </p:cNvPr>
          <p:cNvSpPr/>
          <p:nvPr/>
        </p:nvSpPr>
        <p:spPr>
          <a:xfrm>
            <a:off x="5638800" y="5867400"/>
            <a:ext cx="1651000" cy="482600"/>
          </a:xfrm>
          <a:prstGeom prst="roundRect">
            <a:avLst/>
          </a:prstGeom>
          <a:solidFill>
            <a:srgbClr val="8B6F4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zh-CN" altLang="en-US" sz="1200" b="1">
                <a:solidFill>
                  <a:srgbClr val="FFFFFF"/>
                </a:solidFill>
              </a:rPr>
              <a:t>打包 </a:t>
            </a:r>
            <a:r>
              <a:rPr lang="en-US" sz="1200" b="1">
                <a:solidFill>
                  <a:srgbClr val="FFFFFF"/>
                </a:solidFill>
              </a:rPr>
              <a:t>Workflow</a:t>
            </a:r>
          </a:p>
        </p:txBody>
      </p:sp>
      <p:sp>
        <p:nvSpPr>
          <p:cNvPr id="33" name="Flywheel_Arrow_3">
            <a:extLst>
              <a:ext uri="{FF2B5EF4-FFF2-40B4-BE49-F238E27FC236}">
                <a16:creationId xmlns:a16="http://schemas.microsoft.com/office/drawing/2014/main" id="{A21C0F8E-F535-4F90-A78A-CC3422303A15}"/>
              </a:ext>
            </a:extLst>
          </p:cNvPr>
          <p:cNvSpPr/>
          <p:nvPr/>
        </p:nvSpPr>
        <p:spPr>
          <a:xfrm>
            <a:off x="7315200" y="5994400"/>
            <a:ext cx="254000" cy="228600"/>
          </a:xfrm>
          <a:prstGeom prst="rightArrow">
            <a:avLst/>
          </a:prstGeom>
          <a:solidFill>
            <a:srgbClr val="8B6F4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4" name="Flywheel_Node_4">
            <a:extLst>
              <a:ext uri="{FF2B5EF4-FFF2-40B4-BE49-F238E27FC236}">
                <a16:creationId xmlns:a16="http://schemas.microsoft.com/office/drawing/2014/main" id="{D6030385-31E5-4E01-BCEB-E8AA9C4BBDEC}"/>
              </a:ext>
            </a:extLst>
          </p:cNvPr>
          <p:cNvSpPr/>
          <p:nvPr/>
        </p:nvSpPr>
        <p:spPr>
          <a:xfrm>
            <a:off x="7569200" y="5867400"/>
            <a:ext cx="1651000" cy="482600"/>
          </a:xfrm>
          <a:prstGeom prst="roundRect">
            <a:avLst/>
          </a:prstGeom>
          <a:solidFill>
            <a:srgbClr val="6B8E4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zh-CN" altLang="en-US" sz="1200" b="1">
                <a:solidFill>
                  <a:srgbClr val="FFFFFF"/>
                </a:solidFill>
              </a:rPr>
              <a:t>上架 </a:t>
            </a:r>
            <a:r>
              <a:rPr lang="en-US" sz="1200" b="1">
                <a:solidFill>
                  <a:srgbClr val="FFFFFF"/>
                </a:solidFill>
              </a:rPr>
              <a:t>Marketplace</a:t>
            </a:r>
          </a:p>
        </p:txBody>
      </p:sp>
      <p:sp>
        <p:nvSpPr>
          <p:cNvPr id="35" name="Flywheel_Loopback">
            <a:extLst>
              <a:ext uri="{FF2B5EF4-FFF2-40B4-BE49-F238E27FC236}">
                <a16:creationId xmlns:a16="http://schemas.microsoft.com/office/drawing/2014/main" id="{36EEA57C-6E34-4E5C-9CDE-744924063CAD}"/>
              </a:ext>
            </a:extLst>
          </p:cNvPr>
          <p:cNvSpPr txBox="1"/>
          <p:nvPr/>
        </p:nvSpPr>
        <p:spPr>
          <a:xfrm>
            <a:off x="9575800" y="5867400"/>
            <a:ext cx="2336800" cy="482600"/>
          </a:xfrm>
          <a:prstGeom prst="rect">
            <a:avLst/>
          </a:prstGeom>
          <a:noFill/>
        </p:spPr>
        <p:txBody>
          <a:bodyPr vertOverflow="overflow" vert="horz" wrap="square" rtlCol="0" anchor="ctr" anchorCtr="0">
            <a:noAutofit/>
          </a:bodyPr>
          <a:lstStyle/>
          <a:p>
            <a:pPr algn="l"/>
            <a:r>
              <a:rPr lang="zh-CN" altLang="en-US" sz="1200" b="1" i="1">
                <a:solidFill>
                  <a:srgbClr val="C8553D"/>
                </a:solidFill>
              </a:rPr>
              <a:t>反哺下一次任务</a:t>
            </a:r>
            <a:endParaRPr lang="en-US" sz="1200" b="1" i="1">
              <a:solidFill>
                <a:srgbClr val="C8553D"/>
              </a:solidFill>
            </a:endParaRPr>
          </a:p>
        </p:txBody>
      </p:sp>
      <p:sp>
        <p:nvSpPr>
          <p:cNvPr id="36" name="Flywheel_LoopArrow">
            <a:extLst>
              <a:ext uri="{FF2B5EF4-FFF2-40B4-BE49-F238E27FC236}">
                <a16:creationId xmlns:a16="http://schemas.microsoft.com/office/drawing/2014/main" id="{CBC6EE3A-B96F-4A4A-B3B4-17A1F34A0660}"/>
              </a:ext>
            </a:extLst>
          </p:cNvPr>
          <p:cNvSpPr/>
          <p:nvPr/>
        </p:nvSpPr>
        <p:spPr>
          <a:xfrm rot="10800000">
            <a:off x="9271000" y="5930900"/>
            <a:ext cx="279400" cy="355600"/>
          </a:xfrm>
          <a:prstGeom prst="circularArrow">
            <a:avLst/>
          </a:prstGeom>
          <a:solidFill>
            <a:srgbClr val="C8553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solidFill>
                <a:schemeClr val="tx1"/>
              </a:solidFill>
            </a:endParaRPr>
          </a:p>
        </p:txBody>
      </p:sp>
    </p:spTree>
    <p:extLst>
      <p:ext uri="{BB962C8B-B14F-4D97-AF65-F5344CB8AC3E}">
        <p14:creationId xmlns:p14="http://schemas.microsoft.com/office/powerpoint/2010/main" val="35849918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808E1E6-88C2-4C8A-B31B-B625243598D7}"/>
              </a:ext>
            </a:extLst>
          </p:cNvPr>
          <p:cNvSpPr/>
          <p:nvPr/>
        </p:nvSpPr>
        <p:spPr>
          <a:xfrm>
            <a:off x="1016000" y="635000"/>
            <a:ext cx="508000" cy="38100"/>
          </a:xfrm>
          <a:prstGeom prst="rect">
            <a:avLst/>
          </a:prstGeom>
          <a:solidFill>
            <a:srgbClr val="C8553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089183A4-80A3-490E-B0D0-95CA310F61A4}"/>
              </a:ext>
            </a:extLst>
          </p:cNvPr>
          <p:cNvSpPr txBox="1"/>
          <p:nvPr/>
        </p:nvSpPr>
        <p:spPr>
          <a:xfrm>
            <a:off x="1016000" y="787400"/>
            <a:ext cx="5080000" cy="254000"/>
          </a:xfrm>
          <a:prstGeom prst="rect">
            <a:avLst/>
          </a:prstGeom>
          <a:noFill/>
        </p:spPr>
        <p:txBody>
          <a:bodyPr vertOverflow="overflow" vert="horz" wrap="square" rtlCol="0" anchor="t">
            <a:noAutofit/>
          </a:bodyPr>
          <a:lstStyle/>
          <a:p>
            <a:pPr algn="l"/>
            <a:r>
              <a:rPr lang="en-US" sz="1200" b="1" dirty="0">
                <a:solidFill>
                  <a:srgbClr val="C8553D"/>
                </a:solidFill>
              </a:rPr>
              <a:t>0 6   ·   </a:t>
            </a:r>
            <a:r>
              <a:rPr lang="zh-CN" altLang="en-US" sz="1200" b="1" dirty="0">
                <a:solidFill>
                  <a:srgbClr val="C8553D"/>
                </a:solidFill>
              </a:rPr>
              <a:t>这套框架核心价值</a:t>
            </a:r>
            <a:r>
              <a:rPr lang="en-US" altLang="zh-CN" sz="1200" b="1" dirty="0">
                <a:solidFill>
                  <a:srgbClr val="C8553D"/>
                </a:solidFill>
              </a:rPr>
              <a:t>2</a:t>
            </a:r>
            <a:r>
              <a:rPr lang="zh-CN" altLang="en-US" sz="1200" b="1" dirty="0">
                <a:solidFill>
                  <a:srgbClr val="C8553D"/>
                </a:solidFill>
              </a:rPr>
              <a:t>： </a:t>
            </a:r>
            <a:r>
              <a:rPr lang="en-US" sz="1200" b="1" dirty="0">
                <a:solidFill>
                  <a:srgbClr val="C8553D"/>
                </a:solidFill>
              </a:rPr>
              <a:t>S W A R M </a:t>
            </a:r>
            <a:r>
              <a:rPr lang="en-US" altLang="zh-CN" sz="1200" b="1" dirty="0">
                <a:solidFill>
                  <a:srgbClr val="C8553D"/>
                </a:solidFill>
              </a:rPr>
              <a:t>— </a:t>
            </a:r>
            <a:r>
              <a:rPr lang="zh-CN" altLang="en-US" sz="1200" b="1" dirty="0">
                <a:solidFill>
                  <a:srgbClr val="C8553D"/>
                </a:solidFill>
              </a:rPr>
              <a:t>从 单 机 器 人 到 机 器 人 团 队</a:t>
            </a:r>
            <a:endParaRPr lang="en-US" sz="1200" b="1" dirty="0">
              <a:solidFill>
                <a:srgbClr val="C8553D"/>
              </a:solidFill>
            </a:endParaRPr>
          </a:p>
        </p:txBody>
      </p:sp>
      <p:sp>
        <p:nvSpPr>
          <p:cNvPr id="5" name="TextBox 4">
            <a:extLst>
              <a:ext uri="{FF2B5EF4-FFF2-40B4-BE49-F238E27FC236}">
                <a16:creationId xmlns:a16="http://schemas.microsoft.com/office/drawing/2014/main" id="{BDD4B20E-D16F-42B0-A8CD-9DB95D9014E4}"/>
              </a:ext>
            </a:extLst>
          </p:cNvPr>
          <p:cNvSpPr txBox="1"/>
          <p:nvPr/>
        </p:nvSpPr>
        <p:spPr>
          <a:xfrm>
            <a:off x="1016000" y="1143000"/>
            <a:ext cx="10414000" cy="635000"/>
          </a:xfrm>
          <a:prstGeom prst="rect">
            <a:avLst/>
          </a:prstGeom>
          <a:noFill/>
        </p:spPr>
        <p:txBody>
          <a:bodyPr vertOverflow="overflow" vert="horz" wrap="square" rtlCol="0" anchor="t">
            <a:noAutofit/>
          </a:bodyPr>
          <a:lstStyle/>
          <a:p>
            <a:pPr algn="l"/>
            <a:r>
              <a:rPr lang="zh-CN" altLang="en-US" sz="3200" b="1" dirty="0">
                <a:solidFill>
                  <a:srgbClr val="2B1810"/>
                </a:solidFill>
              </a:rPr>
              <a:t>从单台机器人，到可调度的机器人团队</a:t>
            </a:r>
            <a:endParaRPr lang="en-US" sz="3200" b="1" dirty="0">
              <a:solidFill>
                <a:srgbClr val="2B1810"/>
              </a:solidFill>
            </a:endParaRPr>
          </a:p>
        </p:txBody>
      </p:sp>
      <p:sp>
        <p:nvSpPr>
          <p:cNvPr id="6" name="TextBox 5">
            <a:extLst>
              <a:ext uri="{FF2B5EF4-FFF2-40B4-BE49-F238E27FC236}">
                <a16:creationId xmlns:a16="http://schemas.microsoft.com/office/drawing/2014/main" id="{5D5898DC-9D86-4A38-95A0-58791F8405F7}"/>
              </a:ext>
            </a:extLst>
          </p:cNvPr>
          <p:cNvSpPr txBox="1"/>
          <p:nvPr/>
        </p:nvSpPr>
        <p:spPr>
          <a:xfrm>
            <a:off x="1016000" y="1879600"/>
            <a:ext cx="10414000" cy="355600"/>
          </a:xfrm>
          <a:prstGeom prst="rect">
            <a:avLst/>
          </a:prstGeom>
          <a:noFill/>
        </p:spPr>
        <p:txBody>
          <a:bodyPr vertOverflow="overflow" vert="horz" wrap="square" rtlCol="0" anchor="t">
            <a:noAutofit/>
          </a:bodyPr>
          <a:lstStyle/>
          <a:p>
            <a:pPr algn="l"/>
            <a:r>
              <a:rPr lang="en-US" sz="1400" i="1">
                <a:solidFill>
                  <a:srgbClr val="5C3A21"/>
                </a:solidFill>
              </a:rPr>
              <a:t>Coordinator AI </a:t>
            </a:r>
            <a:r>
              <a:rPr lang="zh-CN" altLang="en-US" sz="1400" i="1">
                <a:solidFill>
                  <a:srgbClr val="5C3A21"/>
                </a:solidFill>
              </a:rPr>
              <a:t>知道每台机器人在哪、能做什么、是否安全 </a:t>
            </a:r>
            <a:r>
              <a:rPr lang="en-US" altLang="zh-CN" sz="1400" i="1">
                <a:solidFill>
                  <a:srgbClr val="5C3A21"/>
                </a:solidFill>
              </a:rPr>
              <a:t>— </a:t>
            </a:r>
            <a:r>
              <a:rPr lang="zh-CN" altLang="en-US" sz="1400" i="1">
                <a:solidFill>
                  <a:srgbClr val="5C3A21"/>
                </a:solidFill>
              </a:rPr>
              <a:t>统一分配、共享记忆、远程接管、审计</a:t>
            </a:r>
            <a:endParaRPr lang="en-US" sz="1400" i="1">
              <a:solidFill>
                <a:srgbClr val="5C3A21"/>
              </a:solidFill>
            </a:endParaRPr>
          </a:p>
        </p:txBody>
      </p:sp>
      <p:sp>
        <p:nvSpPr>
          <p:cNvPr id="7" name="Rectangle 6">
            <a:extLst>
              <a:ext uri="{FF2B5EF4-FFF2-40B4-BE49-F238E27FC236}">
                <a16:creationId xmlns:a16="http://schemas.microsoft.com/office/drawing/2014/main" id="{BCF039F0-2F7B-4A7A-8B9A-260E6D84BD7D}"/>
              </a:ext>
            </a:extLst>
          </p:cNvPr>
          <p:cNvSpPr/>
          <p:nvPr/>
        </p:nvSpPr>
        <p:spPr>
          <a:xfrm>
            <a:off x="1016000" y="2476500"/>
            <a:ext cx="4826000" cy="3048000"/>
          </a:xfrm>
          <a:prstGeom prst="rect">
            <a:avLst/>
          </a:prstGeom>
          <a:solidFill>
            <a:srgbClr val="EFE4D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8" name="Oval 7">
            <a:extLst>
              <a:ext uri="{FF2B5EF4-FFF2-40B4-BE49-F238E27FC236}">
                <a16:creationId xmlns:a16="http://schemas.microsoft.com/office/drawing/2014/main" id="{33E76446-32FC-4E7B-9B1F-F26E3EC2749A}"/>
              </a:ext>
            </a:extLst>
          </p:cNvPr>
          <p:cNvSpPr/>
          <p:nvPr/>
        </p:nvSpPr>
        <p:spPr>
          <a:xfrm>
            <a:off x="2730500" y="3505200"/>
            <a:ext cx="1397000" cy="990600"/>
          </a:xfrm>
          <a:prstGeom prst="ellipse">
            <a:avLst/>
          </a:prstGeom>
          <a:solidFill>
            <a:srgbClr val="C8553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300" b="1">
                <a:solidFill>
                  <a:srgbClr val="FFFFFF"/>
                </a:solidFill>
              </a:rPr>
              <a:t>Coordinator
AI</a:t>
            </a:r>
          </a:p>
        </p:txBody>
      </p:sp>
      <p:sp>
        <p:nvSpPr>
          <p:cNvPr id="9" name="Rectangle 8">
            <a:extLst>
              <a:ext uri="{FF2B5EF4-FFF2-40B4-BE49-F238E27FC236}">
                <a16:creationId xmlns:a16="http://schemas.microsoft.com/office/drawing/2014/main" id="{8224E0F4-E9C3-46C3-928A-89BF646E4733}"/>
              </a:ext>
            </a:extLst>
          </p:cNvPr>
          <p:cNvSpPr/>
          <p:nvPr/>
        </p:nvSpPr>
        <p:spPr>
          <a:xfrm rot="1551981">
            <a:off x="1290974" y="3163229"/>
            <a:ext cx="1863051" cy="25400"/>
          </a:xfrm>
          <a:prstGeom prst="rect">
            <a:avLst/>
          </a:prstGeom>
          <a:solidFill>
            <a:srgbClr val="8B6F4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Rectangle 9">
            <a:extLst>
              <a:ext uri="{FF2B5EF4-FFF2-40B4-BE49-F238E27FC236}">
                <a16:creationId xmlns:a16="http://schemas.microsoft.com/office/drawing/2014/main" id="{B89665A0-11C3-40B3-AAAD-AD32DCD81CDA}"/>
              </a:ext>
            </a:extLst>
          </p:cNvPr>
          <p:cNvSpPr/>
          <p:nvPr/>
        </p:nvSpPr>
        <p:spPr>
          <a:xfrm rot="9248019">
            <a:off x="3768284" y="3175001"/>
            <a:ext cx="1863051" cy="25400"/>
          </a:xfrm>
          <a:prstGeom prst="rect">
            <a:avLst/>
          </a:prstGeom>
          <a:solidFill>
            <a:srgbClr val="8B6F4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 name="Rectangle 10">
            <a:extLst>
              <a:ext uri="{FF2B5EF4-FFF2-40B4-BE49-F238E27FC236}">
                <a16:creationId xmlns:a16="http://schemas.microsoft.com/office/drawing/2014/main" id="{398CBFB9-04DC-463B-A241-75D42890BA0A}"/>
              </a:ext>
            </a:extLst>
          </p:cNvPr>
          <p:cNvSpPr/>
          <p:nvPr/>
        </p:nvSpPr>
        <p:spPr>
          <a:xfrm rot="-5400000">
            <a:off x="3003550" y="4899877"/>
            <a:ext cx="812800" cy="25400"/>
          </a:xfrm>
          <a:prstGeom prst="rect">
            <a:avLst/>
          </a:prstGeom>
          <a:solidFill>
            <a:srgbClr val="8B6F4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Oval 11">
            <a:extLst>
              <a:ext uri="{FF2B5EF4-FFF2-40B4-BE49-F238E27FC236}">
                <a16:creationId xmlns:a16="http://schemas.microsoft.com/office/drawing/2014/main" id="{0CC0D20C-E81D-4CDE-BC7C-F818D643E172}"/>
              </a:ext>
            </a:extLst>
          </p:cNvPr>
          <p:cNvSpPr/>
          <p:nvPr/>
        </p:nvSpPr>
        <p:spPr>
          <a:xfrm>
            <a:off x="2730500" y="3505200"/>
            <a:ext cx="1397000" cy="990600"/>
          </a:xfrm>
          <a:prstGeom prst="ellipse">
            <a:avLst/>
          </a:prstGeom>
          <a:solidFill>
            <a:srgbClr val="C8553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300" b="1">
                <a:solidFill>
                  <a:srgbClr val="FFFFFF"/>
                </a:solidFill>
              </a:rPr>
              <a:t>Coordinator</a:t>
            </a:r>
          </a:p>
        </p:txBody>
      </p:sp>
      <p:sp>
        <p:nvSpPr>
          <p:cNvPr id="13" name="Oval 12">
            <a:extLst>
              <a:ext uri="{FF2B5EF4-FFF2-40B4-BE49-F238E27FC236}">
                <a16:creationId xmlns:a16="http://schemas.microsoft.com/office/drawing/2014/main" id="{73941028-69B0-4723-A5F7-5EBF3C4003BC}"/>
              </a:ext>
            </a:extLst>
          </p:cNvPr>
          <p:cNvSpPr/>
          <p:nvPr/>
        </p:nvSpPr>
        <p:spPr>
          <a:xfrm>
            <a:off x="1100916" y="2970716"/>
            <a:ext cx="711200" cy="711200"/>
          </a:xfrm>
          <a:prstGeom prst="ellipse">
            <a:avLst/>
          </a:prstGeom>
          <a:solidFill>
            <a:srgbClr val="5C3A2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200" b="1">
                <a:solidFill>
                  <a:srgbClr val="F5EFE6"/>
                </a:solidFill>
              </a:rPr>
              <a:t>R-01</a:t>
            </a:r>
          </a:p>
        </p:txBody>
      </p:sp>
      <p:sp>
        <p:nvSpPr>
          <p:cNvPr id="14" name="Oval 13">
            <a:extLst>
              <a:ext uri="{FF2B5EF4-FFF2-40B4-BE49-F238E27FC236}">
                <a16:creationId xmlns:a16="http://schemas.microsoft.com/office/drawing/2014/main" id="{5E36124D-9A9B-41D6-8B48-E579BD1DEFCB}"/>
              </a:ext>
            </a:extLst>
          </p:cNvPr>
          <p:cNvSpPr/>
          <p:nvPr/>
        </p:nvSpPr>
        <p:spPr>
          <a:xfrm>
            <a:off x="5029200" y="2945129"/>
            <a:ext cx="711200" cy="711200"/>
          </a:xfrm>
          <a:prstGeom prst="ellipse">
            <a:avLst/>
          </a:prstGeom>
          <a:solidFill>
            <a:srgbClr val="5C3A2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200" b="1">
                <a:solidFill>
                  <a:srgbClr val="F5EFE6"/>
                </a:solidFill>
              </a:rPr>
              <a:t>R-02</a:t>
            </a:r>
          </a:p>
        </p:txBody>
      </p:sp>
      <p:sp>
        <p:nvSpPr>
          <p:cNvPr id="15" name="Oval 14">
            <a:extLst>
              <a:ext uri="{FF2B5EF4-FFF2-40B4-BE49-F238E27FC236}">
                <a16:creationId xmlns:a16="http://schemas.microsoft.com/office/drawing/2014/main" id="{30FA5460-4B27-41DE-B2DC-822A1D118AD4}"/>
              </a:ext>
            </a:extLst>
          </p:cNvPr>
          <p:cNvSpPr/>
          <p:nvPr/>
        </p:nvSpPr>
        <p:spPr>
          <a:xfrm>
            <a:off x="2254250" y="4502150"/>
            <a:ext cx="711200" cy="711200"/>
          </a:xfrm>
          <a:prstGeom prst="ellipse">
            <a:avLst/>
          </a:prstGeom>
          <a:solidFill>
            <a:srgbClr val="5C3A2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200" b="1">
                <a:solidFill>
                  <a:srgbClr val="F5EFE6"/>
                </a:solidFill>
              </a:rPr>
              <a:t>R-03</a:t>
            </a:r>
          </a:p>
        </p:txBody>
      </p:sp>
      <p:sp>
        <p:nvSpPr>
          <p:cNvPr id="17" name="TextBox 16">
            <a:extLst>
              <a:ext uri="{FF2B5EF4-FFF2-40B4-BE49-F238E27FC236}">
                <a16:creationId xmlns:a16="http://schemas.microsoft.com/office/drawing/2014/main" id="{9AA3B4AF-0FF5-447E-9D01-BB6B5CADB72B}"/>
              </a:ext>
            </a:extLst>
          </p:cNvPr>
          <p:cNvSpPr txBox="1"/>
          <p:nvPr/>
        </p:nvSpPr>
        <p:spPr>
          <a:xfrm>
            <a:off x="6350000" y="2476500"/>
            <a:ext cx="5080000" cy="355600"/>
          </a:xfrm>
          <a:prstGeom prst="rect">
            <a:avLst/>
          </a:prstGeom>
          <a:noFill/>
        </p:spPr>
        <p:txBody>
          <a:bodyPr vertOverflow="overflow" vert="horz" wrap="square" rtlCol="0" anchor="t">
            <a:noAutofit/>
          </a:bodyPr>
          <a:lstStyle/>
          <a:p>
            <a:pPr algn="l"/>
            <a:r>
              <a:rPr lang="en-US" altLang="zh-CN" sz="1700" b="1">
                <a:solidFill>
                  <a:srgbClr val="2B1810"/>
                </a:solidFill>
              </a:rPr>
              <a:t>Swarm </a:t>
            </a:r>
            <a:r>
              <a:rPr lang="zh-CN" altLang="en-US" sz="1700" b="1">
                <a:solidFill>
                  <a:srgbClr val="2B1810"/>
                </a:solidFill>
              </a:rPr>
              <a:t>层解决的企业刚需</a:t>
            </a:r>
            <a:endParaRPr lang="en-US" sz="1700" b="1">
              <a:solidFill>
                <a:srgbClr val="2B1810"/>
              </a:solidFill>
            </a:endParaRPr>
          </a:p>
        </p:txBody>
      </p:sp>
      <p:sp>
        <p:nvSpPr>
          <p:cNvPr id="18" name="TextBox 17">
            <a:extLst>
              <a:ext uri="{FF2B5EF4-FFF2-40B4-BE49-F238E27FC236}">
                <a16:creationId xmlns:a16="http://schemas.microsoft.com/office/drawing/2014/main" id="{4B2B12E0-14A9-4313-B5FC-48BEBDE42E2F}"/>
              </a:ext>
            </a:extLst>
          </p:cNvPr>
          <p:cNvSpPr txBox="1"/>
          <p:nvPr/>
        </p:nvSpPr>
        <p:spPr>
          <a:xfrm>
            <a:off x="6350000" y="2959100"/>
            <a:ext cx="5080000" cy="228600"/>
          </a:xfrm>
          <a:prstGeom prst="rect">
            <a:avLst/>
          </a:prstGeom>
          <a:noFill/>
        </p:spPr>
        <p:txBody>
          <a:bodyPr vertOverflow="overflow" vert="horz" wrap="square" rtlCol="0" anchor="t">
            <a:noAutofit/>
          </a:bodyPr>
          <a:lstStyle/>
          <a:p>
            <a:pPr algn="l"/>
            <a:r>
              <a:rPr lang="zh-CN" altLang="en-US" sz="1300" b="1">
                <a:solidFill>
                  <a:srgbClr val="2B1810"/>
                </a:solidFill>
              </a:rPr>
              <a:t>多台机器人谁去做哪个任务？</a:t>
            </a:r>
            <a:endParaRPr lang="en-US" sz="1300" b="1">
              <a:solidFill>
                <a:srgbClr val="2B1810"/>
              </a:solidFill>
            </a:endParaRPr>
          </a:p>
        </p:txBody>
      </p:sp>
      <p:sp>
        <p:nvSpPr>
          <p:cNvPr id="19" name="TextBox 18">
            <a:extLst>
              <a:ext uri="{FF2B5EF4-FFF2-40B4-BE49-F238E27FC236}">
                <a16:creationId xmlns:a16="http://schemas.microsoft.com/office/drawing/2014/main" id="{7238875B-BE28-473D-83CF-538C280FFB34}"/>
              </a:ext>
            </a:extLst>
          </p:cNvPr>
          <p:cNvSpPr txBox="1"/>
          <p:nvPr/>
        </p:nvSpPr>
        <p:spPr>
          <a:xfrm>
            <a:off x="6350000" y="3200400"/>
            <a:ext cx="5080000" cy="215900"/>
          </a:xfrm>
          <a:prstGeom prst="rect">
            <a:avLst/>
          </a:prstGeom>
          <a:noFill/>
        </p:spPr>
        <p:txBody>
          <a:bodyPr vertOverflow="overflow" vert="horz" wrap="square" rtlCol="0" anchor="t">
            <a:noAutofit/>
          </a:bodyPr>
          <a:lstStyle/>
          <a:p>
            <a:pPr algn="l"/>
            <a:r>
              <a:rPr lang="en-US" sz="1200" i="1">
                <a:solidFill>
                  <a:srgbClr val="C8553D"/>
                </a:solidFill>
              </a:rPr>
              <a:t>→ Task Queue + Capability Matching</a:t>
            </a:r>
          </a:p>
        </p:txBody>
      </p:sp>
      <p:sp>
        <p:nvSpPr>
          <p:cNvPr id="20" name="TextBox 19">
            <a:extLst>
              <a:ext uri="{FF2B5EF4-FFF2-40B4-BE49-F238E27FC236}">
                <a16:creationId xmlns:a16="http://schemas.microsoft.com/office/drawing/2014/main" id="{0CD8FEF5-AD0D-4B08-86BB-933B28E59555}"/>
              </a:ext>
            </a:extLst>
          </p:cNvPr>
          <p:cNvSpPr txBox="1"/>
          <p:nvPr/>
        </p:nvSpPr>
        <p:spPr>
          <a:xfrm>
            <a:off x="6350000" y="3517900"/>
            <a:ext cx="5080000" cy="228600"/>
          </a:xfrm>
          <a:prstGeom prst="rect">
            <a:avLst/>
          </a:prstGeom>
          <a:noFill/>
        </p:spPr>
        <p:txBody>
          <a:bodyPr vertOverflow="overflow" vert="horz" wrap="square" rtlCol="0" anchor="t">
            <a:noAutofit/>
          </a:bodyPr>
          <a:lstStyle/>
          <a:p>
            <a:pPr algn="l"/>
            <a:r>
              <a:rPr lang="zh-CN" altLang="en-US" sz="1300" b="1">
                <a:solidFill>
                  <a:srgbClr val="2B1810"/>
                </a:solidFill>
              </a:rPr>
              <a:t>会不会两台机器人冲突？</a:t>
            </a:r>
            <a:endParaRPr lang="en-US" sz="1300" b="1">
              <a:solidFill>
                <a:srgbClr val="2B1810"/>
              </a:solidFill>
            </a:endParaRPr>
          </a:p>
        </p:txBody>
      </p:sp>
      <p:sp>
        <p:nvSpPr>
          <p:cNvPr id="21" name="TextBox 20">
            <a:extLst>
              <a:ext uri="{FF2B5EF4-FFF2-40B4-BE49-F238E27FC236}">
                <a16:creationId xmlns:a16="http://schemas.microsoft.com/office/drawing/2014/main" id="{0947A654-5596-4751-95EB-622A7310FE5F}"/>
              </a:ext>
            </a:extLst>
          </p:cNvPr>
          <p:cNvSpPr txBox="1"/>
          <p:nvPr/>
        </p:nvSpPr>
        <p:spPr>
          <a:xfrm>
            <a:off x="6350000" y="3759200"/>
            <a:ext cx="5080000" cy="215900"/>
          </a:xfrm>
          <a:prstGeom prst="rect">
            <a:avLst/>
          </a:prstGeom>
          <a:noFill/>
        </p:spPr>
        <p:txBody>
          <a:bodyPr vertOverflow="overflow" vert="horz" wrap="square" rtlCol="0" anchor="t">
            <a:noAutofit/>
          </a:bodyPr>
          <a:lstStyle/>
          <a:p>
            <a:pPr algn="l"/>
            <a:r>
              <a:rPr lang="en-US" sz="1200" i="1">
                <a:solidFill>
                  <a:srgbClr val="C8553D"/>
                </a:solidFill>
              </a:rPr>
              <a:t>→ Global State + Geofence + Lease</a:t>
            </a:r>
          </a:p>
        </p:txBody>
      </p:sp>
      <p:sp>
        <p:nvSpPr>
          <p:cNvPr id="22" name="TextBox 21">
            <a:extLst>
              <a:ext uri="{FF2B5EF4-FFF2-40B4-BE49-F238E27FC236}">
                <a16:creationId xmlns:a16="http://schemas.microsoft.com/office/drawing/2014/main" id="{C159ACC9-0B10-4915-A329-3822BBD5F335}"/>
              </a:ext>
            </a:extLst>
          </p:cNvPr>
          <p:cNvSpPr txBox="1"/>
          <p:nvPr/>
        </p:nvSpPr>
        <p:spPr>
          <a:xfrm>
            <a:off x="6350000" y="4076700"/>
            <a:ext cx="5080000" cy="228600"/>
          </a:xfrm>
          <a:prstGeom prst="rect">
            <a:avLst/>
          </a:prstGeom>
          <a:noFill/>
        </p:spPr>
        <p:txBody>
          <a:bodyPr vertOverflow="overflow" vert="horz" wrap="square" rtlCol="0" anchor="t">
            <a:noAutofit/>
          </a:bodyPr>
          <a:lstStyle/>
          <a:p>
            <a:pPr algn="l"/>
            <a:r>
              <a:rPr lang="zh-CN" altLang="en-US" sz="1300" b="1">
                <a:solidFill>
                  <a:srgbClr val="2B1810"/>
                </a:solidFill>
              </a:rPr>
              <a:t>某台低电量或故障怎么办？</a:t>
            </a:r>
            <a:endParaRPr lang="en-US" sz="1300" b="1">
              <a:solidFill>
                <a:srgbClr val="2B1810"/>
              </a:solidFill>
            </a:endParaRPr>
          </a:p>
        </p:txBody>
      </p:sp>
      <p:sp>
        <p:nvSpPr>
          <p:cNvPr id="23" name="TextBox 22">
            <a:extLst>
              <a:ext uri="{FF2B5EF4-FFF2-40B4-BE49-F238E27FC236}">
                <a16:creationId xmlns:a16="http://schemas.microsoft.com/office/drawing/2014/main" id="{7CBEE434-3B3A-4ADF-AEB0-97B38FCF1CBC}"/>
              </a:ext>
            </a:extLst>
          </p:cNvPr>
          <p:cNvSpPr txBox="1"/>
          <p:nvPr/>
        </p:nvSpPr>
        <p:spPr>
          <a:xfrm>
            <a:off x="6350000" y="4318000"/>
            <a:ext cx="5080000" cy="215900"/>
          </a:xfrm>
          <a:prstGeom prst="rect">
            <a:avLst/>
          </a:prstGeom>
          <a:noFill/>
        </p:spPr>
        <p:txBody>
          <a:bodyPr vertOverflow="overflow" vert="horz" wrap="square" rtlCol="0" anchor="t">
            <a:noAutofit/>
          </a:bodyPr>
          <a:lstStyle/>
          <a:p>
            <a:pPr algn="l"/>
            <a:r>
              <a:rPr lang="en-US" sz="1200" i="1">
                <a:solidFill>
                  <a:srgbClr val="C8553D"/>
                </a:solidFill>
              </a:rPr>
              <a:t>→ Health Monitor + Reassign</a:t>
            </a:r>
          </a:p>
        </p:txBody>
      </p:sp>
      <p:sp>
        <p:nvSpPr>
          <p:cNvPr id="24" name="TextBox 23">
            <a:extLst>
              <a:ext uri="{FF2B5EF4-FFF2-40B4-BE49-F238E27FC236}">
                <a16:creationId xmlns:a16="http://schemas.microsoft.com/office/drawing/2014/main" id="{117E4F3F-99EB-4308-B975-F3C332AF4688}"/>
              </a:ext>
            </a:extLst>
          </p:cNvPr>
          <p:cNvSpPr txBox="1"/>
          <p:nvPr/>
        </p:nvSpPr>
        <p:spPr>
          <a:xfrm>
            <a:off x="6350000" y="4635500"/>
            <a:ext cx="5080000" cy="228600"/>
          </a:xfrm>
          <a:prstGeom prst="rect">
            <a:avLst/>
          </a:prstGeom>
          <a:noFill/>
        </p:spPr>
        <p:txBody>
          <a:bodyPr vertOverflow="overflow" vert="horz" wrap="square" rtlCol="0" anchor="t">
            <a:noAutofit/>
          </a:bodyPr>
          <a:lstStyle/>
          <a:p>
            <a:pPr algn="l"/>
            <a:r>
              <a:rPr lang="zh-CN" altLang="en-US" sz="1300" b="1">
                <a:solidFill>
                  <a:srgbClr val="2B1810"/>
                </a:solidFill>
              </a:rPr>
              <a:t>主管怎么接管？</a:t>
            </a:r>
            <a:endParaRPr lang="en-US" sz="1300" b="1">
              <a:solidFill>
                <a:srgbClr val="2B1810"/>
              </a:solidFill>
            </a:endParaRPr>
          </a:p>
        </p:txBody>
      </p:sp>
      <p:sp>
        <p:nvSpPr>
          <p:cNvPr id="25" name="TextBox 24">
            <a:extLst>
              <a:ext uri="{FF2B5EF4-FFF2-40B4-BE49-F238E27FC236}">
                <a16:creationId xmlns:a16="http://schemas.microsoft.com/office/drawing/2014/main" id="{D17E3FB0-E313-4E73-B999-7F73D1A3FCCA}"/>
              </a:ext>
            </a:extLst>
          </p:cNvPr>
          <p:cNvSpPr txBox="1"/>
          <p:nvPr/>
        </p:nvSpPr>
        <p:spPr>
          <a:xfrm>
            <a:off x="6350000" y="4876800"/>
            <a:ext cx="5080000" cy="215900"/>
          </a:xfrm>
          <a:prstGeom prst="rect">
            <a:avLst/>
          </a:prstGeom>
          <a:noFill/>
        </p:spPr>
        <p:txBody>
          <a:bodyPr vertOverflow="overflow" vert="horz" wrap="square" rtlCol="0" anchor="t">
            <a:noAutofit/>
          </a:bodyPr>
          <a:lstStyle/>
          <a:p>
            <a:pPr algn="l"/>
            <a:r>
              <a:rPr lang="en-US" sz="1200" i="1">
                <a:solidFill>
                  <a:srgbClr val="C8553D"/>
                </a:solidFill>
              </a:rPr>
              <a:t>→ Remote Bridge + Human-in-the-loop</a:t>
            </a:r>
          </a:p>
        </p:txBody>
      </p:sp>
      <p:sp>
        <p:nvSpPr>
          <p:cNvPr id="26" name="TextBox 25">
            <a:extLst>
              <a:ext uri="{FF2B5EF4-FFF2-40B4-BE49-F238E27FC236}">
                <a16:creationId xmlns:a16="http://schemas.microsoft.com/office/drawing/2014/main" id="{54EAD884-5E48-455C-A425-7F7FEB3C1D6D}"/>
              </a:ext>
            </a:extLst>
          </p:cNvPr>
          <p:cNvSpPr txBox="1"/>
          <p:nvPr/>
        </p:nvSpPr>
        <p:spPr>
          <a:xfrm>
            <a:off x="6350000" y="5194300"/>
            <a:ext cx="5080000" cy="228600"/>
          </a:xfrm>
          <a:prstGeom prst="rect">
            <a:avLst/>
          </a:prstGeom>
          <a:noFill/>
        </p:spPr>
        <p:txBody>
          <a:bodyPr vertOverflow="overflow" vert="horz" wrap="square" rtlCol="0" anchor="t">
            <a:noAutofit/>
          </a:bodyPr>
          <a:lstStyle/>
          <a:p>
            <a:pPr algn="l"/>
            <a:r>
              <a:rPr lang="zh-CN" altLang="en-US" sz="1300" b="1">
                <a:solidFill>
                  <a:srgbClr val="2B1810"/>
                </a:solidFill>
              </a:rPr>
              <a:t>多机器人如何共享记忆？</a:t>
            </a:r>
            <a:endParaRPr lang="en-US" sz="1300" b="1">
              <a:solidFill>
                <a:srgbClr val="2B1810"/>
              </a:solidFill>
            </a:endParaRPr>
          </a:p>
        </p:txBody>
      </p:sp>
      <p:sp>
        <p:nvSpPr>
          <p:cNvPr id="27" name="TextBox 26">
            <a:extLst>
              <a:ext uri="{FF2B5EF4-FFF2-40B4-BE49-F238E27FC236}">
                <a16:creationId xmlns:a16="http://schemas.microsoft.com/office/drawing/2014/main" id="{8DF27C62-A9EC-4FE1-9C0C-8C6E42F449A1}"/>
              </a:ext>
            </a:extLst>
          </p:cNvPr>
          <p:cNvSpPr txBox="1"/>
          <p:nvPr/>
        </p:nvSpPr>
        <p:spPr>
          <a:xfrm>
            <a:off x="6350000" y="5435600"/>
            <a:ext cx="5080000" cy="215900"/>
          </a:xfrm>
          <a:prstGeom prst="rect">
            <a:avLst/>
          </a:prstGeom>
          <a:noFill/>
        </p:spPr>
        <p:txBody>
          <a:bodyPr vertOverflow="overflow" vert="horz" wrap="square" rtlCol="0" anchor="t">
            <a:noAutofit/>
          </a:bodyPr>
          <a:lstStyle/>
          <a:p>
            <a:pPr algn="l"/>
            <a:r>
              <a:rPr lang="en-US" sz="1200" i="1">
                <a:solidFill>
                  <a:srgbClr val="C8553D"/>
                </a:solidFill>
              </a:rPr>
              <a:t>→ Shared Site Memory + Local Memory</a:t>
            </a:r>
          </a:p>
        </p:txBody>
      </p:sp>
      <p:sp>
        <p:nvSpPr>
          <p:cNvPr id="28" name="TextBox 27">
            <a:extLst>
              <a:ext uri="{FF2B5EF4-FFF2-40B4-BE49-F238E27FC236}">
                <a16:creationId xmlns:a16="http://schemas.microsoft.com/office/drawing/2014/main" id="{16455BEA-1A49-4C29-9548-5115F41007FE}"/>
              </a:ext>
            </a:extLst>
          </p:cNvPr>
          <p:cNvSpPr txBox="1"/>
          <p:nvPr/>
        </p:nvSpPr>
        <p:spPr>
          <a:xfrm>
            <a:off x="6350000" y="5753100"/>
            <a:ext cx="5080000" cy="228600"/>
          </a:xfrm>
          <a:prstGeom prst="rect">
            <a:avLst/>
          </a:prstGeom>
          <a:noFill/>
        </p:spPr>
        <p:txBody>
          <a:bodyPr vertOverflow="overflow" vert="horz" wrap="square" rtlCol="0" anchor="t">
            <a:noAutofit/>
          </a:bodyPr>
          <a:lstStyle/>
          <a:p>
            <a:pPr algn="l"/>
            <a:r>
              <a:rPr lang="zh-CN" altLang="en-US" sz="1300" b="1">
                <a:solidFill>
                  <a:srgbClr val="2B1810"/>
                </a:solidFill>
              </a:rPr>
              <a:t>怎么复盘整队表现？</a:t>
            </a:r>
            <a:endParaRPr lang="en-US" sz="1300" b="1">
              <a:solidFill>
                <a:srgbClr val="2B1810"/>
              </a:solidFill>
            </a:endParaRPr>
          </a:p>
        </p:txBody>
      </p:sp>
      <p:sp>
        <p:nvSpPr>
          <p:cNvPr id="29" name="TextBox 28">
            <a:extLst>
              <a:ext uri="{FF2B5EF4-FFF2-40B4-BE49-F238E27FC236}">
                <a16:creationId xmlns:a16="http://schemas.microsoft.com/office/drawing/2014/main" id="{8C4B242C-E8B8-4591-BCC6-4C069DD1198B}"/>
              </a:ext>
            </a:extLst>
          </p:cNvPr>
          <p:cNvSpPr txBox="1"/>
          <p:nvPr/>
        </p:nvSpPr>
        <p:spPr>
          <a:xfrm>
            <a:off x="6350000" y="5994400"/>
            <a:ext cx="5080000" cy="215900"/>
          </a:xfrm>
          <a:prstGeom prst="rect">
            <a:avLst/>
          </a:prstGeom>
          <a:noFill/>
        </p:spPr>
        <p:txBody>
          <a:bodyPr vertOverflow="overflow" vert="horz" wrap="square" rtlCol="0" anchor="t">
            <a:noAutofit/>
          </a:bodyPr>
          <a:lstStyle/>
          <a:p>
            <a:pPr algn="l"/>
            <a:r>
              <a:rPr lang="en-US" sz="1200" i="1">
                <a:solidFill>
                  <a:srgbClr val="C8553D"/>
                </a:solidFill>
              </a:rPr>
              <a:t>→ Fleet Trace + Metrics Dashboard</a:t>
            </a:r>
          </a:p>
        </p:txBody>
      </p:sp>
      <p:sp>
        <p:nvSpPr>
          <p:cNvPr id="30" name="TextBox 29">
            <a:extLst>
              <a:ext uri="{FF2B5EF4-FFF2-40B4-BE49-F238E27FC236}">
                <a16:creationId xmlns:a16="http://schemas.microsoft.com/office/drawing/2014/main" id="{1C279F4B-E537-41CC-998B-C2192BB213C8}"/>
              </a:ext>
            </a:extLst>
          </p:cNvPr>
          <p:cNvSpPr txBox="1"/>
          <p:nvPr/>
        </p:nvSpPr>
        <p:spPr>
          <a:xfrm>
            <a:off x="10414000" y="6324600"/>
            <a:ext cx="1016000" cy="254000"/>
          </a:xfrm>
          <a:prstGeom prst="rect">
            <a:avLst/>
          </a:prstGeom>
          <a:noFill/>
        </p:spPr>
        <p:txBody>
          <a:bodyPr vertOverflow="overflow" vert="horz" wrap="square" rtlCol="0" anchor="t">
            <a:noAutofit/>
          </a:bodyPr>
          <a:lstStyle/>
          <a:p>
            <a:pPr algn="l"/>
            <a:r>
              <a:rPr lang="en-US" sz="1100">
                <a:solidFill>
                  <a:srgbClr val="8B6F47"/>
                </a:solidFill>
              </a:rPr>
              <a:t>06 / 08</a:t>
            </a:r>
          </a:p>
        </p:txBody>
      </p:sp>
      <p:sp>
        <p:nvSpPr>
          <p:cNvPr id="31" name="Rectangle: Rounded Corners 30">
            <a:extLst>
              <a:ext uri="{FF2B5EF4-FFF2-40B4-BE49-F238E27FC236}">
                <a16:creationId xmlns:a16="http://schemas.microsoft.com/office/drawing/2014/main" id="{F819CCBE-5CF0-4187-AC5E-A5B4A66C321C}"/>
              </a:ext>
            </a:extLst>
          </p:cNvPr>
          <p:cNvSpPr/>
          <p:nvPr/>
        </p:nvSpPr>
        <p:spPr>
          <a:xfrm>
            <a:off x="1314450" y="5651500"/>
            <a:ext cx="1485900" cy="279400"/>
          </a:xfrm>
          <a:prstGeom prst="roundRect">
            <a:avLst/>
          </a:prstGeom>
          <a:solidFill>
            <a:srgbClr val="EFE4D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100" b="1">
                <a:solidFill>
                  <a:srgbClr val="5C3A21"/>
                </a:solidFill>
              </a:rPr>
              <a:t>Robot Registry</a:t>
            </a:r>
          </a:p>
        </p:txBody>
      </p:sp>
      <p:sp>
        <p:nvSpPr>
          <p:cNvPr id="32" name="Rectangle: Rounded Corners 31">
            <a:extLst>
              <a:ext uri="{FF2B5EF4-FFF2-40B4-BE49-F238E27FC236}">
                <a16:creationId xmlns:a16="http://schemas.microsoft.com/office/drawing/2014/main" id="{3B8341D2-6F39-445D-A36C-6F7C81FBF550}"/>
              </a:ext>
            </a:extLst>
          </p:cNvPr>
          <p:cNvSpPr/>
          <p:nvPr/>
        </p:nvSpPr>
        <p:spPr>
          <a:xfrm>
            <a:off x="2901950" y="5651500"/>
            <a:ext cx="1143000" cy="279400"/>
          </a:xfrm>
          <a:prstGeom prst="roundRect">
            <a:avLst/>
          </a:prstGeom>
          <a:solidFill>
            <a:srgbClr val="EFE4D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100" b="1">
                <a:solidFill>
                  <a:srgbClr val="5C3A21"/>
                </a:solidFill>
              </a:rPr>
              <a:t>Task Queue</a:t>
            </a:r>
          </a:p>
        </p:txBody>
      </p:sp>
      <p:sp>
        <p:nvSpPr>
          <p:cNvPr id="33" name="Rectangle: Rounded Corners 32">
            <a:extLst>
              <a:ext uri="{FF2B5EF4-FFF2-40B4-BE49-F238E27FC236}">
                <a16:creationId xmlns:a16="http://schemas.microsoft.com/office/drawing/2014/main" id="{A7B1649E-2858-4D10-8D43-A98D8B747032}"/>
              </a:ext>
            </a:extLst>
          </p:cNvPr>
          <p:cNvSpPr/>
          <p:nvPr/>
        </p:nvSpPr>
        <p:spPr>
          <a:xfrm>
            <a:off x="4146550" y="5651500"/>
            <a:ext cx="1397000" cy="279400"/>
          </a:xfrm>
          <a:prstGeom prst="roundRect">
            <a:avLst/>
          </a:prstGeom>
          <a:solidFill>
            <a:srgbClr val="EFE4D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100" b="1">
                <a:solidFill>
                  <a:srgbClr val="5C3A21"/>
                </a:solidFill>
              </a:rPr>
              <a:t>Shared Memory</a:t>
            </a:r>
          </a:p>
        </p:txBody>
      </p:sp>
      <p:sp>
        <p:nvSpPr>
          <p:cNvPr id="34" name="Rectangle: Rounded Corners 33">
            <a:extLst>
              <a:ext uri="{FF2B5EF4-FFF2-40B4-BE49-F238E27FC236}">
                <a16:creationId xmlns:a16="http://schemas.microsoft.com/office/drawing/2014/main" id="{94E07EF5-FB87-4370-8379-25094CFBA490}"/>
              </a:ext>
            </a:extLst>
          </p:cNvPr>
          <p:cNvSpPr/>
          <p:nvPr/>
        </p:nvSpPr>
        <p:spPr>
          <a:xfrm>
            <a:off x="2101850" y="6032500"/>
            <a:ext cx="1320800" cy="279400"/>
          </a:xfrm>
          <a:prstGeom prst="roundRect">
            <a:avLst/>
          </a:prstGeom>
          <a:solidFill>
            <a:srgbClr val="EFE4D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100" b="1">
                <a:solidFill>
                  <a:srgbClr val="5C3A21"/>
                </a:solidFill>
              </a:rPr>
              <a:t>Safety Lease</a:t>
            </a:r>
          </a:p>
        </p:txBody>
      </p:sp>
      <p:sp>
        <p:nvSpPr>
          <p:cNvPr id="35" name="Rectangle: Rounded Corners 34">
            <a:extLst>
              <a:ext uri="{FF2B5EF4-FFF2-40B4-BE49-F238E27FC236}">
                <a16:creationId xmlns:a16="http://schemas.microsoft.com/office/drawing/2014/main" id="{48190FAC-7417-4BEE-A7B1-12E699C3D683}"/>
              </a:ext>
            </a:extLst>
          </p:cNvPr>
          <p:cNvSpPr/>
          <p:nvPr/>
        </p:nvSpPr>
        <p:spPr>
          <a:xfrm>
            <a:off x="3524250" y="6032500"/>
            <a:ext cx="1231900" cy="279400"/>
          </a:xfrm>
          <a:prstGeom prst="roundRect">
            <a:avLst/>
          </a:prstGeom>
          <a:solidFill>
            <a:srgbClr val="EFE4D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100" b="1">
                <a:solidFill>
                  <a:srgbClr val="5C3A21"/>
                </a:solidFill>
              </a:rPr>
              <a:t>Fleet Trace</a:t>
            </a:r>
          </a:p>
        </p:txBody>
      </p:sp>
    </p:spTree>
    <p:extLst>
      <p:ext uri="{BB962C8B-B14F-4D97-AF65-F5344CB8AC3E}">
        <p14:creationId xmlns:p14="http://schemas.microsoft.com/office/powerpoint/2010/main" val="26992645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B2B69-2468-7E43-B754-69721F57CF60}"/>
              </a:ext>
            </a:extLst>
          </p:cNvPr>
          <p:cNvSpPr>
            <a:spLocks noGrp="1"/>
          </p:cNvSpPr>
          <p:nvPr>
            <p:ph type="title"/>
          </p:nvPr>
        </p:nvSpPr>
        <p:spPr/>
        <p:txBody>
          <a:bodyPr/>
          <a:lstStyle/>
          <a:p>
            <a:r>
              <a:rPr lang="en-US" dirty="0"/>
              <a:t>DEMO</a:t>
            </a:r>
            <a:r>
              <a:rPr lang="zh-CN" altLang="en-US" dirty="0"/>
              <a:t>视频页</a:t>
            </a:r>
            <a:endParaRPr lang="en-US" dirty="0"/>
          </a:p>
        </p:txBody>
      </p:sp>
    </p:spTree>
    <p:extLst>
      <p:ext uri="{BB962C8B-B14F-4D97-AF65-F5344CB8AC3E}">
        <p14:creationId xmlns:p14="http://schemas.microsoft.com/office/powerpoint/2010/main" val="31088761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4C1EA2E-537A-4259-85A1-861C7BEABDCB}"/>
              </a:ext>
            </a:extLst>
          </p:cNvPr>
          <p:cNvSpPr txBox="1"/>
          <p:nvPr/>
        </p:nvSpPr>
        <p:spPr>
          <a:xfrm>
            <a:off x="1041400" y="570261"/>
            <a:ext cx="10414000" cy="635000"/>
          </a:xfrm>
          <a:prstGeom prst="rect">
            <a:avLst/>
          </a:prstGeom>
          <a:noFill/>
        </p:spPr>
        <p:txBody>
          <a:bodyPr vertOverflow="overflow" vert="horz" wrap="square" rtlCol="0" anchor="t">
            <a:noAutofit/>
          </a:bodyPr>
          <a:lstStyle/>
          <a:p>
            <a:pPr algn="l"/>
            <a:r>
              <a:rPr lang="zh-CN" altLang="en-US" sz="3200" b="1" dirty="0">
                <a:solidFill>
                  <a:srgbClr val="2B1810"/>
                </a:solidFill>
              </a:rPr>
              <a:t>从单机 </a:t>
            </a:r>
            <a:r>
              <a:rPr lang="en-US" altLang="zh-CN" sz="3200" b="1" dirty="0">
                <a:solidFill>
                  <a:srgbClr val="2B1810"/>
                </a:solidFill>
              </a:rPr>
              <a:t>Runtime </a:t>
            </a:r>
            <a:r>
              <a:rPr lang="zh-CN" altLang="en-US" sz="3200" b="1" dirty="0">
                <a:solidFill>
                  <a:srgbClr val="2B1810"/>
                </a:solidFill>
              </a:rPr>
              <a:t>到机器人劳动力网络的生态系统</a:t>
            </a:r>
            <a:endParaRPr lang="en-US" sz="3200" b="1" dirty="0">
              <a:solidFill>
                <a:srgbClr val="2B1810"/>
              </a:solidFill>
            </a:endParaRPr>
          </a:p>
        </p:txBody>
      </p:sp>
      <p:sp>
        <p:nvSpPr>
          <p:cNvPr id="20" name="Rectangle 19">
            <a:extLst>
              <a:ext uri="{FF2B5EF4-FFF2-40B4-BE49-F238E27FC236}">
                <a16:creationId xmlns:a16="http://schemas.microsoft.com/office/drawing/2014/main" id="{510010C3-C6A3-4DCE-9103-E6D8522BFCA9}"/>
              </a:ext>
            </a:extLst>
          </p:cNvPr>
          <p:cNvSpPr/>
          <p:nvPr/>
        </p:nvSpPr>
        <p:spPr>
          <a:xfrm>
            <a:off x="1016000" y="4927600"/>
            <a:ext cx="10160000" cy="1143000"/>
          </a:xfrm>
          <a:prstGeom prst="rect">
            <a:avLst/>
          </a:prstGeom>
          <a:solidFill>
            <a:srgbClr val="EFE4D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1" name="Rectangle 20">
            <a:extLst>
              <a:ext uri="{FF2B5EF4-FFF2-40B4-BE49-F238E27FC236}">
                <a16:creationId xmlns:a16="http://schemas.microsoft.com/office/drawing/2014/main" id="{81020C28-A439-49B2-AD4C-E7AC763ADFE0}"/>
              </a:ext>
            </a:extLst>
          </p:cNvPr>
          <p:cNvSpPr/>
          <p:nvPr/>
        </p:nvSpPr>
        <p:spPr>
          <a:xfrm>
            <a:off x="1016000" y="4927600"/>
            <a:ext cx="50800" cy="1143000"/>
          </a:xfrm>
          <a:prstGeom prst="rect">
            <a:avLst/>
          </a:prstGeom>
          <a:solidFill>
            <a:srgbClr val="C8553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TextBox 21">
            <a:extLst>
              <a:ext uri="{FF2B5EF4-FFF2-40B4-BE49-F238E27FC236}">
                <a16:creationId xmlns:a16="http://schemas.microsoft.com/office/drawing/2014/main" id="{F8ECAAE4-E775-4A33-8756-22543EB36A79}"/>
              </a:ext>
            </a:extLst>
          </p:cNvPr>
          <p:cNvSpPr txBox="1"/>
          <p:nvPr/>
        </p:nvSpPr>
        <p:spPr>
          <a:xfrm>
            <a:off x="1320800" y="5130800"/>
            <a:ext cx="9652000" cy="330200"/>
          </a:xfrm>
          <a:prstGeom prst="rect">
            <a:avLst/>
          </a:prstGeom>
          <a:noFill/>
        </p:spPr>
        <p:txBody>
          <a:bodyPr vertOverflow="overflow" vert="horz" wrap="square" rtlCol="0" anchor="t">
            <a:noAutofit/>
          </a:bodyPr>
          <a:lstStyle/>
          <a:p>
            <a:pPr algn="l"/>
            <a:r>
              <a:rPr lang="zh-CN" altLang="en-US" b="1">
                <a:solidFill>
                  <a:srgbClr val="2B1810"/>
                </a:solidFill>
              </a:rPr>
              <a:t>宇树解决机器人身体，我解决机器人进入真实场景后的任务智能层。</a:t>
            </a:r>
            <a:endParaRPr lang="en-US" b="1">
              <a:solidFill>
                <a:srgbClr val="2B1810"/>
              </a:solidFill>
            </a:endParaRPr>
          </a:p>
        </p:txBody>
      </p:sp>
      <p:sp>
        <p:nvSpPr>
          <p:cNvPr id="23" name="TextBox 22">
            <a:extLst>
              <a:ext uri="{FF2B5EF4-FFF2-40B4-BE49-F238E27FC236}">
                <a16:creationId xmlns:a16="http://schemas.microsoft.com/office/drawing/2014/main" id="{0A69C0C7-A343-4D3C-AAE4-1A861B77A87E}"/>
              </a:ext>
            </a:extLst>
          </p:cNvPr>
          <p:cNvSpPr txBox="1"/>
          <p:nvPr/>
        </p:nvSpPr>
        <p:spPr>
          <a:xfrm>
            <a:off x="1320800" y="5537200"/>
            <a:ext cx="9652000" cy="330200"/>
          </a:xfrm>
          <a:prstGeom prst="rect">
            <a:avLst/>
          </a:prstGeom>
          <a:noFill/>
        </p:spPr>
        <p:txBody>
          <a:bodyPr vertOverflow="overflow" vert="horz" wrap="square" rtlCol="0" anchor="t">
            <a:noAutofit/>
          </a:bodyPr>
          <a:lstStyle/>
          <a:p>
            <a:pPr algn="l"/>
            <a:r>
              <a:rPr lang="zh-CN" altLang="en-US" sz="1600" i="1">
                <a:solidFill>
                  <a:srgbClr val="5C3A21"/>
                </a:solidFill>
              </a:rPr>
              <a:t>让宇树机器人从「设备」变成「员工」，再变成「可调度的机器人劳动力网络」。</a:t>
            </a:r>
            <a:endParaRPr lang="en-US" sz="1600" i="1">
              <a:solidFill>
                <a:srgbClr val="5C3A21"/>
              </a:solidFill>
            </a:endParaRPr>
          </a:p>
        </p:txBody>
      </p:sp>
      <p:sp>
        <p:nvSpPr>
          <p:cNvPr id="24" name="TextBox 23">
            <a:extLst>
              <a:ext uri="{FF2B5EF4-FFF2-40B4-BE49-F238E27FC236}">
                <a16:creationId xmlns:a16="http://schemas.microsoft.com/office/drawing/2014/main" id="{9DF0FFCD-0B32-4D93-971A-FBE3E98FFFCA}"/>
              </a:ext>
            </a:extLst>
          </p:cNvPr>
          <p:cNvSpPr txBox="1"/>
          <p:nvPr/>
        </p:nvSpPr>
        <p:spPr>
          <a:xfrm>
            <a:off x="10414000" y="6324600"/>
            <a:ext cx="1016000" cy="254000"/>
          </a:xfrm>
          <a:prstGeom prst="rect">
            <a:avLst/>
          </a:prstGeom>
          <a:noFill/>
        </p:spPr>
        <p:txBody>
          <a:bodyPr vertOverflow="overflow" vert="horz" wrap="square" rtlCol="0" anchor="t">
            <a:noAutofit/>
          </a:bodyPr>
          <a:lstStyle/>
          <a:p>
            <a:pPr algn="l"/>
            <a:r>
              <a:rPr lang="en-US" sz="1100">
                <a:solidFill>
                  <a:srgbClr val="8B6F47"/>
                </a:solidFill>
              </a:rPr>
              <a:t>08 / 08</a:t>
            </a:r>
          </a:p>
        </p:txBody>
      </p:sp>
      <p:sp>
        <p:nvSpPr>
          <p:cNvPr id="25" name="TextBox 24">
            <a:extLst>
              <a:ext uri="{FF2B5EF4-FFF2-40B4-BE49-F238E27FC236}">
                <a16:creationId xmlns:a16="http://schemas.microsoft.com/office/drawing/2014/main" id="{1EA1568E-0E3B-4405-A877-D1DCFB9E0F30}"/>
              </a:ext>
            </a:extLst>
          </p:cNvPr>
          <p:cNvSpPr txBox="1"/>
          <p:nvPr/>
        </p:nvSpPr>
        <p:spPr>
          <a:xfrm>
            <a:off x="1016000" y="6324600"/>
            <a:ext cx="2540000" cy="279400"/>
          </a:xfrm>
          <a:prstGeom prst="rect">
            <a:avLst/>
          </a:prstGeom>
          <a:noFill/>
        </p:spPr>
        <p:txBody>
          <a:bodyPr vertOverflow="overflow" vert="horz" wrap="square" rtlCol="0" anchor="t">
            <a:noAutofit/>
          </a:bodyPr>
          <a:lstStyle/>
          <a:p>
            <a:pPr algn="l"/>
            <a:r>
              <a:rPr lang="zh-CN" altLang="en-US" sz="1400" b="1">
                <a:solidFill>
                  <a:srgbClr val="C8553D"/>
                </a:solidFill>
              </a:rPr>
              <a:t>谢谢</a:t>
            </a:r>
            <a:endParaRPr lang="en-US" sz="1400" b="1">
              <a:solidFill>
                <a:srgbClr val="C8553D"/>
              </a:solidFill>
            </a:endParaRPr>
          </a:p>
        </p:txBody>
      </p:sp>
      <p:pic>
        <p:nvPicPr>
          <p:cNvPr id="26" name="Picture 25">
            <a:extLst>
              <a:ext uri="{FF2B5EF4-FFF2-40B4-BE49-F238E27FC236}">
                <a16:creationId xmlns:a16="http://schemas.microsoft.com/office/drawing/2014/main" id="{30BFEE09-74F8-C18F-ED49-62F8610BBA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57971" y="1337841"/>
            <a:ext cx="4438185" cy="3328639"/>
          </a:xfrm>
          <a:prstGeom prst="rect">
            <a:avLst/>
          </a:prstGeom>
        </p:spPr>
      </p:pic>
      <p:sp>
        <p:nvSpPr>
          <p:cNvPr id="27" name="Team_Header">
            <a:extLst>
              <a:ext uri="{FF2B5EF4-FFF2-40B4-BE49-F238E27FC236}">
                <a16:creationId xmlns:a16="http://schemas.microsoft.com/office/drawing/2014/main" id="{6F9736E2-2161-4411-80D8-05367FF9024F}"/>
              </a:ext>
            </a:extLst>
          </p:cNvPr>
          <p:cNvSpPr txBox="1"/>
          <p:nvPr/>
        </p:nvSpPr>
        <p:spPr>
          <a:xfrm>
            <a:off x="6070600" y="1333500"/>
            <a:ext cx="5359400" cy="355600"/>
          </a:xfrm>
          <a:prstGeom prst="rect">
            <a:avLst/>
          </a:prstGeom>
          <a:noFill/>
        </p:spPr>
        <p:txBody>
          <a:bodyPr vertOverflow="overflow" vert="horz" wrap="square" rtlCol="0" anchor="t">
            <a:noAutofit/>
          </a:bodyPr>
          <a:lstStyle/>
          <a:p>
            <a:pPr algn="l"/>
            <a:r>
              <a:rPr lang="zh-CN" altLang="en-US" b="1">
                <a:solidFill>
                  <a:srgbClr val="C8553D"/>
                </a:solidFill>
              </a:rPr>
              <a:t>团队 </a:t>
            </a:r>
            <a:r>
              <a:rPr lang="en-US" b="1">
                <a:solidFill>
                  <a:srgbClr val="C8553D"/>
                </a:solidFill>
              </a:rPr>
              <a:t>Team</a:t>
            </a:r>
          </a:p>
        </p:txBody>
      </p:sp>
      <p:sp>
        <p:nvSpPr>
          <p:cNvPr id="28" name="Team_Divider">
            <a:extLst>
              <a:ext uri="{FF2B5EF4-FFF2-40B4-BE49-F238E27FC236}">
                <a16:creationId xmlns:a16="http://schemas.microsoft.com/office/drawing/2014/main" id="{F4A6A234-44AE-4303-B789-69767930BB4D}"/>
              </a:ext>
            </a:extLst>
          </p:cNvPr>
          <p:cNvSpPr/>
          <p:nvPr/>
        </p:nvSpPr>
        <p:spPr>
          <a:xfrm>
            <a:off x="6070600" y="1739900"/>
            <a:ext cx="508000" cy="25400"/>
          </a:xfrm>
          <a:prstGeom prst="rect">
            <a:avLst/>
          </a:prstGeom>
          <a:solidFill>
            <a:srgbClr val="C8553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9" name="Team_Card_1">
            <a:extLst>
              <a:ext uri="{FF2B5EF4-FFF2-40B4-BE49-F238E27FC236}">
                <a16:creationId xmlns:a16="http://schemas.microsoft.com/office/drawing/2014/main" id="{A189A73F-4D09-4ADF-86A7-4493B7D47D0C}"/>
              </a:ext>
            </a:extLst>
          </p:cNvPr>
          <p:cNvSpPr/>
          <p:nvPr/>
        </p:nvSpPr>
        <p:spPr>
          <a:xfrm>
            <a:off x="6070600" y="1917700"/>
            <a:ext cx="5359400" cy="1270000"/>
          </a:xfrm>
          <a:prstGeom prst="rect">
            <a:avLst/>
          </a:prstGeom>
          <a:solidFill>
            <a:srgbClr val="FFFFFF"/>
          </a:solidFill>
          <a:ln w="12700" cap="flat" cmpd="sng" algn="ctr">
            <a:solidFill>
              <a:srgbClr val="E0D5C7"/>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0" name="Team_Bar_1">
            <a:extLst>
              <a:ext uri="{FF2B5EF4-FFF2-40B4-BE49-F238E27FC236}">
                <a16:creationId xmlns:a16="http://schemas.microsoft.com/office/drawing/2014/main" id="{A060A86B-DE87-461D-A6DD-BCB4229FF150}"/>
              </a:ext>
            </a:extLst>
          </p:cNvPr>
          <p:cNvSpPr/>
          <p:nvPr/>
        </p:nvSpPr>
        <p:spPr>
          <a:xfrm>
            <a:off x="6070600" y="1917700"/>
            <a:ext cx="38100" cy="1270000"/>
          </a:xfrm>
          <a:prstGeom prst="rect">
            <a:avLst/>
          </a:prstGeom>
          <a:solidFill>
            <a:srgbClr val="C8553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1" name="Team_Name_1">
            <a:extLst>
              <a:ext uri="{FF2B5EF4-FFF2-40B4-BE49-F238E27FC236}">
                <a16:creationId xmlns:a16="http://schemas.microsoft.com/office/drawing/2014/main" id="{8D7DFAD1-B6CC-4506-9CCE-D050B74EAE3B}"/>
              </a:ext>
            </a:extLst>
          </p:cNvPr>
          <p:cNvSpPr txBox="1"/>
          <p:nvPr/>
        </p:nvSpPr>
        <p:spPr>
          <a:xfrm>
            <a:off x="6273800" y="2044700"/>
            <a:ext cx="4953000" cy="304800"/>
          </a:xfrm>
          <a:prstGeom prst="rect">
            <a:avLst/>
          </a:prstGeom>
          <a:noFill/>
        </p:spPr>
        <p:txBody>
          <a:bodyPr vertOverflow="overflow" vert="horz" wrap="square" rtlCol="0" anchor="t">
            <a:noAutofit/>
          </a:bodyPr>
          <a:lstStyle/>
          <a:p>
            <a:pPr algn="l"/>
            <a:r>
              <a:rPr lang="zh-CN" altLang="en-US" sz="1500" b="1">
                <a:solidFill>
                  <a:srgbClr val="2B1810"/>
                </a:solidFill>
              </a:rPr>
              <a:t>文海旭</a:t>
            </a:r>
            <a:endParaRPr lang="en-US" sz="1500" b="1">
              <a:solidFill>
                <a:srgbClr val="2B1810"/>
              </a:solidFill>
            </a:endParaRPr>
          </a:p>
        </p:txBody>
      </p:sp>
      <p:sp>
        <p:nvSpPr>
          <p:cNvPr id="32" name="Team_Role_1">
            <a:extLst>
              <a:ext uri="{FF2B5EF4-FFF2-40B4-BE49-F238E27FC236}">
                <a16:creationId xmlns:a16="http://schemas.microsoft.com/office/drawing/2014/main" id="{FF599C32-DC68-4F7A-B3D4-2C71DBE49E0A}"/>
              </a:ext>
            </a:extLst>
          </p:cNvPr>
          <p:cNvSpPr txBox="1"/>
          <p:nvPr/>
        </p:nvSpPr>
        <p:spPr>
          <a:xfrm>
            <a:off x="6273800" y="2349500"/>
            <a:ext cx="4953000" cy="228600"/>
          </a:xfrm>
          <a:prstGeom prst="rect">
            <a:avLst/>
          </a:prstGeom>
          <a:noFill/>
        </p:spPr>
        <p:txBody>
          <a:bodyPr vertOverflow="overflow" vert="horz" wrap="square" rtlCol="0" anchor="t">
            <a:noAutofit/>
          </a:bodyPr>
          <a:lstStyle/>
          <a:p>
            <a:pPr algn="l"/>
            <a:r>
              <a:rPr lang="en-US" sz="1100" i="1">
                <a:solidFill>
                  <a:srgbClr val="C8553D"/>
                </a:solidFill>
              </a:rPr>
              <a:t>OpenAI Hackathon Sydney · TOP 10</a:t>
            </a:r>
          </a:p>
        </p:txBody>
      </p:sp>
      <p:sp>
        <p:nvSpPr>
          <p:cNvPr id="33" name="Team_Desc_1">
            <a:extLst>
              <a:ext uri="{FF2B5EF4-FFF2-40B4-BE49-F238E27FC236}">
                <a16:creationId xmlns:a16="http://schemas.microsoft.com/office/drawing/2014/main" id="{D44EFBC0-6C4B-4C31-8498-2A7C22524117}"/>
              </a:ext>
            </a:extLst>
          </p:cNvPr>
          <p:cNvSpPr txBox="1"/>
          <p:nvPr/>
        </p:nvSpPr>
        <p:spPr>
          <a:xfrm>
            <a:off x="6273800" y="2628900"/>
            <a:ext cx="4953000" cy="457200"/>
          </a:xfrm>
          <a:prstGeom prst="rect">
            <a:avLst/>
          </a:prstGeom>
          <a:noFill/>
        </p:spPr>
        <p:txBody>
          <a:bodyPr vertOverflow="overflow" vert="horz" wrap="square" rtlCol="0" anchor="t">
            <a:noAutofit/>
          </a:bodyPr>
          <a:lstStyle/>
          <a:p>
            <a:pPr algn="l"/>
            <a:r>
              <a:rPr lang="zh-CN" altLang="en-US" sz="1200">
                <a:solidFill>
                  <a:srgbClr val="3A2D24"/>
                </a:solidFill>
              </a:rPr>
              <a:t>独立复现并优化开发 </a:t>
            </a:r>
            <a:r>
              <a:rPr lang="en-US" sz="1200">
                <a:solidFill>
                  <a:srgbClr val="3A2D24"/>
                </a:solidFill>
              </a:rPr>
              <a:t>Claude </a:t>
            </a:r>
            <a:r>
              <a:rPr lang="zh-CN" altLang="en-US" sz="1200">
                <a:solidFill>
                  <a:srgbClr val="3A2D24"/>
                </a:solidFill>
              </a:rPr>
              <a:t>与 </a:t>
            </a:r>
            <a:r>
              <a:rPr lang="en-US" sz="1200">
                <a:solidFill>
                  <a:srgbClr val="3A2D24"/>
                </a:solidFill>
              </a:rPr>
              <a:t>OpenAI </a:t>
            </a:r>
            <a:r>
              <a:rPr lang="zh-CN" altLang="en-US" sz="1200">
                <a:solidFill>
                  <a:srgbClr val="3A2D24"/>
                </a:solidFill>
              </a:rPr>
              <a:t>的 </a:t>
            </a:r>
            <a:r>
              <a:rPr lang="en-US" sz="1200">
                <a:solidFill>
                  <a:srgbClr val="3A2D24"/>
                </a:solidFill>
              </a:rPr>
              <a:t>Harness </a:t>
            </a:r>
            <a:r>
              <a:rPr lang="zh-CN" altLang="en-US" sz="1200">
                <a:solidFill>
                  <a:srgbClr val="3A2D24"/>
                </a:solidFill>
              </a:rPr>
              <a:t>生态系统</a:t>
            </a:r>
            <a:endParaRPr lang="en-US" sz="1200">
              <a:solidFill>
                <a:srgbClr val="3A2D24"/>
              </a:solidFill>
            </a:endParaRPr>
          </a:p>
        </p:txBody>
      </p:sp>
      <p:sp>
        <p:nvSpPr>
          <p:cNvPr id="34" name="Team_Card_2">
            <a:extLst>
              <a:ext uri="{FF2B5EF4-FFF2-40B4-BE49-F238E27FC236}">
                <a16:creationId xmlns:a16="http://schemas.microsoft.com/office/drawing/2014/main" id="{857C5128-67BD-412F-A930-0753E52C2684}"/>
              </a:ext>
            </a:extLst>
          </p:cNvPr>
          <p:cNvSpPr/>
          <p:nvPr/>
        </p:nvSpPr>
        <p:spPr>
          <a:xfrm>
            <a:off x="6070600" y="3365500"/>
            <a:ext cx="5359400" cy="1270000"/>
          </a:xfrm>
          <a:prstGeom prst="rect">
            <a:avLst/>
          </a:prstGeom>
          <a:solidFill>
            <a:srgbClr val="FFFFFF"/>
          </a:solidFill>
          <a:ln w="12700" cap="flat" cmpd="sng" algn="ctr">
            <a:solidFill>
              <a:srgbClr val="E0D5C7"/>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5" name="Team_Bar_2">
            <a:extLst>
              <a:ext uri="{FF2B5EF4-FFF2-40B4-BE49-F238E27FC236}">
                <a16:creationId xmlns:a16="http://schemas.microsoft.com/office/drawing/2014/main" id="{31B4CAAA-A9D1-4DDB-BDC3-CB7085DF6026}"/>
              </a:ext>
            </a:extLst>
          </p:cNvPr>
          <p:cNvSpPr/>
          <p:nvPr/>
        </p:nvSpPr>
        <p:spPr>
          <a:xfrm>
            <a:off x="6070600" y="3365500"/>
            <a:ext cx="38100" cy="1270000"/>
          </a:xfrm>
          <a:prstGeom prst="rect">
            <a:avLst/>
          </a:prstGeom>
          <a:solidFill>
            <a:srgbClr val="D9775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6" name="Team_Name_2">
            <a:extLst>
              <a:ext uri="{FF2B5EF4-FFF2-40B4-BE49-F238E27FC236}">
                <a16:creationId xmlns:a16="http://schemas.microsoft.com/office/drawing/2014/main" id="{D4730F06-8382-48F7-B9B5-7366B61D0B4C}"/>
              </a:ext>
            </a:extLst>
          </p:cNvPr>
          <p:cNvSpPr txBox="1"/>
          <p:nvPr/>
        </p:nvSpPr>
        <p:spPr>
          <a:xfrm>
            <a:off x="6273800" y="3492500"/>
            <a:ext cx="4953000" cy="304800"/>
          </a:xfrm>
          <a:prstGeom prst="rect">
            <a:avLst/>
          </a:prstGeom>
          <a:noFill/>
        </p:spPr>
        <p:txBody>
          <a:bodyPr vertOverflow="overflow" vert="horz" wrap="square" rtlCol="0" anchor="t">
            <a:noAutofit/>
          </a:bodyPr>
          <a:lstStyle/>
          <a:p>
            <a:pPr algn="l"/>
            <a:r>
              <a:rPr lang="zh-CN" altLang="en-US" sz="1500" b="1">
                <a:solidFill>
                  <a:srgbClr val="2B1810"/>
                </a:solidFill>
              </a:rPr>
              <a:t>李荣毅</a:t>
            </a:r>
            <a:endParaRPr lang="en-US" sz="1500" b="1">
              <a:solidFill>
                <a:srgbClr val="2B1810"/>
              </a:solidFill>
            </a:endParaRPr>
          </a:p>
        </p:txBody>
      </p:sp>
      <p:sp>
        <p:nvSpPr>
          <p:cNvPr id="37" name="Team_Role_2">
            <a:extLst>
              <a:ext uri="{FF2B5EF4-FFF2-40B4-BE49-F238E27FC236}">
                <a16:creationId xmlns:a16="http://schemas.microsoft.com/office/drawing/2014/main" id="{4738A20B-8B9D-4C71-BB78-D3A7D7F47F9C}"/>
              </a:ext>
            </a:extLst>
          </p:cNvPr>
          <p:cNvSpPr txBox="1"/>
          <p:nvPr/>
        </p:nvSpPr>
        <p:spPr>
          <a:xfrm>
            <a:off x="6273800" y="3797300"/>
            <a:ext cx="4953000" cy="228600"/>
          </a:xfrm>
          <a:prstGeom prst="rect">
            <a:avLst/>
          </a:prstGeom>
          <a:noFill/>
        </p:spPr>
        <p:txBody>
          <a:bodyPr vertOverflow="overflow" vert="horz" wrap="square" rtlCol="0" anchor="t">
            <a:noAutofit/>
          </a:bodyPr>
          <a:lstStyle/>
          <a:p>
            <a:pPr algn="l"/>
            <a:r>
              <a:rPr lang="en-US" sz="1100" i="1">
                <a:solidFill>
                  <a:srgbClr val="D97757"/>
                </a:solidFill>
              </a:rPr>
              <a:t>TikTok </a:t>
            </a:r>
            <a:r>
              <a:rPr lang="zh-CN" altLang="en-US" sz="1100" i="1">
                <a:solidFill>
                  <a:srgbClr val="D97757"/>
                </a:solidFill>
              </a:rPr>
              <a:t>工程师</a:t>
            </a:r>
            <a:endParaRPr lang="en-US" sz="1100" i="1">
              <a:solidFill>
                <a:srgbClr val="D97757"/>
              </a:solidFill>
            </a:endParaRPr>
          </a:p>
        </p:txBody>
      </p:sp>
      <p:sp>
        <p:nvSpPr>
          <p:cNvPr id="38" name="Team_Desc_2">
            <a:extLst>
              <a:ext uri="{FF2B5EF4-FFF2-40B4-BE49-F238E27FC236}">
                <a16:creationId xmlns:a16="http://schemas.microsoft.com/office/drawing/2014/main" id="{4C9CD91C-C852-4CD8-BAC5-4ED6A3B918C0}"/>
              </a:ext>
            </a:extLst>
          </p:cNvPr>
          <p:cNvSpPr txBox="1"/>
          <p:nvPr/>
        </p:nvSpPr>
        <p:spPr>
          <a:xfrm>
            <a:off x="6273800" y="4076700"/>
            <a:ext cx="4953000" cy="457200"/>
          </a:xfrm>
          <a:prstGeom prst="rect">
            <a:avLst/>
          </a:prstGeom>
          <a:noFill/>
        </p:spPr>
        <p:txBody>
          <a:bodyPr vertOverflow="overflow" vert="horz" wrap="square" rtlCol="0" anchor="t">
            <a:noAutofit/>
          </a:bodyPr>
          <a:lstStyle/>
          <a:p>
            <a:pPr algn="l"/>
            <a:r>
              <a:rPr lang="zh-CN" altLang="en-US" sz="1200">
                <a:solidFill>
                  <a:srgbClr val="3A2D24"/>
                </a:solidFill>
              </a:rPr>
              <a:t>负责产品策划、内容审核、安全合规</a:t>
            </a:r>
            <a:endParaRPr lang="en-US" sz="1200">
              <a:solidFill>
                <a:srgbClr val="3A2D24"/>
              </a:solidFill>
            </a:endParaRPr>
          </a:p>
        </p:txBody>
      </p:sp>
    </p:spTree>
    <p:extLst>
      <p:ext uri="{BB962C8B-B14F-4D97-AF65-F5344CB8AC3E}">
        <p14:creationId xmlns:p14="http://schemas.microsoft.com/office/powerpoint/2010/main" val="3125216610"/>
      </p:ext>
    </p:extLst>
  </p:cSld>
  <p:clrMapOvr>
    <a:masterClrMapping/>
  </p:clrMapOvr>
</p:sld>
</file>

<file path=ppt/theme/theme1.xml><?xml version="1.0" encoding="utf-8"?>
<a:theme xmlns:a="http://schemas.openxmlformats.org/drawingml/2006/main" name="Office Theme [1779939507184]">
  <a:themeElements>
    <a:clrScheme name="Office">
      <a:dk1>
        <a:srgbClr val="2B1810"/>
      </a:dk1>
      <a:lt1>
        <a:srgbClr val="F5EFE6"/>
      </a:lt1>
      <a:dk2>
        <a:srgbClr val="5C3A21"/>
      </a:dk2>
      <a:lt2>
        <a:srgbClr val="E8DCC8"/>
      </a:lt2>
      <a:accent1>
        <a:srgbClr val="C8553D"/>
      </a:accent1>
      <a:accent2>
        <a:srgbClr val="D97757"/>
      </a:accent2>
      <a:accent3>
        <a:srgbClr val="8B6F47"/>
      </a:accent3>
      <a:accent4>
        <a:srgbClr val="A67B5B"/>
      </a:accent4>
      <a:accent5>
        <a:srgbClr val="6B8E4E"/>
      </a:accent5>
      <a:accent6>
        <a:srgbClr val="8B3A2F"/>
      </a:accent6>
      <a:hlink>
        <a:srgbClr val="467886"/>
      </a:hlink>
      <a:folHlink>
        <a:srgbClr val="96607D"/>
      </a:folHlink>
    </a:clrScheme>
    <a:fontScheme name="Office">
      <a:majorFont>
        <a:latin typeface="Source Han Serif SC" panose="02110004020202020204"/>
        <a:ea typeface="Source Han Serif SC"/>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ource Han Sans SC" panose="02110004020202020204"/>
        <a:ea typeface="Source Han Sans SC"/>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EA58AB0-309A-448C-B1D2-EEC4A9509267}">
  <we:reference id="WA200010001" version="1.0.0.1" store="Omex" storeType="OMEX"/>
  <we:alternateReferences>
    <we:reference id="WA200010001" version="1.0.0.1" store="WA200010001" storeType="OMEX"/>
  </we:alternateReferences>
  <we:properties>
    <we:property name="claude.fileId" value="&quot;0b3ff302-2f9b-4ccf-a1c0-f89810a44f0b&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199</TotalTime>
  <Words>1531</Words>
  <Application>Microsoft Office PowerPoint</Application>
  <PresentationFormat>Widescreen</PresentationFormat>
  <Paragraphs>131</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Source Han Sans SC</vt:lpstr>
      <vt:lpstr>Source Han Serif SC</vt:lpstr>
      <vt:lpstr>Arial</vt:lpstr>
      <vt:lpstr>Office Theme [1779939507184]</vt:lpstr>
      <vt:lpstr>PowerPoint Presentation</vt:lpstr>
      <vt:lpstr>PowerPoint Presentation</vt:lpstr>
      <vt:lpstr>PowerPoint Presentation</vt:lpstr>
      <vt:lpstr>PowerPoint Presentation</vt:lpstr>
      <vt:lpstr>PowerPoint Presentation</vt:lpstr>
      <vt:lpstr>可复用的 Skills 和场景记忆是未来机器人生态的护城河 每一次任务沉淀都在为下一次任务、下一台机器人、下一个场景复盘提升。</vt:lpstr>
      <vt:lpstr>PowerPoint Presentation</vt:lpstr>
      <vt:lpstr>DEMO视频页</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Haixu Wen</dc:creator>
  <cp:lastModifiedBy>Haixu Wen</cp:lastModifiedBy>
  <cp:revision>116</cp:revision>
  <dcterms:created xsi:type="dcterms:W3CDTF">2026-05-28T03:32:05Z</dcterms:created>
  <dcterms:modified xsi:type="dcterms:W3CDTF">2026-05-28T08:20:37Z</dcterms:modified>
</cp:coreProperties>
</file>